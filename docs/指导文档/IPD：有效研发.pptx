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963" r:id="rId2"/>
    <p:sldId id="1181" r:id="rId3"/>
    <p:sldId id="957" r:id="rId4"/>
    <p:sldId id="967" r:id="rId5"/>
    <p:sldId id="968" r:id="rId6"/>
    <p:sldId id="962" r:id="rId7"/>
    <p:sldId id="961" r:id="rId8"/>
  </p:sldIdLst>
  <p:sldSz cx="12192000" cy="6858000"/>
  <p:notesSz cx="6858000" cy="9945688"/>
  <p:defaultTextStyle>
    <a:defPPr>
      <a:defRPr lang="zh-CN"/>
    </a:defPPr>
    <a:lvl1pPr marL="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AC6672"/>
    <a:srgbClr val="E73A1C"/>
    <a:srgbClr val="D28C79"/>
    <a:srgbClr val="FFFFFF"/>
    <a:srgbClr val="534544"/>
    <a:srgbClr val="FDDAB8"/>
    <a:srgbClr val="121212"/>
    <a:srgbClr val="141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26" autoAdjust="0"/>
  </p:normalViewPr>
  <p:slideViewPr>
    <p:cSldViewPr snapToGrid="0">
      <p:cViewPr varScale="1">
        <p:scale>
          <a:sx n="61" d="100"/>
          <a:sy n="61" d="100"/>
        </p:scale>
        <p:origin x="-73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8FE07-7FCA-47E0-89ED-D3DF9A9CCD80}" type="datetimeFigureOut">
              <a:rPr lang="zh-CN" altLang="en-US" smtClean="0"/>
              <a:pPr/>
              <a:t>2022/11/14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955209-7C7A-4871-A4D9-4B43CF6768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959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588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322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615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115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644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569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1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13123" y="1009651"/>
            <a:ext cx="12204000" cy="0"/>
            <a:chOff x="2552702" y="1009651"/>
            <a:chExt cx="8236056" cy="0"/>
          </a:xfrm>
        </p:grpSpPr>
        <p:cxnSp>
          <p:nvCxnSpPr>
            <p:cNvPr id="6" name="直接连接符 5"/>
            <p:cNvCxnSpPr/>
            <p:nvPr userDrawn="1"/>
          </p:nvCxnSpPr>
          <p:spPr>
            <a:xfrm>
              <a:off x="2552702" y="1009651"/>
              <a:ext cx="1638300" cy="0"/>
            </a:xfrm>
            <a:prstGeom prst="line">
              <a:avLst/>
            </a:prstGeom>
            <a:ln w="127000">
              <a:solidFill>
                <a:srgbClr val="FDDA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 userDrawn="1"/>
          </p:nvCxnSpPr>
          <p:spPr>
            <a:xfrm>
              <a:off x="4191002" y="1009651"/>
              <a:ext cx="2196000" cy="0"/>
            </a:xfrm>
            <a:prstGeom prst="line">
              <a:avLst/>
            </a:prstGeom>
            <a:ln w="127000">
              <a:solidFill>
                <a:srgbClr val="D28C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/>
          </p:nvCxnSpPr>
          <p:spPr>
            <a:xfrm>
              <a:off x="5829302" y="1009651"/>
              <a:ext cx="1638300" cy="0"/>
            </a:xfrm>
            <a:prstGeom prst="line">
              <a:avLst/>
            </a:prstGeom>
            <a:ln w="127000">
              <a:solidFill>
                <a:srgbClr val="5345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/>
          </p:nvCxnSpPr>
          <p:spPr>
            <a:xfrm>
              <a:off x="7448542" y="1009651"/>
              <a:ext cx="3340216" cy="0"/>
            </a:xfrm>
            <a:prstGeom prst="line">
              <a:avLst/>
            </a:prstGeom>
            <a:ln w="127000">
              <a:solidFill>
                <a:srgbClr val="1212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9643"/>
            <a:ext cx="12190877" cy="346078"/>
          </a:xfrm>
          <a:prstGeom prst="rect">
            <a:avLst/>
          </a:prstGeom>
        </p:spPr>
        <p:txBody>
          <a:bodyPr lIns="91436" tIns="45718" rIns="91436" bIns="45718"/>
          <a:lstStyle>
            <a:lvl1pPr marL="0" indent="0" algn="ctr">
              <a:buNone/>
              <a:defRPr sz="2400" b="1" baseline="0"/>
            </a:lvl1pPr>
          </a:lstStyle>
          <a:p>
            <a:pPr lvl="0"/>
            <a:r>
              <a:rPr lang="zh-CN" altLang="en-US" dirty="0"/>
              <a:t>点击此处添加标题 </a:t>
            </a:r>
            <a:r>
              <a:rPr lang="en-US" altLang="zh-CN" dirty="0"/>
              <a:t>TITLE HERE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930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190D42D-6BA4-4599-B852-9CFC5D1C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57324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643" y="1009651"/>
            <a:ext cx="12182400" cy="0"/>
            <a:chOff x="2552702" y="1009651"/>
            <a:chExt cx="8236056" cy="0"/>
          </a:xfrm>
        </p:grpSpPr>
        <p:cxnSp>
          <p:nvCxnSpPr>
            <p:cNvPr id="3" name="直接连接符 2"/>
            <p:cNvCxnSpPr/>
            <p:nvPr userDrawn="1"/>
          </p:nvCxnSpPr>
          <p:spPr>
            <a:xfrm>
              <a:off x="2552702" y="1009651"/>
              <a:ext cx="1638300" cy="0"/>
            </a:xfrm>
            <a:prstGeom prst="line">
              <a:avLst/>
            </a:prstGeom>
            <a:ln w="127000">
              <a:solidFill>
                <a:srgbClr val="FDDA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 userDrawn="1"/>
          </p:nvCxnSpPr>
          <p:spPr>
            <a:xfrm>
              <a:off x="4191002" y="1009651"/>
              <a:ext cx="2196000" cy="0"/>
            </a:xfrm>
            <a:prstGeom prst="line">
              <a:avLst/>
            </a:prstGeom>
            <a:ln w="127000">
              <a:solidFill>
                <a:srgbClr val="D28C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 userDrawn="1"/>
          </p:nvCxnSpPr>
          <p:spPr>
            <a:xfrm>
              <a:off x="5829302" y="1009651"/>
              <a:ext cx="1638300" cy="0"/>
            </a:xfrm>
            <a:prstGeom prst="line">
              <a:avLst/>
            </a:prstGeom>
            <a:ln w="127000">
              <a:solidFill>
                <a:srgbClr val="5345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 userDrawn="1"/>
          </p:nvCxnSpPr>
          <p:spPr>
            <a:xfrm>
              <a:off x="7448542" y="1009651"/>
              <a:ext cx="3340216" cy="0"/>
            </a:xfrm>
            <a:prstGeom prst="line">
              <a:avLst/>
            </a:prstGeom>
            <a:ln w="127000">
              <a:solidFill>
                <a:srgbClr val="1212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占位符 2"/>
          <p:cNvSpPr txBox="1">
            <a:spLocks/>
          </p:cNvSpPr>
          <p:nvPr userDrawn="1"/>
        </p:nvSpPr>
        <p:spPr>
          <a:xfrm>
            <a:off x="3805633" y="379642"/>
            <a:ext cx="4136571" cy="362404"/>
          </a:xfrm>
          <a:prstGeom prst="rect">
            <a:avLst/>
          </a:prstGeom>
        </p:spPr>
        <p:txBody>
          <a:bodyPr lIns="91436" tIns="45718" rIns="91436" bIns="45718"/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262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8" r:id="rId2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xmlns="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德鲁克管理专栏：有效的研发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BDF583DC-0B00-4057-8767-6005E5E6A8A7}"/>
              </a:ext>
            </a:extLst>
          </p:cNvPr>
          <p:cNvSpPr txBox="1"/>
          <p:nvPr/>
        </p:nvSpPr>
        <p:spPr>
          <a:xfrm>
            <a:off x="8457138" y="3429000"/>
            <a:ext cx="2597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33CC"/>
                </a:solidFill>
              </a:rPr>
              <a:t>商业驱动</a:t>
            </a:r>
            <a:endParaRPr lang="en-US" altLang="zh-CN" sz="4000" dirty="0">
              <a:solidFill>
                <a:srgbClr val="0033CC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05ABE8BD-937D-4F0A-99CD-486F5AF3EC10}"/>
              </a:ext>
            </a:extLst>
          </p:cNvPr>
          <p:cNvSpPr txBox="1"/>
          <p:nvPr/>
        </p:nvSpPr>
        <p:spPr>
          <a:xfrm>
            <a:off x="1136975" y="3429000"/>
            <a:ext cx="2597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33CC"/>
                </a:solidFill>
              </a:rPr>
              <a:t>技术驱动</a:t>
            </a:r>
            <a:endParaRPr lang="en-US" altLang="zh-CN" sz="4000" dirty="0">
              <a:solidFill>
                <a:srgbClr val="0033CC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B0E4CCB5-0D12-4AB4-A76D-764969ED1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501" y="2036445"/>
            <a:ext cx="3492996" cy="34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50824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xmlns="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</a:t>
            </a:r>
            <a:r>
              <a:rPr lang="en-US" altLang="zh-CN" b="1" dirty="0">
                <a:latin typeface="+mn-ea"/>
              </a:rPr>
              <a:t>IPD</a:t>
            </a:r>
            <a:r>
              <a:rPr lang="zh-CN" altLang="en-US" b="1" dirty="0">
                <a:latin typeface="+mn-ea"/>
              </a:rPr>
              <a:t>整体框架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046D030-8F34-4A9D-A0AA-265DCC64C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12" y="1219200"/>
            <a:ext cx="10378773" cy="547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409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xmlns="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德鲁克管理专栏：有效研发</a:t>
            </a:r>
            <a:r>
              <a:rPr lang="en-US" altLang="zh-CN" b="1" dirty="0">
                <a:latin typeface="+mn-ea"/>
              </a:rPr>
              <a:t>-IPD</a:t>
            </a:r>
            <a:r>
              <a:rPr lang="zh-CN" altLang="en-US" b="1" dirty="0">
                <a:latin typeface="+mn-ea"/>
              </a:rPr>
              <a:t>组合分析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E6E3EEA1-E695-465E-BD49-4BDAA0064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1" y="1203512"/>
            <a:ext cx="11940362" cy="556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9288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xmlns="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德鲁克管理专栏：有效研发</a:t>
            </a:r>
            <a:r>
              <a:rPr lang="en-US" altLang="zh-CN" b="1" dirty="0">
                <a:latin typeface="+mn-ea"/>
              </a:rPr>
              <a:t>-IPD</a:t>
            </a:r>
            <a:r>
              <a:rPr lang="zh-CN" altLang="en-US" b="1" dirty="0">
                <a:latin typeface="+mn-ea"/>
              </a:rPr>
              <a:t>组合分析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8834330-60AF-4929-BC20-913C92A08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716" y="1291732"/>
            <a:ext cx="10797363" cy="533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9717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xmlns="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德鲁克管理专栏：有效研发</a:t>
            </a:r>
            <a:r>
              <a:rPr lang="en-US" altLang="zh-CN" b="1" dirty="0">
                <a:latin typeface="+mn-ea"/>
              </a:rPr>
              <a:t>-IPD</a:t>
            </a:r>
            <a:r>
              <a:rPr lang="zh-CN" altLang="en-US" b="1" dirty="0">
                <a:latin typeface="+mn-ea"/>
              </a:rPr>
              <a:t>组合分析：</a:t>
            </a:r>
            <a:r>
              <a:rPr lang="en-US" altLang="zh-CN" b="1" dirty="0">
                <a:latin typeface="+mn-ea"/>
              </a:rPr>
              <a:t>SPAN&amp;FAN</a:t>
            </a:r>
            <a:endParaRPr lang="zh-CN" altLang="en-US" b="1" dirty="0">
              <a:latin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5EB49379-C3AB-450F-9506-D27FE38F1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799445"/>
              </p:ext>
            </p:extLst>
          </p:nvPr>
        </p:nvGraphicFramePr>
        <p:xfrm>
          <a:off x="196996" y="1582049"/>
          <a:ext cx="6969348" cy="455475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62984">
                  <a:extLst>
                    <a:ext uri="{9D8B030D-6E8A-4147-A177-3AD203B41FA5}">
                      <a16:colId xmlns:a16="http://schemas.microsoft.com/office/drawing/2014/main" xmlns="" val="3553096164"/>
                    </a:ext>
                  </a:extLst>
                </a:gridCol>
                <a:gridCol w="902715">
                  <a:extLst>
                    <a:ext uri="{9D8B030D-6E8A-4147-A177-3AD203B41FA5}">
                      <a16:colId xmlns:a16="http://schemas.microsoft.com/office/drawing/2014/main" xmlns="" val="3635217300"/>
                    </a:ext>
                  </a:extLst>
                </a:gridCol>
                <a:gridCol w="1277104">
                  <a:extLst>
                    <a:ext uri="{9D8B030D-6E8A-4147-A177-3AD203B41FA5}">
                      <a16:colId xmlns:a16="http://schemas.microsoft.com/office/drawing/2014/main" xmlns="" val="503052500"/>
                    </a:ext>
                  </a:extLst>
                </a:gridCol>
                <a:gridCol w="1632201">
                  <a:extLst>
                    <a:ext uri="{9D8B030D-6E8A-4147-A177-3AD203B41FA5}">
                      <a16:colId xmlns:a16="http://schemas.microsoft.com/office/drawing/2014/main" xmlns="" val="841268814"/>
                    </a:ext>
                  </a:extLst>
                </a:gridCol>
                <a:gridCol w="1244009">
                  <a:extLst>
                    <a:ext uri="{9D8B030D-6E8A-4147-A177-3AD203B41FA5}">
                      <a16:colId xmlns:a16="http://schemas.microsoft.com/office/drawing/2014/main" xmlns="" val="3040887759"/>
                    </a:ext>
                  </a:extLst>
                </a:gridCol>
                <a:gridCol w="1350335">
                  <a:extLst>
                    <a:ext uri="{9D8B030D-6E8A-4147-A177-3AD203B41FA5}">
                      <a16:colId xmlns:a16="http://schemas.microsoft.com/office/drawing/2014/main" xmlns="" val="3290547468"/>
                    </a:ext>
                  </a:extLst>
                </a:gridCol>
              </a:tblGrid>
              <a:tr h="55173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  <a:latin typeface="+mj-ea"/>
                          <a:ea typeface="+mj-ea"/>
                        </a:rPr>
                        <a:t>维度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  <a:latin typeface="+mj-ea"/>
                          <a:ea typeface="+mj-ea"/>
                        </a:rPr>
                        <a:t>属性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  <a:latin typeface="+mj-ea"/>
                          <a:ea typeface="+mj-ea"/>
                        </a:rPr>
                        <a:t>评估要素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  <a:latin typeface="+mj-ea"/>
                          <a:ea typeface="+mj-ea"/>
                        </a:rPr>
                        <a:t>评估</a:t>
                      </a:r>
                      <a:br>
                        <a:rPr lang="zh-CN" altLang="en-US" sz="18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CN" altLang="en-US" sz="1800" u="none" strike="noStrike">
                          <a:effectLst/>
                          <a:latin typeface="+mj-ea"/>
                          <a:ea typeface="+mj-ea"/>
                        </a:rPr>
                        <a:t>子要素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  <a:latin typeface="+mj-ea"/>
                          <a:ea typeface="+mj-ea"/>
                        </a:rPr>
                        <a:t>分析描述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  <a:latin typeface="+mj-ea"/>
                          <a:ea typeface="+mj-ea"/>
                        </a:rPr>
                        <a:t>备注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938404137"/>
                  </a:ext>
                </a:extLst>
              </a:tr>
              <a:tr h="224105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j-ea"/>
                          <a:ea typeface="+mj-ea"/>
                        </a:rPr>
                        <a:t>SPAN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市场吸引力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市场空间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客户</a:t>
                      </a:r>
                      <a:r>
                        <a:rPr lang="en-US" altLang="zh-CN" sz="14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供应商压力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862140226"/>
                  </a:ext>
                </a:extLst>
              </a:tr>
              <a:tr h="2241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直接</a:t>
                      </a:r>
                      <a:r>
                        <a:rPr lang="en-US" altLang="zh-CN" sz="14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间接竞争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149781842"/>
                  </a:ext>
                </a:extLst>
              </a:tr>
              <a:tr h="2241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进入的威胁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976458183"/>
                  </a:ext>
                </a:extLst>
              </a:tr>
              <a:tr h="2241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竞争激烈程度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868666398"/>
                  </a:ext>
                </a:extLst>
              </a:tr>
              <a:tr h="2241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市场成长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960821325"/>
                  </a:ext>
                </a:extLst>
              </a:tr>
              <a:tr h="2241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战略价值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968638937"/>
                  </a:ext>
                </a:extLst>
              </a:tr>
              <a:tr h="2241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竞争地位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市场份额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858145025"/>
                  </a:ext>
                </a:extLst>
              </a:tr>
              <a:tr h="6609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产品优势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清楚描述产品的</a:t>
                      </a:r>
                      <a:r>
                        <a:rPr lang="en-US" altLang="zh-CN" sz="1400" u="none" strike="noStrike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个优点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804363264"/>
                  </a:ext>
                </a:extLst>
              </a:tr>
              <a:tr h="2241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品牌优势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344996411"/>
                  </a:ext>
                </a:extLst>
              </a:tr>
              <a:tr h="8793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成本结构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是不是全新产品？</a:t>
                      </a:r>
                      <a:b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是否可复用？复用率？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254029479"/>
                  </a:ext>
                </a:extLst>
              </a:tr>
              <a:tr h="2241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j-ea"/>
                          <a:ea typeface="+mj-ea"/>
                        </a:rPr>
                        <a:t>FAN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财务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开发费用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11560759"/>
                  </a:ext>
                </a:extLst>
              </a:tr>
              <a:tr h="4425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税前收益率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描述产出是多少？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615527256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7DE6E697-7F6A-4885-A5DA-D87186C5A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321" y="2092007"/>
            <a:ext cx="4377531" cy="353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7428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xmlns="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德鲁克管理专栏：有效的研发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BDF583DC-0B00-4057-8767-6005E5E6A8A7}"/>
              </a:ext>
            </a:extLst>
          </p:cNvPr>
          <p:cNvSpPr txBox="1"/>
          <p:nvPr/>
        </p:nvSpPr>
        <p:spPr>
          <a:xfrm>
            <a:off x="531628" y="1804867"/>
            <a:ext cx="11277598" cy="4870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、当一个新产品、处理器或服务第一次达到盈亏平衡时，它就开始变得过时了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、因此，自己让你的产品、流程或服务变得过时是阻止竞争者从中获利的唯一方法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、假设研发是为了取得成果，那么最好忘掉</a:t>
            </a:r>
            <a:r>
              <a:rPr lang="en-US" altLang="zh-CN" dirty="0"/>
              <a:t>19</a:t>
            </a:r>
            <a:r>
              <a:rPr lang="zh-CN" altLang="en-US" dirty="0"/>
              <a:t>世纪</a:t>
            </a:r>
            <a:r>
              <a:rPr lang="en-US" altLang="zh-CN" dirty="0"/>
              <a:t>”</a:t>
            </a:r>
            <a:r>
              <a:rPr lang="zh-CN" altLang="en-US" dirty="0"/>
              <a:t>基础理论</a:t>
            </a:r>
            <a:r>
              <a:rPr lang="en-US" altLang="zh-CN" dirty="0"/>
              <a:t>”</a:t>
            </a:r>
            <a:r>
              <a:rPr lang="zh-CN" altLang="en-US" dirty="0"/>
              <a:t>研发和“应用理论”研发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en-US" dirty="0"/>
              <a:t>、有效研发过程中，物理学、化学、生物学、数据、经济学等等都不是“学科”，而只是工具。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5</a:t>
            </a:r>
            <a:r>
              <a:rPr lang="zh-CN" altLang="en-US" dirty="0"/>
              <a:t>、研发不是一种活动</a:t>
            </a:r>
            <a:r>
              <a:rPr lang="en-US" altLang="zh-CN" dirty="0"/>
              <a:t>—</a:t>
            </a:r>
            <a:r>
              <a:rPr lang="zh-CN" altLang="en-US" dirty="0"/>
              <a:t>它包括三种活动：改进、有管理的开发和创新，他们互相补充却各不相同。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6</a:t>
            </a:r>
            <a:r>
              <a:rPr lang="zh-CN" altLang="en-US" dirty="0"/>
              <a:t>、目标高远！小修改往往与根本性变革的难度一样大，而且同样会遭到顽固的抵抗。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C1E9FF02-A1E4-4320-87C9-F397FE1F1E64}"/>
              </a:ext>
            </a:extLst>
          </p:cNvPr>
          <p:cNvSpPr/>
          <p:nvPr/>
        </p:nvSpPr>
        <p:spPr>
          <a:xfrm>
            <a:off x="2572440" y="1135248"/>
            <a:ext cx="70471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33CC"/>
                </a:solidFill>
                <a:latin typeface="+mn-ea"/>
              </a:rPr>
              <a:t>德鲁克关于有效研发的</a:t>
            </a:r>
            <a:r>
              <a:rPr lang="en-US" altLang="zh-CN" sz="3200" b="1" dirty="0">
                <a:solidFill>
                  <a:srgbClr val="0033CC"/>
                </a:solidFill>
                <a:latin typeface="+mn-ea"/>
              </a:rPr>
              <a:t>10</a:t>
            </a:r>
            <a:r>
              <a:rPr lang="zh-CN" altLang="en-US" sz="3200" b="1" dirty="0">
                <a:solidFill>
                  <a:srgbClr val="0033CC"/>
                </a:solidFill>
                <a:latin typeface="+mn-ea"/>
              </a:rPr>
              <a:t>条规则</a:t>
            </a:r>
            <a:r>
              <a:rPr lang="en-US" altLang="zh-CN" sz="3200" b="1" dirty="0">
                <a:solidFill>
                  <a:srgbClr val="0033CC"/>
                </a:solidFill>
                <a:latin typeface="+mn-ea"/>
              </a:rPr>
              <a:t>(1/2)</a:t>
            </a:r>
          </a:p>
        </p:txBody>
      </p:sp>
    </p:spTree>
    <p:extLst>
      <p:ext uri="{BB962C8B-B14F-4D97-AF65-F5344CB8AC3E}">
        <p14:creationId xmlns:p14="http://schemas.microsoft.com/office/powerpoint/2010/main" val="400177162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xmlns="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德鲁克管理专栏：有效的研发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B001141D-6C8C-4845-8150-A4A2685FE4F3}"/>
              </a:ext>
            </a:extLst>
          </p:cNvPr>
          <p:cNvSpPr/>
          <p:nvPr/>
        </p:nvSpPr>
        <p:spPr>
          <a:xfrm>
            <a:off x="417094" y="1893898"/>
            <a:ext cx="1135781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、有效研发需要取得长期成果和短期成果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8</a:t>
            </a:r>
            <a:r>
              <a:rPr lang="zh-CN" altLang="en-US" dirty="0"/>
              <a:t>、研究是独立的工作，但不是独立的职能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9</a:t>
            </a:r>
            <a:r>
              <a:rPr lang="zh-CN" altLang="en-US" dirty="0"/>
              <a:t>、有效研发需要企业进行有计划的放弃</a:t>
            </a:r>
            <a:r>
              <a:rPr lang="en-US" altLang="zh-CN" dirty="0"/>
              <a:t>—</a:t>
            </a:r>
            <a:r>
              <a:rPr lang="zh-CN" altLang="en-US" dirty="0"/>
              <a:t>不仅包括产品、流程和服务，而且包括研发项目。有三条线索可以帮助我们确定何时应该放弃：</a:t>
            </a:r>
            <a:endParaRPr lang="en-US" altLang="zh-CN" dirty="0"/>
          </a:p>
          <a:p>
            <a:r>
              <a:rPr lang="zh-CN" altLang="en-US" dirty="0"/>
              <a:t>第一、已经没有重要改进了。</a:t>
            </a:r>
            <a:endParaRPr lang="en-US" altLang="zh-CN" dirty="0"/>
          </a:p>
          <a:p>
            <a:r>
              <a:rPr lang="zh-CN" altLang="en-US" dirty="0"/>
              <a:t>第二、通过管理的开发，已经无法再得到新产品、新流程、新市场或者新应用了。第三，长时间的研发只能得到“有意思”的结果。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10</a:t>
            </a:r>
            <a:r>
              <a:rPr lang="zh-CN" altLang="en-US" dirty="0"/>
              <a:t>、创新评估：与其他东西一样，要对研发进行评估。对于改进来说，设定具体目标和进行评估是很容易的事情。而对于有管理的开发来说，目标也是可以设定的</a:t>
            </a:r>
            <a:r>
              <a:rPr lang="en-US" altLang="zh-CN" dirty="0"/>
              <a:t>—</a:t>
            </a:r>
            <a:r>
              <a:rPr lang="zh-CN" altLang="en-US" dirty="0"/>
              <a:t>例如：每年一个新的重要产品、重要市场或重要应用。然而，创新才是真正需要评估的。大约每隔</a:t>
            </a:r>
            <a:r>
              <a:rPr lang="en-US" altLang="zh-CN" dirty="0"/>
              <a:t>3</a:t>
            </a:r>
            <a:r>
              <a:rPr lang="zh-CN" altLang="en-US" dirty="0"/>
              <a:t>年，公司就需要评估它的创新成果。我们是否做出了能够大大提升公司财富创造能力的创新？这些创新的数量、质量、影响力于我们的市场地位和我们在行业中的领导地位相称？在接下来的几年中，我们需要做出何种创新</a:t>
            </a:r>
            <a:r>
              <a:rPr lang="en-US" altLang="zh-CN" dirty="0"/>
              <a:t>—</a:t>
            </a:r>
            <a:r>
              <a:rPr lang="zh-CN" altLang="en-US" dirty="0"/>
              <a:t>数量、质量和影响力</a:t>
            </a:r>
            <a:r>
              <a:rPr lang="en-US" altLang="zh-CN" dirty="0"/>
              <a:t>—</a:t>
            </a:r>
            <a:r>
              <a:rPr lang="zh-CN" altLang="en-US" dirty="0"/>
              <a:t>才能达到我们希望的市场地位和行业领导地位？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CDB3001D-4BAD-464E-B45E-1F68DBC2ADD9}"/>
              </a:ext>
            </a:extLst>
          </p:cNvPr>
          <p:cNvSpPr/>
          <p:nvPr/>
        </p:nvSpPr>
        <p:spPr>
          <a:xfrm>
            <a:off x="2572440" y="1144748"/>
            <a:ext cx="70471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33CC"/>
                </a:solidFill>
                <a:latin typeface="+mj-ea"/>
                <a:ea typeface="+mj-ea"/>
              </a:rPr>
              <a:t>德鲁克关于有效研发的</a:t>
            </a:r>
            <a:r>
              <a:rPr lang="en-US" altLang="zh-CN" sz="3200" b="1" dirty="0">
                <a:solidFill>
                  <a:srgbClr val="0033CC"/>
                </a:solidFill>
                <a:latin typeface="+mj-ea"/>
                <a:ea typeface="+mj-ea"/>
              </a:rPr>
              <a:t>10</a:t>
            </a:r>
            <a:r>
              <a:rPr lang="zh-CN" altLang="en-US" sz="3200" b="1" dirty="0">
                <a:solidFill>
                  <a:srgbClr val="0033CC"/>
                </a:solidFill>
                <a:latin typeface="+mj-ea"/>
                <a:ea typeface="+mj-ea"/>
              </a:rPr>
              <a:t>条规则</a:t>
            </a:r>
            <a:r>
              <a:rPr lang="en-US" altLang="zh-CN" sz="3200" b="1" dirty="0">
                <a:solidFill>
                  <a:srgbClr val="0033CC"/>
                </a:solidFill>
                <a:latin typeface="+mn-ea"/>
              </a:rPr>
              <a:t>(2/2)</a:t>
            </a:r>
            <a:endParaRPr lang="en-US" altLang="zh-CN" sz="3200" b="1" dirty="0">
              <a:solidFill>
                <a:srgbClr val="0033CC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5627175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清风素材 https://12sc.taobao.com">
  <a:themeElements>
    <a:clrScheme name="自定义 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53607"/>
      </a:accent1>
      <a:accent2>
        <a:srgbClr val="5C003D"/>
      </a:accent2>
      <a:accent3>
        <a:srgbClr val="FFE7AB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plus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8633</TotalTime>
  <Words>556</Words>
  <Application>Microsoft Office PowerPoint</Application>
  <PresentationFormat>自定义</PresentationFormat>
  <Paragraphs>86</Paragraphs>
  <Slides>7</Slides>
  <Notes>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清风素材 https://12sc.taobao.com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12sc.taobao.com</dc:creator>
  <cp:lastModifiedBy>微软用户</cp:lastModifiedBy>
  <cp:revision>960</cp:revision>
  <cp:lastPrinted>2020-03-27T05:30:39Z</cp:lastPrinted>
  <dcterms:created xsi:type="dcterms:W3CDTF">2015-08-18T05:03:53Z</dcterms:created>
  <dcterms:modified xsi:type="dcterms:W3CDTF">2022-11-14T01:34:26Z</dcterms:modified>
</cp:coreProperties>
</file>