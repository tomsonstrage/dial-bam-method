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72" r:id="rId3"/>
    <p:sldId id="364" r:id="rId4"/>
    <p:sldId id="351" r:id="rId5"/>
    <p:sldId id="350" r:id="rId6"/>
    <p:sldId id="297" r:id="rId7"/>
    <p:sldId id="298" r:id="rId8"/>
    <p:sldId id="299" r:id="rId9"/>
    <p:sldId id="300" r:id="rId10"/>
    <p:sldId id="347" r:id="rId11"/>
    <p:sldId id="349" r:id="rId12"/>
    <p:sldId id="348" r:id="rId13"/>
    <p:sldId id="296" r:id="rId14"/>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4D92"/>
    <a:srgbClr val="1277FE"/>
    <a:srgbClr val="1453A3"/>
    <a:srgbClr val="015DDA"/>
    <a:srgbClr val="95C2EB"/>
    <a:srgbClr val="023DBF"/>
    <a:srgbClr val="84A3B4"/>
    <a:srgbClr val="006368"/>
    <a:srgbClr val="0B395A"/>
    <a:srgbClr val="F3EE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7" autoAdjust="0"/>
    <p:restoredTop sz="94227" autoAdjust="0"/>
  </p:normalViewPr>
  <p:slideViewPr>
    <p:cSldViewPr snapToGrid="0">
      <p:cViewPr varScale="1">
        <p:scale>
          <a:sx n="66" d="100"/>
          <a:sy n="66" d="100"/>
        </p:scale>
        <p:origin x="124" y="-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1C67E7-52ED-414F-909E-4DE535C3631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7E046DB0-FFFC-4EB7-A1CB-0FF464387806}">
      <dgm:prSet phldrT="[文本]"/>
      <dgm:spPr/>
      <dgm:t>
        <a:bodyPr/>
        <a:lstStyle/>
        <a:p>
          <a:r>
            <a:rPr lang="zh-CN" altLang="en-US" b="0" i="0" dirty="0"/>
            <a:t>零售多品牌集团型企业</a:t>
          </a:r>
          <a:endParaRPr lang="zh-CN" altLang="en-US" dirty="0"/>
        </a:p>
      </dgm:t>
    </dgm:pt>
    <dgm:pt modelId="{46A3D7BA-D1D7-4C8E-A318-C55383C912FC}" type="parTrans" cxnId="{1AA573CB-A71C-4D51-B016-174C1D3012EC}">
      <dgm:prSet/>
      <dgm:spPr/>
      <dgm:t>
        <a:bodyPr/>
        <a:lstStyle/>
        <a:p>
          <a:endParaRPr lang="zh-CN" altLang="en-US"/>
        </a:p>
      </dgm:t>
    </dgm:pt>
    <dgm:pt modelId="{FE1324C3-9302-453F-AF5B-CD6A9F752DA6}" type="sibTrans" cxnId="{1AA573CB-A71C-4D51-B016-174C1D3012EC}">
      <dgm:prSet/>
      <dgm:spPr/>
      <dgm:t>
        <a:bodyPr/>
        <a:lstStyle/>
        <a:p>
          <a:endParaRPr lang="zh-CN" altLang="en-US"/>
        </a:p>
      </dgm:t>
    </dgm:pt>
    <dgm:pt modelId="{3D0702CF-C825-41D1-B952-BD8CABD19303}">
      <dgm:prSet phldrT="[文本]"/>
      <dgm:spPr/>
      <dgm:t>
        <a:bodyPr/>
        <a:lstStyle/>
        <a:p>
          <a:r>
            <a:rPr lang="zh-CN" altLang="en-US" b="0" i="0" dirty="0"/>
            <a:t>关注如何实现集中管控前提下营销能力在多品牌复用</a:t>
          </a:r>
          <a:endParaRPr lang="zh-CN" altLang="en-US" dirty="0"/>
        </a:p>
      </dgm:t>
    </dgm:pt>
    <dgm:pt modelId="{088C9560-08E3-469F-BEF5-3D34497186BF}" type="parTrans" cxnId="{78A22DEF-B4C1-49D6-AD08-BABE5A1E87DF}">
      <dgm:prSet/>
      <dgm:spPr/>
      <dgm:t>
        <a:bodyPr/>
        <a:lstStyle/>
        <a:p>
          <a:endParaRPr lang="zh-CN" altLang="en-US"/>
        </a:p>
      </dgm:t>
    </dgm:pt>
    <dgm:pt modelId="{B0248105-60CB-4E74-A08E-7998175518FF}" type="sibTrans" cxnId="{78A22DEF-B4C1-49D6-AD08-BABE5A1E87DF}">
      <dgm:prSet/>
      <dgm:spPr/>
      <dgm:t>
        <a:bodyPr/>
        <a:lstStyle/>
        <a:p>
          <a:endParaRPr lang="zh-CN" altLang="en-US"/>
        </a:p>
      </dgm:t>
    </dgm:pt>
    <dgm:pt modelId="{97CBF2A4-1BEC-4D9D-985C-E0F9493182BB}">
      <dgm:prSet phldrT="[文本]"/>
      <dgm:spPr/>
      <dgm:t>
        <a:bodyPr/>
        <a:lstStyle/>
        <a:p>
          <a:r>
            <a:rPr lang="zh-CN" altLang="en-US" b="0" i="0" dirty="0"/>
            <a:t>跨国零售企业</a:t>
          </a:r>
          <a:endParaRPr lang="zh-CN" altLang="en-US" dirty="0"/>
        </a:p>
      </dgm:t>
    </dgm:pt>
    <dgm:pt modelId="{9BD65A73-70D5-40C0-A5A4-2EFF107D53EA}" type="parTrans" cxnId="{D124F2AC-FBA4-4EB5-8FAE-FC86F10A3856}">
      <dgm:prSet/>
      <dgm:spPr/>
      <dgm:t>
        <a:bodyPr/>
        <a:lstStyle/>
        <a:p>
          <a:endParaRPr lang="zh-CN" altLang="en-US"/>
        </a:p>
      </dgm:t>
    </dgm:pt>
    <dgm:pt modelId="{3C40CD35-B0D4-458D-B8F3-7A1F6C830986}" type="sibTrans" cxnId="{D124F2AC-FBA4-4EB5-8FAE-FC86F10A3856}">
      <dgm:prSet/>
      <dgm:spPr/>
      <dgm:t>
        <a:bodyPr/>
        <a:lstStyle/>
        <a:p>
          <a:endParaRPr lang="zh-CN" altLang="en-US"/>
        </a:p>
      </dgm:t>
    </dgm:pt>
    <dgm:pt modelId="{3355F07B-0207-4BFA-AEA1-1CFD276E0EE4}">
      <dgm:prSet phldrT="[文本]"/>
      <dgm:spPr/>
      <dgm:t>
        <a:bodyPr/>
        <a:lstStyle/>
        <a:p>
          <a:r>
            <a:rPr lang="zh-CN" altLang="en-US" b="0" i="0" dirty="0"/>
            <a:t>关注如何实现全球统一运营下的核心业务能力，适应中国的特有业务场景和业务发展</a:t>
          </a:r>
          <a:endParaRPr lang="zh-CN" altLang="en-US" dirty="0"/>
        </a:p>
      </dgm:t>
    </dgm:pt>
    <dgm:pt modelId="{98E2A0AD-E611-46A7-9FC7-876E191D8A13}" type="parTrans" cxnId="{19527C76-10DD-4126-802B-A7A7F9B4B5C6}">
      <dgm:prSet/>
      <dgm:spPr/>
      <dgm:t>
        <a:bodyPr/>
        <a:lstStyle/>
        <a:p>
          <a:endParaRPr lang="zh-CN" altLang="en-US"/>
        </a:p>
      </dgm:t>
    </dgm:pt>
    <dgm:pt modelId="{F47F1990-3E85-40F8-90D1-1C6A5928B2CC}" type="sibTrans" cxnId="{19527C76-10DD-4126-802B-A7A7F9B4B5C6}">
      <dgm:prSet/>
      <dgm:spPr/>
      <dgm:t>
        <a:bodyPr/>
        <a:lstStyle/>
        <a:p>
          <a:endParaRPr lang="zh-CN" altLang="en-US"/>
        </a:p>
      </dgm:t>
    </dgm:pt>
    <dgm:pt modelId="{7F07EB19-4F58-41A9-898B-D9EF9C2AABE9}">
      <dgm:prSet phldrT="[文本]"/>
      <dgm:spPr/>
      <dgm:t>
        <a:bodyPr/>
        <a:lstStyle/>
        <a:p>
          <a:r>
            <a:rPr lang="zh-CN" altLang="en-US" b="0" i="0" dirty="0"/>
            <a:t>商业银行与金融机构</a:t>
          </a:r>
          <a:endParaRPr lang="zh-CN" altLang="en-US" dirty="0"/>
        </a:p>
      </dgm:t>
    </dgm:pt>
    <dgm:pt modelId="{F7C6199A-D2BA-488A-B857-14D8041ACBC6}" type="parTrans" cxnId="{34FFF987-5F08-4E73-BDDE-EA2C115D73E1}">
      <dgm:prSet/>
      <dgm:spPr/>
      <dgm:t>
        <a:bodyPr/>
        <a:lstStyle/>
        <a:p>
          <a:endParaRPr lang="zh-CN" altLang="en-US"/>
        </a:p>
      </dgm:t>
    </dgm:pt>
    <dgm:pt modelId="{23EE675B-80C2-438C-8F2E-E54430DFD9C7}" type="sibTrans" cxnId="{34FFF987-5F08-4E73-BDDE-EA2C115D73E1}">
      <dgm:prSet/>
      <dgm:spPr/>
      <dgm:t>
        <a:bodyPr/>
        <a:lstStyle/>
        <a:p>
          <a:endParaRPr lang="zh-CN" altLang="en-US"/>
        </a:p>
      </dgm:t>
    </dgm:pt>
    <dgm:pt modelId="{6A989317-A438-484B-A038-7330C08BF039}">
      <dgm:prSet phldrT="[文本]"/>
      <dgm:spPr/>
      <dgm:t>
        <a:bodyPr/>
        <a:lstStyle/>
        <a:p>
          <a:r>
            <a:rPr lang="zh-CN" altLang="en-US" b="0" i="0" dirty="0"/>
            <a:t>关注如何实现跨业务线之间的公共能力的识别，沉淀，形成统一管控及支撑，实现产品平台化，更灵活的适配不同场景的需求与快速响应。</a:t>
          </a:r>
          <a:endParaRPr lang="zh-CN" altLang="en-US" dirty="0"/>
        </a:p>
      </dgm:t>
    </dgm:pt>
    <dgm:pt modelId="{5D23871B-2F6F-4A78-9123-9AC9C0BC27EE}" type="parTrans" cxnId="{3C607F7A-E848-4CE2-BDCE-7F2E2EA82ECD}">
      <dgm:prSet/>
      <dgm:spPr/>
      <dgm:t>
        <a:bodyPr/>
        <a:lstStyle/>
        <a:p>
          <a:endParaRPr lang="zh-CN" altLang="en-US"/>
        </a:p>
      </dgm:t>
    </dgm:pt>
    <dgm:pt modelId="{7AE69B52-A722-43C6-BAA8-E2B48E9EC639}" type="sibTrans" cxnId="{3C607F7A-E848-4CE2-BDCE-7F2E2EA82ECD}">
      <dgm:prSet/>
      <dgm:spPr/>
      <dgm:t>
        <a:bodyPr/>
        <a:lstStyle/>
        <a:p>
          <a:endParaRPr lang="zh-CN" altLang="en-US"/>
        </a:p>
      </dgm:t>
    </dgm:pt>
    <dgm:pt modelId="{4817CD4B-D483-4DBF-96CF-C0594C015998}">
      <dgm:prSet phldrT="[文本]"/>
      <dgm:spPr/>
      <dgm:t>
        <a:bodyPr/>
        <a:lstStyle/>
        <a:p>
          <a:r>
            <a:rPr lang="zh-CN" altLang="en-US" b="0" i="0" dirty="0"/>
            <a:t>通信企业</a:t>
          </a:r>
          <a:endParaRPr lang="zh-CN" altLang="en-US" dirty="0"/>
        </a:p>
      </dgm:t>
    </dgm:pt>
    <dgm:pt modelId="{10EA7612-A70A-4D47-9AEC-C8267C9902DD}" type="parTrans" cxnId="{1AD534C5-782C-4E09-B468-149EFE2F75C0}">
      <dgm:prSet/>
      <dgm:spPr/>
      <dgm:t>
        <a:bodyPr/>
        <a:lstStyle/>
        <a:p>
          <a:endParaRPr lang="zh-CN" altLang="en-US"/>
        </a:p>
      </dgm:t>
    </dgm:pt>
    <dgm:pt modelId="{BEE18BF4-76F6-4933-8B02-BCA5767578FB}" type="sibTrans" cxnId="{1AD534C5-782C-4E09-B468-149EFE2F75C0}">
      <dgm:prSet/>
      <dgm:spPr/>
      <dgm:t>
        <a:bodyPr/>
        <a:lstStyle/>
        <a:p>
          <a:endParaRPr lang="zh-CN" altLang="en-US"/>
        </a:p>
      </dgm:t>
    </dgm:pt>
    <dgm:pt modelId="{A23E3E16-39F9-4EA9-BEEE-896F96839558}">
      <dgm:prSet/>
      <dgm:spPr/>
      <dgm:t>
        <a:bodyPr/>
        <a:lstStyle/>
        <a:p>
          <a:r>
            <a:rPr lang="zh-CN" altLang="en-US" b="0" i="0" dirty="0"/>
            <a:t>关注场景的能力抽取与模式复用，实现对于金融产品的快速创新的加速，和金融电商化的渠道能力运营的加强，为生态建设奠定基础</a:t>
          </a:r>
          <a:endParaRPr lang="zh-CN" altLang="en-US" dirty="0"/>
        </a:p>
      </dgm:t>
    </dgm:pt>
    <dgm:pt modelId="{74561C27-AABE-4B89-A2DE-0A5A503AE9DC}" type="parTrans" cxnId="{0215F70B-B0C7-44C0-B66B-6B506672A9B4}">
      <dgm:prSet/>
      <dgm:spPr/>
      <dgm:t>
        <a:bodyPr/>
        <a:lstStyle/>
        <a:p>
          <a:endParaRPr lang="zh-CN" altLang="en-US"/>
        </a:p>
      </dgm:t>
    </dgm:pt>
    <dgm:pt modelId="{2961AE83-1FCD-4C93-B7A9-DC3E2AEF5CF6}" type="sibTrans" cxnId="{0215F70B-B0C7-44C0-B66B-6B506672A9B4}">
      <dgm:prSet/>
      <dgm:spPr/>
      <dgm:t>
        <a:bodyPr/>
        <a:lstStyle/>
        <a:p>
          <a:endParaRPr lang="zh-CN" altLang="en-US"/>
        </a:p>
      </dgm:t>
    </dgm:pt>
    <dgm:pt modelId="{5F3D95E0-28E3-4CB3-B495-1DA90F39AB9B}" type="pres">
      <dgm:prSet presAssocID="{5B1C67E7-52ED-414F-909E-4DE535C3631E}" presName="Name0" presStyleCnt="0">
        <dgm:presLayoutVars>
          <dgm:dir/>
          <dgm:animLvl val="lvl"/>
          <dgm:resizeHandles val="exact"/>
        </dgm:presLayoutVars>
      </dgm:prSet>
      <dgm:spPr/>
    </dgm:pt>
    <dgm:pt modelId="{1E37F628-87DD-4320-9C1D-976AE9D0F0A8}" type="pres">
      <dgm:prSet presAssocID="{7E046DB0-FFFC-4EB7-A1CB-0FF464387806}" presName="composite" presStyleCnt="0"/>
      <dgm:spPr/>
    </dgm:pt>
    <dgm:pt modelId="{4C1B6810-7C26-4F2B-AA8A-1CCCF047ABE3}" type="pres">
      <dgm:prSet presAssocID="{7E046DB0-FFFC-4EB7-A1CB-0FF464387806}" presName="parTx" presStyleLbl="alignNode1" presStyleIdx="0" presStyleCnt="4">
        <dgm:presLayoutVars>
          <dgm:chMax val="0"/>
          <dgm:chPref val="0"/>
          <dgm:bulletEnabled val="1"/>
        </dgm:presLayoutVars>
      </dgm:prSet>
      <dgm:spPr/>
    </dgm:pt>
    <dgm:pt modelId="{743A47BC-74F0-48AC-AD89-D05DB4366E2B}" type="pres">
      <dgm:prSet presAssocID="{7E046DB0-FFFC-4EB7-A1CB-0FF464387806}" presName="desTx" presStyleLbl="alignAccFollowNode1" presStyleIdx="0" presStyleCnt="4">
        <dgm:presLayoutVars>
          <dgm:bulletEnabled val="1"/>
        </dgm:presLayoutVars>
      </dgm:prSet>
      <dgm:spPr/>
    </dgm:pt>
    <dgm:pt modelId="{33D33EEC-F264-48CE-A090-5D9917C53115}" type="pres">
      <dgm:prSet presAssocID="{FE1324C3-9302-453F-AF5B-CD6A9F752DA6}" presName="space" presStyleCnt="0"/>
      <dgm:spPr/>
    </dgm:pt>
    <dgm:pt modelId="{C8C4AC69-54EA-46ED-B353-6084C542415C}" type="pres">
      <dgm:prSet presAssocID="{97CBF2A4-1BEC-4D9D-985C-E0F9493182BB}" presName="composite" presStyleCnt="0"/>
      <dgm:spPr/>
    </dgm:pt>
    <dgm:pt modelId="{D60B43C2-3CDA-4E59-A28A-684B566DB13A}" type="pres">
      <dgm:prSet presAssocID="{97CBF2A4-1BEC-4D9D-985C-E0F9493182BB}" presName="parTx" presStyleLbl="alignNode1" presStyleIdx="1" presStyleCnt="4">
        <dgm:presLayoutVars>
          <dgm:chMax val="0"/>
          <dgm:chPref val="0"/>
          <dgm:bulletEnabled val="1"/>
        </dgm:presLayoutVars>
      </dgm:prSet>
      <dgm:spPr/>
    </dgm:pt>
    <dgm:pt modelId="{4C78EF90-962C-4EF2-8888-75F2FFF25158}" type="pres">
      <dgm:prSet presAssocID="{97CBF2A4-1BEC-4D9D-985C-E0F9493182BB}" presName="desTx" presStyleLbl="alignAccFollowNode1" presStyleIdx="1" presStyleCnt="4">
        <dgm:presLayoutVars>
          <dgm:bulletEnabled val="1"/>
        </dgm:presLayoutVars>
      </dgm:prSet>
      <dgm:spPr/>
    </dgm:pt>
    <dgm:pt modelId="{72EC1394-5378-4F7E-BC22-ED74BBBB1741}" type="pres">
      <dgm:prSet presAssocID="{3C40CD35-B0D4-458D-B8F3-7A1F6C830986}" presName="space" presStyleCnt="0"/>
      <dgm:spPr/>
    </dgm:pt>
    <dgm:pt modelId="{506FC13F-DAF9-4DCB-9D13-03130137F948}" type="pres">
      <dgm:prSet presAssocID="{7F07EB19-4F58-41A9-898B-D9EF9C2AABE9}" presName="composite" presStyleCnt="0"/>
      <dgm:spPr/>
    </dgm:pt>
    <dgm:pt modelId="{848085D5-1299-4051-A4BF-AD82543333C2}" type="pres">
      <dgm:prSet presAssocID="{7F07EB19-4F58-41A9-898B-D9EF9C2AABE9}" presName="parTx" presStyleLbl="alignNode1" presStyleIdx="2" presStyleCnt="4">
        <dgm:presLayoutVars>
          <dgm:chMax val="0"/>
          <dgm:chPref val="0"/>
          <dgm:bulletEnabled val="1"/>
        </dgm:presLayoutVars>
      </dgm:prSet>
      <dgm:spPr/>
    </dgm:pt>
    <dgm:pt modelId="{BFDD3455-9914-455A-8131-B0FD3DCF4F53}" type="pres">
      <dgm:prSet presAssocID="{7F07EB19-4F58-41A9-898B-D9EF9C2AABE9}" presName="desTx" presStyleLbl="alignAccFollowNode1" presStyleIdx="2" presStyleCnt="4">
        <dgm:presLayoutVars>
          <dgm:bulletEnabled val="1"/>
        </dgm:presLayoutVars>
      </dgm:prSet>
      <dgm:spPr/>
    </dgm:pt>
    <dgm:pt modelId="{6D09C365-E440-42EB-B748-A40D84185470}" type="pres">
      <dgm:prSet presAssocID="{23EE675B-80C2-438C-8F2E-E54430DFD9C7}" presName="space" presStyleCnt="0"/>
      <dgm:spPr/>
    </dgm:pt>
    <dgm:pt modelId="{FCD0EFC2-EA19-4A0C-A475-333644F75BA4}" type="pres">
      <dgm:prSet presAssocID="{4817CD4B-D483-4DBF-96CF-C0594C015998}" presName="composite" presStyleCnt="0"/>
      <dgm:spPr/>
    </dgm:pt>
    <dgm:pt modelId="{DBC0E687-8A82-4F31-A11A-582FD7F8255B}" type="pres">
      <dgm:prSet presAssocID="{4817CD4B-D483-4DBF-96CF-C0594C015998}" presName="parTx" presStyleLbl="alignNode1" presStyleIdx="3" presStyleCnt="4">
        <dgm:presLayoutVars>
          <dgm:chMax val="0"/>
          <dgm:chPref val="0"/>
          <dgm:bulletEnabled val="1"/>
        </dgm:presLayoutVars>
      </dgm:prSet>
      <dgm:spPr/>
    </dgm:pt>
    <dgm:pt modelId="{2C366E53-03C1-44BE-B0AD-62DB43948AE6}" type="pres">
      <dgm:prSet presAssocID="{4817CD4B-D483-4DBF-96CF-C0594C015998}" presName="desTx" presStyleLbl="alignAccFollowNode1" presStyleIdx="3" presStyleCnt="4">
        <dgm:presLayoutVars>
          <dgm:bulletEnabled val="1"/>
        </dgm:presLayoutVars>
      </dgm:prSet>
      <dgm:spPr/>
    </dgm:pt>
  </dgm:ptLst>
  <dgm:cxnLst>
    <dgm:cxn modelId="{32847803-942E-4083-972F-ADCE3BBA48FF}" type="presOf" srcId="{A23E3E16-39F9-4EA9-BEEE-896F96839558}" destId="{BFDD3455-9914-455A-8131-B0FD3DCF4F53}" srcOrd="0" destOrd="0" presId="urn:microsoft.com/office/officeart/2005/8/layout/hList1"/>
    <dgm:cxn modelId="{AB17B90A-8575-4BDD-AB81-3ECFA6E849AA}" type="presOf" srcId="{7F07EB19-4F58-41A9-898B-D9EF9C2AABE9}" destId="{848085D5-1299-4051-A4BF-AD82543333C2}" srcOrd="0" destOrd="0" presId="urn:microsoft.com/office/officeart/2005/8/layout/hList1"/>
    <dgm:cxn modelId="{0215F70B-B0C7-44C0-B66B-6B506672A9B4}" srcId="{7F07EB19-4F58-41A9-898B-D9EF9C2AABE9}" destId="{A23E3E16-39F9-4EA9-BEEE-896F96839558}" srcOrd="0" destOrd="0" parTransId="{74561C27-AABE-4B89-A2DE-0A5A503AE9DC}" sibTransId="{2961AE83-1FCD-4C93-B7A9-DC3E2AEF5CF6}"/>
    <dgm:cxn modelId="{0B993929-2EC5-401D-A3A0-242E6573CAF5}" type="presOf" srcId="{4817CD4B-D483-4DBF-96CF-C0594C015998}" destId="{DBC0E687-8A82-4F31-A11A-582FD7F8255B}" srcOrd="0" destOrd="0" presId="urn:microsoft.com/office/officeart/2005/8/layout/hList1"/>
    <dgm:cxn modelId="{FF4FF06C-4718-4AAE-B6ED-8ED088C8237A}" type="presOf" srcId="{3355F07B-0207-4BFA-AEA1-1CFD276E0EE4}" destId="{4C78EF90-962C-4EF2-8888-75F2FFF25158}" srcOrd="0" destOrd="0" presId="urn:microsoft.com/office/officeart/2005/8/layout/hList1"/>
    <dgm:cxn modelId="{467AD46D-E236-4BEB-B4B6-70141911E9CA}" type="presOf" srcId="{6A989317-A438-484B-A038-7330C08BF039}" destId="{2C366E53-03C1-44BE-B0AD-62DB43948AE6}" srcOrd="0" destOrd="0" presId="urn:microsoft.com/office/officeart/2005/8/layout/hList1"/>
    <dgm:cxn modelId="{D587344F-F4A2-444D-B168-08F4E35F8ED6}" type="presOf" srcId="{3D0702CF-C825-41D1-B952-BD8CABD19303}" destId="{743A47BC-74F0-48AC-AD89-D05DB4366E2B}" srcOrd="0" destOrd="0" presId="urn:microsoft.com/office/officeart/2005/8/layout/hList1"/>
    <dgm:cxn modelId="{19527C76-10DD-4126-802B-A7A7F9B4B5C6}" srcId="{97CBF2A4-1BEC-4D9D-985C-E0F9493182BB}" destId="{3355F07B-0207-4BFA-AEA1-1CFD276E0EE4}" srcOrd="0" destOrd="0" parTransId="{98E2A0AD-E611-46A7-9FC7-876E191D8A13}" sibTransId="{F47F1990-3E85-40F8-90D1-1C6A5928B2CC}"/>
    <dgm:cxn modelId="{3C607F7A-E848-4CE2-BDCE-7F2E2EA82ECD}" srcId="{4817CD4B-D483-4DBF-96CF-C0594C015998}" destId="{6A989317-A438-484B-A038-7330C08BF039}" srcOrd="0" destOrd="0" parTransId="{5D23871B-2F6F-4A78-9123-9AC9C0BC27EE}" sibTransId="{7AE69B52-A722-43C6-BAA8-E2B48E9EC639}"/>
    <dgm:cxn modelId="{D0644882-B10A-4573-A384-14D123086FE2}" type="presOf" srcId="{5B1C67E7-52ED-414F-909E-4DE535C3631E}" destId="{5F3D95E0-28E3-4CB3-B495-1DA90F39AB9B}" srcOrd="0" destOrd="0" presId="urn:microsoft.com/office/officeart/2005/8/layout/hList1"/>
    <dgm:cxn modelId="{34FFF987-5F08-4E73-BDDE-EA2C115D73E1}" srcId="{5B1C67E7-52ED-414F-909E-4DE535C3631E}" destId="{7F07EB19-4F58-41A9-898B-D9EF9C2AABE9}" srcOrd="2" destOrd="0" parTransId="{F7C6199A-D2BA-488A-B857-14D8041ACBC6}" sibTransId="{23EE675B-80C2-438C-8F2E-E54430DFD9C7}"/>
    <dgm:cxn modelId="{D124F2AC-FBA4-4EB5-8FAE-FC86F10A3856}" srcId="{5B1C67E7-52ED-414F-909E-4DE535C3631E}" destId="{97CBF2A4-1BEC-4D9D-985C-E0F9493182BB}" srcOrd="1" destOrd="0" parTransId="{9BD65A73-70D5-40C0-A5A4-2EFF107D53EA}" sibTransId="{3C40CD35-B0D4-458D-B8F3-7A1F6C830986}"/>
    <dgm:cxn modelId="{1AD534C5-782C-4E09-B468-149EFE2F75C0}" srcId="{5B1C67E7-52ED-414F-909E-4DE535C3631E}" destId="{4817CD4B-D483-4DBF-96CF-C0594C015998}" srcOrd="3" destOrd="0" parTransId="{10EA7612-A70A-4D47-9AEC-C8267C9902DD}" sibTransId="{BEE18BF4-76F6-4933-8B02-BCA5767578FB}"/>
    <dgm:cxn modelId="{74130CC6-3E3A-4B87-9FFB-75777CF6FFEB}" type="presOf" srcId="{97CBF2A4-1BEC-4D9D-985C-E0F9493182BB}" destId="{D60B43C2-3CDA-4E59-A28A-684B566DB13A}" srcOrd="0" destOrd="0" presId="urn:microsoft.com/office/officeart/2005/8/layout/hList1"/>
    <dgm:cxn modelId="{1AA573CB-A71C-4D51-B016-174C1D3012EC}" srcId="{5B1C67E7-52ED-414F-909E-4DE535C3631E}" destId="{7E046DB0-FFFC-4EB7-A1CB-0FF464387806}" srcOrd="0" destOrd="0" parTransId="{46A3D7BA-D1D7-4C8E-A318-C55383C912FC}" sibTransId="{FE1324C3-9302-453F-AF5B-CD6A9F752DA6}"/>
    <dgm:cxn modelId="{78A22DEF-B4C1-49D6-AD08-BABE5A1E87DF}" srcId="{7E046DB0-FFFC-4EB7-A1CB-0FF464387806}" destId="{3D0702CF-C825-41D1-B952-BD8CABD19303}" srcOrd="0" destOrd="0" parTransId="{088C9560-08E3-469F-BEF5-3D34497186BF}" sibTransId="{B0248105-60CB-4E74-A08E-7998175518FF}"/>
    <dgm:cxn modelId="{659BA8FC-24BE-4992-A23F-1CE85D27C0BF}" type="presOf" srcId="{7E046DB0-FFFC-4EB7-A1CB-0FF464387806}" destId="{4C1B6810-7C26-4F2B-AA8A-1CCCF047ABE3}" srcOrd="0" destOrd="0" presId="urn:microsoft.com/office/officeart/2005/8/layout/hList1"/>
    <dgm:cxn modelId="{9E991B03-4716-44A2-8496-397A5F27CA7A}" type="presParOf" srcId="{5F3D95E0-28E3-4CB3-B495-1DA90F39AB9B}" destId="{1E37F628-87DD-4320-9C1D-976AE9D0F0A8}" srcOrd="0" destOrd="0" presId="urn:microsoft.com/office/officeart/2005/8/layout/hList1"/>
    <dgm:cxn modelId="{5DDB7B3D-7710-44F8-87C7-D30C9193F948}" type="presParOf" srcId="{1E37F628-87DD-4320-9C1D-976AE9D0F0A8}" destId="{4C1B6810-7C26-4F2B-AA8A-1CCCF047ABE3}" srcOrd="0" destOrd="0" presId="urn:microsoft.com/office/officeart/2005/8/layout/hList1"/>
    <dgm:cxn modelId="{E7EF8F1E-2C16-4B43-A412-EFF7F81EF783}" type="presParOf" srcId="{1E37F628-87DD-4320-9C1D-976AE9D0F0A8}" destId="{743A47BC-74F0-48AC-AD89-D05DB4366E2B}" srcOrd="1" destOrd="0" presId="urn:microsoft.com/office/officeart/2005/8/layout/hList1"/>
    <dgm:cxn modelId="{D00FED9E-FFE3-461E-BB35-B00A0D06D875}" type="presParOf" srcId="{5F3D95E0-28E3-4CB3-B495-1DA90F39AB9B}" destId="{33D33EEC-F264-48CE-A090-5D9917C53115}" srcOrd="1" destOrd="0" presId="urn:microsoft.com/office/officeart/2005/8/layout/hList1"/>
    <dgm:cxn modelId="{AA87F988-2996-45F6-A29D-68153F1F383C}" type="presParOf" srcId="{5F3D95E0-28E3-4CB3-B495-1DA90F39AB9B}" destId="{C8C4AC69-54EA-46ED-B353-6084C542415C}" srcOrd="2" destOrd="0" presId="urn:microsoft.com/office/officeart/2005/8/layout/hList1"/>
    <dgm:cxn modelId="{4A49ECE9-5CB0-49DC-9E57-55A27B2105AB}" type="presParOf" srcId="{C8C4AC69-54EA-46ED-B353-6084C542415C}" destId="{D60B43C2-3CDA-4E59-A28A-684B566DB13A}" srcOrd="0" destOrd="0" presId="urn:microsoft.com/office/officeart/2005/8/layout/hList1"/>
    <dgm:cxn modelId="{CE95B670-97B2-4BC7-ABAE-0D9688A28D08}" type="presParOf" srcId="{C8C4AC69-54EA-46ED-B353-6084C542415C}" destId="{4C78EF90-962C-4EF2-8888-75F2FFF25158}" srcOrd="1" destOrd="0" presId="urn:microsoft.com/office/officeart/2005/8/layout/hList1"/>
    <dgm:cxn modelId="{78C09DEE-88AE-4846-9114-9F12379AB6C2}" type="presParOf" srcId="{5F3D95E0-28E3-4CB3-B495-1DA90F39AB9B}" destId="{72EC1394-5378-4F7E-BC22-ED74BBBB1741}" srcOrd="3" destOrd="0" presId="urn:microsoft.com/office/officeart/2005/8/layout/hList1"/>
    <dgm:cxn modelId="{7CF697D7-0184-466A-9165-1A8B7A426A61}" type="presParOf" srcId="{5F3D95E0-28E3-4CB3-B495-1DA90F39AB9B}" destId="{506FC13F-DAF9-4DCB-9D13-03130137F948}" srcOrd="4" destOrd="0" presId="urn:microsoft.com/office/officeart/2005/8/layout/hList1"/>
    <dgm:cxn modelId="{D6C7A2A6-5CD2-4691-A81A-BAB5098FDD37}" type="presParOf" srcId="{506FC13F-DAF9-4DCB-9D13-03130137F948}" destId="{848085D5-1299-4051-A4BF-AD82543333C2}" srcOrd="0" destOrd="0" presId="urn:microsoft.com/office/officeart/2005/8/layout/hList1"/>
    <dgm:cxn modelId="{294B1D27-A9C9-4F9F-ACD5-0D501201E43C}" type="presParOf" srcId="{506FC13F-DAF9-4DCB-9D13-03130137F948}" destId="{BFDD3455-9914-455A-8131-B0FD3DCF4F53}" srcOrd="1" destOrd="0" presId="urn:microsoft.com/office/officeart/2005/8/layout/hList1"/>
    <dgm:cxn modelId="{910C9585-C7BC-4E77-AFB0-8A8028590426}" type="presParOf" srcId="{5F3D95E0-28E3-4CB3-B495-1DA90F39AB9B}" destId="{6D09C365-E440-42EB-B748-A40D84185470}" srcOrd="5" destOrd="0" presId="urn:microsoft.com/office/officeart/2005/8/layout/hList1"/>
    <dgm:cxn modelId="{AC8F0301-7CB6-4116-86F4-251EB9E13683}" type="presParOf" srcId="{5F3D95E0-28E3-4CB3-B495-1DA90F39AB9B}" destId="{FCD0EFC2-EA19-4A0C-A475-333644F75BA4}" srcOrd="6" destOrd="0" presId="urn:microsoft.com/office/officeart/2005/8/layout/hList1"/>
    <dgm:cxn modelId="{FD842E13-A75A-4DF1-849F-09EBADC45344}" type="presParOf" srcId="{FCD0EFC2-EA19-4A0C-A475-333644F75BA4}" destId="{DBC0E687-8A82-4F31-A11A-582FD7F8255B}" srcOrd="0" destOrd="0" presId="urn:microsoft.com/office/officeart/2005/8/layout/hList1"/>
    <dgm:cxn modelId="{F6416B62-775E-4A75-916F-8BF919ADFF3B}" type="presParOf" srcId="{FCD0EFC2-EA19-4A0C-A475-333644F75BA4}" destId="{2C366E53-03C1-44BE-B0AD-62DB43948AE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5D1BC9-5EC6-412D-9575-D4D66BD91709}"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zh-CN" altLang="en-US"/>
        </a:p>
      </dgm:t>
    </dgm:pt>
    <dgm:pt modelId="{B8B509FF-6F81-4334-A5C6-798BC60BE8E5}">
      <dgm:prSet phldrT="[文本]" custT="1"/>
      <dgm:spPr/>
      <dgm:t>
        <a:bodyPr/>
        <a:lstStyle/>
        <a:p>
          <a:r>
            <a:rPr lang="zh-CN" altLang="en-US" sz="1400" dirty="0"/>
            <a:t>中台以“复用”之名起源，很容易走回从前软件“套件化”实施的思路和模式。</a:t>
          </a:r>
          <a:endParaRPr lang="en-US" altLang="zh-CN" sz="1400" dirty="0"/>
        </a:p>
        <a:p>
          <a:r>
            <a:rPr lang="zh-CN" altLang="en-US" sz="1400" dirty="0"/>
            <a:t>在中台规划与建设中，如果仍以“中台产品套件”实施方式，会不可避免的再次出现削足适履的问题。</a:t>
          </a:r>
        </a:p>
      </dgm:t>
    </dgm:pt>
    <dgm:pt modelId="{761D3E2A-321C-4464-91E0-40229635718C}" type="parTrans" cxnId="{F68A2817-650A-4067-A4D2-0659E160EB37}">
      <dgm:prSet/>
      <dgm:spPr/>
      <dgm:t>
        <a:bodyPr/>
        <a:lstStyle/>
        <a:p>
          <a:endParaRPr lang="zh-CN" altLang="en-US"/>
        </a:p>
      </dgm:t>
    </dgm:pt>
    <dgm:pt modelId="{2CC0F4C2-0283-4355-A996-7AC658C5D3E1}" type="sibTrans" cxnId="{F68A2817-650A-4067-A4D2-0659E160EB37}">
      <dgm:prSet/>
      <dgm:spPr/>
      <dgm:t>
        <a:bodyPr/>
        <a:lstStyle/>
        <a:p>
          <a:endParaRPr lang="zh-CN" altLang="en-US"/>
        </a:p>
      </dgm:t>
    </dgm:pt>
    <dgm:pt modelId="{E620DEA3-17E8-4C51-A08A-CE5184EB7514}">
      <dgm:prSet phldrT="[文本]" custT="1"/>
      <dgm:spPr/>
      <dgm:t>
        <a:bodyPr/>
        <a:lstStyle/>
        <a:p>
          <a:r>
            <a:rPr lang="zh-CN" altLang="en-US" sz="1300" dirty="0"/>
            <a:t>中台是针对于“商业模式”和“业务模式”的抽象与复用。</a:t>
          </a:r>
          <a:endParaRPr lang="en-US" altLang="zh-CN" sz="1300" dirty="0"/>
        </a:p>
        <a:p>
          <a:r>
            <a:rPr lang="zh-CN" altLang="en-US" sz="1300" dirty="0"/>
            <a:t>体现的是企业希望通过对于自身商业模式和自身业务的思考与抽象沉淀，实现的扩展与复用，支撑企业业务的快速拓展与创新，契合平台向业务的再演进过程。</a:t>
          </a:r>
        </a:p>
      </dgm:t>
    </dgm:pt>
    <dgm:pt modelId="{91799DB5-DB92-4C55-8093-0246666D6D20}" type="parTrans" cxnId="{622FC425-625A-455B-B3E8-482DE5F2566B}">
      <dgm:prSet/>
      <dgm:spPr/>
      <dgm:t>
        <a:bodyPr/>
        <a:lstStyle/>
        <a:p>
          <a:endParaRPr lang="zh-CN" altLang="en-US"/>
        </a:p>
      </dgm:t>
    </dgm:pt>
    <dgm:pt modelId="{9D96C2E3-DBAA-40CE-8F3F-71A7BE1053E2}" type="sibTrans" cxnId="{622FC425-625A-455B-B3E8-482DE5F2566B}">
      <dgm:prSet/>
      <dgm:spPr/>
      <dgm:t>
        <a:bodyPr/>
        <a:lstStyle/>
        <a:p>
          <a:endParaRPr lang="zh-CN" altLang="en-US"/>
        </a:p>
      </dgm:t>
    </dgm:pt>
    <dgm:pt modelId="{6A5B2008-D117-47E7-A0F4-C71F8FBA5ACB}" type="pres">
      <dgm:prSet presAssocID="{485D1BC9-5EC6-412D-9575-D4D66BD91709}" presName="Name0" presStyleCnt="0">
        <dgm:presLayoutVars>
          <dgm:dir/>
          <dgm:resizeHandles val="exact"/>
        </dgm:presLayoutVars>
      </dgm:prSet>
      <dgm:spPr/>
    </dgm:pt>
    <dgm:pt modelId="{1B4DE376-9886-4A17-B3E4-4F815E0918B1}" type="pres">
      <dgm:prSet presAssocID="{485D1BC9-5EC6-412D-9575-D4D66BD91709}" presName="bkgdShp" presStyleLbl="alignAccFollowNode1" presStyleIdx="0" presStyleCnt="1" custLinFactNeighborX="2645" custLinFactNeighborY="323"/>
      <dgm:spPr/>
    </dgm:pt>
    <dgm:pt modelId="{91EFB2EC-B9F8-4B77-ABF5-18AA2CA2232F}" type="pres">
      <dgm:prSet presAssocID="{485D1BC9-5EC6-412D-9575-D4D66BD91709}" presName="linComp" presStyleCnt="0"/>
      <dgm:spPr/>
    </dgm:pt>
    <dgm:pt modelId="{F68B004E-4ECB-4781-8D8E-7EBD97742B9F}" type="pres">
      <dgm:prSet presAssocID="{B8B509FF-6F81-4334-A5C6-798BC60BE8E5}" presName="compNode" presStyleCnt="0"/>
      <dgm:spPr/>
    </dgm:pt>
    <dgm:pt modelId="{A805B233-663D-4B57-94F5-3061BFC59B9C}" type="pres">
      <dgm:prSet presAssocID="{B8B509FF-6F81-4334-A5C6-798BC60BE8E5}" presName="node" presStyleLbl="node1" presStyleIdx="0" presStyleCnt="2" custScaleY="57862" custLinFactNeighborX="2975" custLinFactNeighborY="-20759">
        <dgm:presLayoutVars>
          <dgm:bulletEnabled val="1"/>
        </dgm:presLayoutVars>
      </dgm:prSet>
      <dgm:spPr/>
    </dgm:pt>
    <dgm:pt modelId="{E1F51019-B16F-4534-9E9F-0A306B339E5D}" type="pres">
      <dgm:prSet presAssocID="{B8B509FF-6F81-4334-A5C6-798BC60BE8E5}" presName="invisiNode" presStyleLbl="node1" presStyleIdx="0" presStyleCnt="2"/>
      <dgm:spPr/>
    </dgm:pt>
    <dgm:pt modelId="{4B54B99A-CD98-45DB-B4E3-03B5E7F038D7}" type="pres">
      <dgm:prSet presAssocID="{B8B509FF-6F81-4334-A5C6-798BC60BE8E5}" presName="imagNode" presStyleLbl="fgImgPlace1" presStyleIdx="0" presStyleCnt="2"/>
      <dgm:spPr>
        <a:noFill/>
        <a:ln>
          <a:noFill/>
        </a:ln>
      </dgm:spPr>
    </dgm:pt>
    <dgm:pt modelId="{8725ADD5-0086-4C5C-8D96-D2AC434CBD50}" type="pres">
      <dgm:prSet presAssocID="{2CC0F4C2-0283-4355-A996-7AC658C5D3E1}" presName="sibTrans" presStyleLbl="sibTrans2D1" presStyleIdx="0" presStyleCnt="0"/>
      <dgm:spPr/>
    </dgm:pt>
    <dgm:pt modelId="{BA02D325-8D2F-4F35-8658-D0E9B578EEEA}" type="pres">
      <dgm:prSet presAssocID="{E620DEA3-17E8-4C51-A08A-CE5184EB7514}" presName="compNode" presStyleCnt="0"/>
      <dgm:spPr/>
    </dgm:pt>
    <dgm:pt modelId="{A01D1873-3299-4444-B3F6-6BC2F57DFC4F}" type="pres">
      <dgm:prSet presAssocID="{E620DEA3-17E8-4C51-A08A-CE5184EB7514}" presName="node" presStyleLbl="node1" presStyleIdx="1" presStyleCnt="2" custScaleY="56463" custLinFactNeighborX="910" custLinFactNeighborY="-21109">
        <dgm:presLayoutVars>
          <dgm:bulletEnabled val="1"/>
        </dgm:presLayoutVars>
      </dgm:prSet>
      <dgm:spPr/>
    </dgm:pt>
    <dgm:pt modelId="{AC071A46-5D92-4DF0-AD08-3C472D2FBC9C}" type="pres">
      <dgm:prSet presAssocID="{E620DEA3-17E8-4C51-A08A-CE5184EB7514}" presName="invisiNode" presStyleLbl="node1" presStyleIdx="1" presStyleCnt="2"/>
      <dgm:spPr/>
    </dgm:pt>
    <dgm:pt modelId="{742D0879-414C-4A72-BB0D-C22A8C2B5F1D}" type="pres">
      <dgm:prSet presAssocID="{E620DEA3-17E8-4C51-A08A-CE5184EB7514}" presName="imagNode" presStyleLbl="fgImgPlace1" presStyleIdx="1" presStyleCnt="2"/>
      <dgm:spPr>
        <a:noFill/>
        <a:ln>
          <a:noFill/>
        </a:ln>
      </dgm:spPr>
    </dgm:pt>
  </dgm:ptLst>
  <dgm:cxnLst>
    <dgm:cxn modelId="{F68A2817-650A-4067-A4D2-0659E160EB37}" srcId="{485D1BC9-5EC6-412D-9575-D4D66BD91709}" destId="{B8B509FF-6F81-4334-A5C6-798BC60BE8E5}" srcOrd="0" destOrd="0" parTransId="{761D3E2A-321C-4464-91E0-40229635718C}" sibTransId="{2CC0F4C2-0283-4355-A996-7AC658C5D3E1}"/>
    <dgm:cxn modelId="{622FC425-625A-455B-B3E8-482DE5F2566B}" srcId="{485D1BC9-5EC6-412D-9575-D4D66BD91709}" destId="{E620DEA3-17E8-4C51-A08A-CE5184EB7514}" srcOrd="1" destOrd="0" parTransId="{91799DB5-DB92-4C55-8093-0246666D6D20}" sibTransId="{9D96C2E3-DBAA-40CE-8F3F-71A7BE1053E2}"/>
    <dgm:cxn modelId="{B783DC84-AA94-41DB-9A04-CC9580522D63}" type="presOf" srcId="{485D1BC9-5EC6-412D-9575-D4D66BD91709}" destId="{6A5B2008-D117-47E7-A0F4-C71F8FBA5ACB}" srcOrd="0" destOrd="0" presId="urn:microsoft.com/office/officeart/2005/8/layout/pList2"/>
    <dgm:cxn modelId="{02C28AAA-20C9-4121-9E8C-8B8037E8BA60}" type="presOf" srcId="{2CC0F4C2-0283-4355-A996-7AC658C5D3E1}" destId="{8725ADD5-0086-4C5C-8D96-D2AC434CBD50}" srcOrd="0" destOrd="0" presId="urn:microsoft.com/office/officeart/2005/8/layout/pList2"/>
    <dgm:cxn modelId="{E393C5BD-6033-4935-A345-A1F018DE54BA}" type="presOf" srcId="{E620DEA3-17E8-4C51-A08A-CE5184EB7514}" destId="{A01D1873-3299-4444-B3F6-6BC2F57DFC4F}" srcOrd="0" destOrd="0" presId="urn:microsoft.com/office/officeart/2005/8/layout/pList2"/>
    <dgm:cxn modelId="{617745CB-ABE7-42C8-ADBD-E47FB4ED473A}" type="presOf" srcId="{B8B509FF-6F81-4334-A5C6-798BC60BE8E5}" destId="{A805B233-663D-4B57-94F5-3061BFC59B9C}" srcOrd="0" destOrd="0" presId="urn:microsoft.com/office/officeart/2005/8/layout/pList2"/>
    <dgm:cxn modelId="{C169BB7F-C0CF-4B03-AE29-4FAAD22C2880}" type="presParOf" srcId="{6A5B2008-D117-47E7-A0F4-C71F8FBA5ACB}" destId="{1B4DE376-9886-4A17-B3E4-4F815E0918B1}" srcOrd="0" destOrd="0" presId="urn:microsoft.com/office/officeart/2005/8/layout/pList2"/>
    <dgm:cxn modelId="{BC7BFF50-F8FF-44F1-BE52-4BB1EB37DA31}" type="presParOf" srcId="{6A5B2008-D117-47E7-A0F4-C71F8FBA5ACB}" destId="{91EFB2EC-B9F8-4B77-ABF5-18AA2CA2232F}" srcOrd="1" destOrd="0" presId="urn:microsoft.com/office/officeart/2005/8/layout/pList2"/>
    <dgm:cxn modelId="{4FB3C2D9-6EA7-4022-9D17-A0CB1D7F763F}" type="presParOf" srcId="{91EFB2EC-B9F8-4B77-ABF5-18AA2CA2232F}" destId="{F68B004E-4ECB-4781-8D8E-7EBD97742B9F}" srcOrd="0" destOrd="0" presId="urn:microsoft.com/office/officeart/2005/8/layout/pList2"/>
    <dgm:cxn modelId="{4BAC398D-C3B2-4C9A-9B5C-9EE04399F818}" type="presParOf" srcId="{F68B004E-4ECB-4781-8D8E-7EBD97742B9F}" destId="{A805B233-663D-4B57-94F5-3061BFC59B9C}" srcOrd="0" destOrd="0" presId="urn:microsoft.com/office/officeart/2005/8/layout/pList2"/>
    <dgm:cxn modelId="{7DDD0C34-1911-4100-9EAA-638E28793232}" type="presParOf" srcId="{F68B004E-4ECB-4781-8D8E-7EBD97742B9F}" destId="{E1F51019-B16F-4534-9E9F-0A306B339E5D}" srcOrd="1" destOrd="0" presId="urn:microsoft.com/office/officeart/2005/8/layout/pList2"/>
    <dgm:cxn modelId="{3933C8D1-62D6-4E7E-8430-1404E04EF511}" type="presParOf" srcId="{F68B004E-4ECB-4781-8D8E-7EBD97742B9F}" destId="{4B54B99A-CD98-45DB-B4E3-03B5E7F038D7}" srcOrd="2" destOrd="0" presId="urn:microsoft.com/office/officeart/2005/8/layout/pList2"/>
    <dgm:cxn modelId="{877CAC7D-AD12-4F9E-9688-E3E9E9D47B42}" type="presParOf" srcId="{91EFB2EC-B9F8-4B77-ABF5-18AA2CA2232F}" destId="{8725ADD5-0086-4C5C-8D96-D2AC434CBD50}" srcOrd="1" destOrd="0" presId="urn:microsoft.com/office/officeart/2005/8/layout/pList2"/>
    <dgm:cxn modelId="{97EF99C2-D9F0-4884-BE11-26B86F4BCE2D}" type="presParOf" srcId="{91EFB2EC-B9F8-4B77-ABF5-18AA2CA2232F}" destId="{BA02D325-8D2F-4F35-8658-D0E9B578EEEA}" srcOrd="2" destOrd="0" presId="urn:microsoft.com/office/officeart/2005/8/layout/pList2"/>
    <dgm:cxn modelId="{64B4B625-4DB4-4818-AE79-FED05E8D1EA6}" type="presParOf" srcId="{BA02D325-8D2F-4F35-8658-D0E9B578EEEA}" destId="{A01D1873-3299-4444-B3F6-6BC2F57DFC4F}" srcOrd="0" destOrd="0" presId="urn:microsoft.com/office/officeart/2005/8/layout/pList2"/>
    <dgm:cxn modelId="{989F8A78-7E89-44CD-8344-E03DC97DC7D6}" type="presParOf" srcId="{BA02D325-8D2F-4F35-8658-D0E9B578EEEA}" destId="{AC071A46-5D92-4DF0-AD08-3C472D2FBC9C}" srcOrd="1" destOrd="0" presId="urn:microsoft.com/office/officeart/2005/8/layout/pList2"/>
    <dgm:cxn modelId="{852A70DA-653F-49DC-BC39-DE77856321F4}" type="presParOf" srcId="{BA02D325-8D2F-4F35-8658-D0E9B578EEEA}" destId="{742D0879-414C-4A72-BB0D-C22A8C2B5F1D}"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BAC52C-8F3D-47D5-AA25-E90B33F262F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CN" altLang="en-US"/>
        </a:p>
      </dgm:t>
    </dgm:pt>
    <dgm:pt modelId="{9A64FC13-6260-4BCB-98C3-3F9B7ED3495E}">
      <dgm:prSet phldrT="[文本]" custT="1"/>
      <dgm:spPr/>
      <dgm:t>
        <a:bodyPr/>
        <a:lstStyle/>
        <a:p>
          <a:endParaRPr lang="en-US" altLang="zh-CN" sz="1800" b="1" i="0" dirty="0"/>
        </a:p>
        <a:p>
          <a:r>
            <a:rPr lang="zh-CN" altLang="en-US" sz="1800" b="1" i="0" dirty="0"/>
            <a:t>业务架构层</a:t>
          </a:r>
          <a:endParaRPr lang="zh-CN" altLang="en-US" sz="1800" dirty="0"/>
        </a:p>
      </dgm:t>
    </dgm:pt>
    <dgm:pt modelId="{DE840DF5-AFE9-46DB-9F69-1ED7E98A1C99}" type="parTrans" cxnId="{CC251A98-D5AD-473E-964F-18086AA71EE7}">
      <dgm:prSet/>
      <dgm:spPr/>
      <dgm:t>
        <a:bodyPr/>
        <a:lstStyle/>
        <a:p>
          <a:endParaRPr lang="zh-CN" altLang="en-US"/>
        </a:p>
      </dgm:t>
    </dgm:pt>
    <dgm:pt modelId="{93A44921-4C53-4026-8D0D-C3740D4543F1}" type="sibTrans" cxnId="{CC251A98-D5AD-473E-964F-18086AA71EE7}">
      <dgm:prSet/>
      <dgm:spPr/>
      <dgm:t>
        <a:bodyPr/>
        <a:lstStyle/>
        <a:p>
          <a:endParaRPr lang="zh-CN" altLang="en-US"/>
        </a:p>
      </dgm:t>
    </dgm:pt>
    <dgm:pt modelId="{FD2D61BD-D686-4D45-A677-B1444DE98BAB}">
      <dgm:prSet phldrT="[文本]"/>
      <dgm:spPr/>
      <dgm:t>
        <a:bodyPr/>
        <a:lstStyle/>
        <a:p>
          <a:r>
            <a:rPr lang="zh-CN" altLang="en-US" b="0" i="0" dirty="0"/>
            <a:t>如何抽离多业务线共享的能力，以避免重复投资？</a:t>
          </a:r>
          <a:endParaRPr lang="zh-CN" altLang="en-US" dirty="0"/>
        </a:p>
      </dgm:t>
    </dgm:pt>
    <dgm:pt modelId="{3C8B48D9-C123-4AA3-81BE-6179C39A3465}" type="parTrans" cxnId="{09452DFE-D0AF-4A85-A9E3-5D5730F5ADD8}">
      <dgm:prSet/>
      <dgm:spPr/>
      <dgm:t>
        <a:bodyPr/>
        <a:lstStyle/>
        <a:p>
          <a:endParaRPr lang="zh-CN" altLang="en-US"/>
        </a:p>
      </dgm:t>
    </dgm:pt>
    <dgm:pt modelId="{1BD6B2B7-6891-4515-B22E-372A684EEEBF}" type="sibTrans" cxnId="{09452DFE-D0AF-4A85-A9E3-5D5730F5ADD8}">
      <dgm:prSet/>
      <dgm:spPr/>
      <dgm:t>
        <a:bodyPr/>
        <a:lstStyle/>
        <a:p>
          <a:endParaRPr lang="zh-CN" altLang="en-US"/>
        </a:p>
      </dgm:t>
    </dgm:pt>
    <dgm:pt modelId="{42BAAAAF-B523-4FB7-927F-7B51EDD54476}">
      <dgm:prSet phldrT="[文本]"/>
      <dgm:spPr/>
      <dgm:t>
        <a:bodyPr/>
        <a:lstStyle/>
        <a:p>
          <a:r>
            <a:rPr lang="zh-CN" altLang="en-US" b="0" i="0" dirty="0"/>
            <a:t>新业务如何基于企业能力快速组装上线，以支撑业务快速迭代创新？</a:t>
          </a:r>
          <a:endParaRPr lang="zh-CN" altLang="en-US" dirty="0"/>
        </a:p>
      </dgm:t>
    </dgm:pt>
    <dgm:pt modelId="{134E6931-D51F-474B-931A-F8002B907FFC}" type="parTrans" cxnId="{645E5DB3-60E9-4B68-BB2E-BC0254C79D0F}">
      <dgm:prSet/>
      <dgm:spPr/>
      <dgm:t>
        <a:bodyPr/>
        <a:lstStyle/>
        <a:p>
          <a:endParaRPr lang="zh-CN" altLang="en-US"/>
        </a:p>
      </dgm:t>
    </dgm:pt>
    <dgm:pt modelId="{6DEC8C2F-3373-4535-BFB9-FE458EB61E37}" type="sibTrans" cxnId="{645E5DB3-60E9-4B68-BB2E-BC0254C79D0F}">
      <dgm:prSet/>
      <dgm:spPr/>
      <dgm:t>
        <a:bodyPr/>
        <a:lstStyle/>
        <a:p>
          <a:endParaRPr lang="zh-CN" altLang="en-US"/>
        </a:p>
      </dgm:t>
    </dgm:pt>
    <dgm:pt modelId="{B8D1266B-8CE8-464A-A4A5-F1E2E79A7E6A}">
      <dgm:prSet phldrT="[文本]" custT="1"/>
      <dgm:spPr/>
      <dgm:t>
        <a:bodyPr/>
        <a:lstStyle/>
        <a:p>
          <a:endParaRPr lang="en-US" altLang="zh-CN" sz="1800" b="1" i="0" dirty="0"/>
        </a:p>
        <a:p>
          <a:r>
            <a:rPr lang="zh-CN" altLang="en-US" sz="1800" b="1" i="0" dirty="0"/>
            <a:t>应用架构层</a:t>
          </a:r>
          <a:endParaRPr lang="zh-CN" altLang="en-US" sz="1800" dirty="0"/>
        </a:p>
      </dgm:t>
    </dgm:pt>
    <dgm:pt modelId="{12F4AA23-3E86-4B63-A5D9-EB5DB3E63260}" type="parTrans" cxnId="{967F6E40-0EEE-486C-9CCF-D5EEA86EACD0}">
      <dgm:prSet/>
      <dgm:spPr/>
      <dgm:t>
        <a:bodyPr/>
        <a:lstStyle/>
        <a:p>
          <a:endParaRPr lang="zh-CN" altLang="en-US"/>
        </a:p>
      </dgm:t>
    </dgm:pt>
    <dgm:pt modelId="{B08F8298-F124-4E76-9D50-899EC5E12610}" type="sibTrans" cxnId="{967F6E40-0EEE-486C-9CCF-D5EEA86EACD0}">
      <dgm:prSet/>
      <dgm:spPr/>
      <dgm:t>
        <a:bodyPr/>
        <a:lstStyle/>
        <a:p>
          <a:endParaRPr lang="zh-CN" altLang="en-US"/>
        </a:p>
      </dgm:t>
    </dgm:pt>
    <dgm:pt modelId="{CFB05A75-1A0D-48F3-8608-14DF36AA073E}">
      <dgm:prSet phldrT="[文本]"/>
      <dgm:spPr/>
      <dgm:t>
        <a:bodyPr/>
        <a:lstStyle/>
        <a:p>
          <a:r>
            <a:rPr lang="zh-CN" altLang="en-US" b="0" i="0" dirty="0"/>
            <a:t>在宏观规划层面，如何有效的划分和组织能力，如何划分</a:t>
          </a:r>
          <a:r>
            <a:rPr lang="en-US" altLang="zh-CN" b="0" i="0" dirty="0"/>
            <a:t>IT </a:t>
          </a:r>
          <a:r>
            <a:rPr lang="zh-CN" altLang="en-US" b="0" i="0" dirty="0"/>
            <a:t>系统的物理边界</a:t>
          </a:r>
          <a:r>
            <a:rPr lang="en-US" altLang="zh-CN" b="0" i="0" dirty="0"/>
            <a:t>,</a:t>
          </a:r>
          <a:r>
            <a:rPr lang="zh-CN" altLang="en-US" b="0" i="0" dirty="0"/>
            <a:t>以合理的布局更好地应对变化</a:t>
          </a:r>
          <a:endParaRPr lang="zh-CN" altLang="en-US" dirty="0"/>
        </a:p>
      </dgm:t>
    </dgm:pt>
    <dgm:pt modelId="{2223A313-5C7D-4407-8690-66216E974DDC}" type="parTrans" cxnId="{D0828CD3-FB14-497C-9557-B5147D5EDC51}">
      <dgm:prSet/>
      <dgm:spPr/>
      <dgm:t>
        <a:bodyPr/>
        <a:lstStyle/>
        <a:p>
          <a:endParaRPr lang="zh-CN" altLang="en-US"/>
        </a:p>
      </dgm:t>
    </dgm:pt>
    <dgm:pt modelId="{F23AB288-5137-4A3F-ABB2-10A84D531B64}" type="sibTrans" cxnId="{D0828CD3-FB14-497C-9557-B5147D5EDC51}">
      <dgm:prSet/>
      <dgm:spPr/>
      <dgm:t>
        <a:bodyPr/>
        <a:lstStyle/>
        <a:p>
          <a:endParaRPr lang="zh-CN" altLang="en-US"/>
        </a:p>
      </dgm:t>
    </dgm:pt>
    <dgm:pt modelId="{1B4063E9-E6A8-4E54-8EF6-950DA60657B8}">
      <dgm:prSet phldrT="[文本]"/>
      <dgm:spPr/>
      <dgm:t>
        <a:bodyPr/>
        <a:lstStyle/>
        <a:p>
          <a:r>
            <a:rPr lang="zh-CN" altLang="en-US" b="0" i="0" dirty="0"/>
            <a:t>在局部设计层面，如何在最大化复用效果的同时，保障对差异化需求的响应力？</a:t>
          </a:r>
          <a:endParaRPr lang="zh-CN" altLang="en-US" dirty="0"/>
        </a:p>
      </dgm:t>
    </dgm:pt>
    <dgm:pt modelId="{FFA42026-4708-4708-B0B7-43C0A6C939C7}" type="parTrans" cxnId="{DDBA8A9A-B324-415F-80E7-F90D7EFCDBAB}">
      <dgm:prSet/>
      <dgm:spPr/>
      <dgm:t>
        <a:bodyPr/>
        <a:lstStyle/>
        <a:p>
          <a:endParaRPr lang="zh-CN" altLang="en-US"/>
        </a:p>
      </dgm:t>
    </dgm:pt>
    <dgm:pt modelId="{294F7C91-7E6F-4080-BC0F-834B26A6A67B}" type="sibTrans" cxnId="{DDBA8A9A-B324-415F-80E7-F90D7EFCDBAB}">
      <dgm:prSet/>
      <dgm:spPr/>
      <dgm:t>
        <a:bodyPr/>
        <a:lstStyle/>
        <a:p>
          <a:endParaRPr lang="zh-CN" altLang="en-US"/>
        </a:p>
      </dgm:t>
    </dgm:pt>
    <dgm:pt modelId="{2F795C37-DC5E-4C19-ABD4-068C52A97AB9}">
      <dgm:prSet phldrT="[文本]" custT="1"/>
      <dgm:spPr/>
      <dgm:t>
        <a:bodyPr/>
        <a:lstStyle/>
        <a:p>
          <a:endParaRPr lang="en-US" altLang="zh-CN" sz="1800" b="1" i="0" dirty="0"/>
        </a:p>
        <a:p>
          <a:r>
            <a:rPr lang="zh-CN" altLang="en-US" sz="1800" b="1" i="0" dirty="0"/>
            <a:t>数据架构层</a:t>
          </a:r>
          <a:endParaRPr lang="zh-CN" altLang="en-US" sz="1800" dirty="0"/>
        </a:p>
      </dgm:t>
    </dgm:pt>
    <dgm:pt modelId="{C4549342-9FCE-495E-912B-794287A88BED}" type="parTrans" cxnId="{47CEA2F5-8C2D-4040-AD88-89A494ACFADC}">
      <dgm:prSet/>
      <dgm:spPr/>
      <dgm:t>
        <a:bodyPr/>
        <a:lstStyle/>
        <a:p>
          <a:endParaRPr lang="zh-CN" altLang="en-US"/>
        </a:p>
      </dgm:t>
    </dgm:pt>
    <dgm:pt modelId="{E056CA7B-9868-4E47-810B-8376EB8607CF}" type="sibTrans" cxnId="{47CEA2F5-8C2D-4040-AD88-89A494ACFADC}">
      <dgm:prSet/>
      <dgm:spPr/>
      <dgm:t>
        <a:bodyPr/>
        <a:lstStyle/>
        <a:p>
          <a:endParaRPr lang="zh-CN" altLang="en-US"/>
        </a:p>
      </dgm:t>
    </dgm:pt>
    <dgm:pt modelId="{FC633731-7DF4-4043-9EA9-091A1174E1A8}">
      <dgm:prSet phldrT="[文本]"/>
      <dgm:spPr/>
      <dgm:t>
        <a:bodyPr/>
        <a:lstStyle/>
        <a:p>
          <a:r>
            <a:rPr lang="zh-CN" altLang="en-US" b="0" i="0" dirty="0"/>
            <a:t>如何适当拆分过于集中的分析类数据处理职责，缓解规模化瓶颈</a:t>
          </a:r>
          <a:endParaRPr lang="zh-CN" altLang="en-US" dirty="0"/>
        </a:p>
      </dgm:t>
    </dgm:pt>
    <dgm:pt modelId="{627BC706-E17B-4FF1-9C69-9AE9826C3152}" type="parTrans" cxnId="{AE167EC0-5F8B-48A1-A067-A25BC8765CE0}">
      <dgm:prSet/>
      <dgm:spPr/>
      <dgm:t>
        <a:bodyPr/>
        <a:lstStyle/>
        <a:p>
          <a:endParaRPr lang="zh-CN" altLang="en-US"/>
        </a:p>
      </dgm:t>
    </dgm:pt>
    <dgm:pt modelId="{6318D967-DB5E-48B5-8FA5-86D9579146DB}" type="sibTrans" cxnId="{AE167EC0-5F8B-48A1-A067-A25BC8765CE0}">
      <dgm:prSet/>
      <dgm:spPr/>
      <dgm:t>
        <a:bodyPr/>
        <a:lstStyle/>
        <a:p>
          <a:endParaRPr lang="zh-CN" altLang="en-US"/>
        </a:p>
      </dgm:t>
    </dgm:pt>
    <dgm:pt modelId="{70A5F9D8-7DFE-4C70-BBD7-235D1667F6FB}">
      <dgm:prSet phldrT="[文本]" custT="1"/>
      <dgm:spPr/>
      <dgm:t>
        <a:bodyPr/>
        <a:lstStyle/>
        <a:p>
          <a:endParaRPr lang="en-US" altLang="zh-CN" sz="1800" b="1" i="0" dirty="0"/>
        </a:p>
        <a:p>
          <a:r>
            <a:rPr lang="zh-CN" altLang="en-US" sz="1800" b="1" i="0" dirty="0"/>
            <a:t>技术架构层</a:t>
          </a:r>
          <a:endParaRPr lang="zh-CN" altLang="en-US" sz="1800" dirty="0"/>
        </a:p>
      </dgm:t>
    </dgm:pt>
    <dgm:pt modelId="{27A0A058-3F22-4181-A9D7-693E7DEB2E1F}" type="parTrans" cxnId="{DA39E3FF-CD57-4EA3-BE44-00536C5824F1}">
      <dgm:prSet/>
      <dgm:spPr/>
      <dgm:t>
        <a:bodyPr/>
        <a:lstStyle/>
        <a:p>
          <a:endParaRPr lang="zh-CN" altLang="en-US"/>
        </a:p>
      </dgm:t>
    </dgm:pt>
    <dgm:pt modelId="{08AA9BB2-F61B-4B46-8FC6-A9B1F7C541AE}" type="sibTrans" cxnId="{DA39E3FF-CD57-4EA3-BE44-00536C5824F1}">
      <dgm:prSet/>
      <dgm:spPr/>
      <dgm:t>
        <a:bodyPr/>
        <a:lstStyle/>
        <a:p>
          <a:endParaRPr lang="zh-CN" altLang="en-US"/>
        </a:p>
      </dgm:t>
    </dgm:pt>
    <dgm:pt modelId="{4DCDE936-5216-421A-BFBF-DED8F904EA4C}">
      <dgm:prSet/>
      <dgm:spPr/>
      <dgm:t>
        <a:bodyPr/>
        <a:lstStyle/>
        <a:p>
          <a:r>
            <a:rPr lang="zh-CN" altLang="en-US" b="0" i="0"/>
            <a:t>如何在富技术时代进行平台型技术架构设计</a:t>
          </a:r>
          <a:endParaRPr lang="zh-CN" altLang="en-US"/>
        </a:p>
      </dgm:t>
    </dgm:pt>
    <dgm:pt modelId="{093C4FA1-1F18-4976-971F-0A9C277CF1A4}" type="parTrans" cxnId="{366A1F39-2840-4339-B0CF-AF3425080D18}">
      <dgm:prSet/>
      <dgm:spPr/>
      <dgm:t>
        <a:bodyPr/>
        <a:lstStyle/>
        <a:p>
          <a:endParaRPr lang="zh-CN" altLang="en-US"/>
        </a:p>
      </dgm:t>
    </dgm:pt>
    <dgm:pt modelId="{14391AF9-F37B-4906-A25A-4D6F9DF3A291}" type="sibTrans" cxnId="{366A1F39-2840-4339-B0CF-AF3425080D18}">
      <dgm:prSet/>
      <dgm:spPr/>
      <dgm:t>
        <a:bodyPr/>
        <a:lstStyle/>
        <a:p>
          <a:endParaRPr lang="zh-CN" altLang="en-US"/>
        </a:p>
      </dgm:t>
    </dgm:pt>
    <dgm:pt modelId="{FE4DDA8A-C4EC-492A-8DD1-E03EAF4AEC20}" type="pres">
      <dgm:prSet presAssocID="{3FBAC52C-8F3D-47D5-AA25-E90B33F262FA}" presName="linearFlow" presStyleCnt="0">
        <dgm:presLayoutVars>
          <dgm:dir/>
          <dgm:animLvl val="lvl"/>
          <dgm:resizeHandles val="exact"/>
        </dgm:presLayoutVars>
      </dgm:prSet>
      <dgm:spPr/>
    </dgm:pt>
    <dgm:pt modelId="{7AC67652-F818-47DA-B4E5-CB365E864CF9}" type="pres">
      <dgm:prSet presAssocID="{9A64FC13-6260-4BCB-98C3-3F9B7ED3495E}" presName="composite" presStyleCnt="0"/>
      <dgm:spPr/>
    </dgm:pt>
    <dgm:pt modelId="{07737BE6-3A46-4659-BEE5-75A7E158958D}" type="pres">
      <dgm:prSet presAssocID="{9A64FC13-6260-4BCB-98C3-3F9B7ED3495E}" presName="parentText" presStyleLbl="alignNode1" presStyleIdx="0" presStyleCnt="4">
        <dgm:presLayoutVars>
          <dgm:chMax val="1"/>
          <dgm:bulletEnabled val="1"/>
        </dgm:presLayoutVars>
      </dgm:prSet>
      <dgm:spPr/>
    </dgm:pt>
    <dgm:pt modelId="{457EFFAA-A4C4-441C-B867-F419F4C94200}" type="pres">
      <dgm:prSet presAssocID="{9A64FC13-6260-4BCB-98C3-3F9B7ED3495E}" presName="descendantText" presStyleLbl="alignAcc1" presStyleIdx="0" presStyleCnt="4">
        <dgm:presLayoutVars>
          <dgm:bulletEnabled val="1"/>
        </dgm:presLayoutVars>
      </dgm:prSet>
      <dgm:spPr/>
    </dgm:pt>
    <dgm:pt modelId="{C5F108D9-C0BD-42E0-B903-4218F0F50E9D}" type="pres">
      <dgm:prSet presAssocID="{93A44921-4C53-4026-8D0D-C3740D4543F1}" presName="sp" presStyleCnt="0"/>
      <dgm:spPr/>
    </dgm:pt>
    <dgm:pt modelId="{A1DC67CC-2EBD-4654-A8BF-16C3F1FE1F5A}" type="pres">
      <dgm:prSet presAssocID="{B8D1266B-8CE8-464A-A4A5-F1E2E79A7E6A}" presName="composite" presStyleCnt="0"/>
      <dgm:spPr/>
    </dgm:pt>
    <dgm:pt modelId="{4028BBE1-F7D6-4B78-AEE1-5F1ECDA7A3B1}" type="pres">
      <dgm:prSet presAssocID="{B8D1266B-8CE8-464A-A4A5-F1E2E79A7E6A}" presName="parentText" presStyleLbl="alignNode1" presStyleIdx="1" presStyleCnt="4">
        <dgm:presLayoutVars>
          <dgm:chMax val="1"/>
          <dgm:bulletEnabled val="1"/>
        </dgm:presLayoutVars>
      </dgm:prSet>
      <dgm:spPr/>
    </dgm:pt>
    <dgm:pt modelId="{7F160D38-198F-46D0-BC39-665FE8A3925C}" type="pres">
      <dgm:prSet presAssocID="{B8D1266B-8CE8-464A-A4A5-F1E2E79A7E6A}" presName="descendantText" presStyleLbl="alignAcc1" presStyleIdx="1" presStyleCnt="4">
        <dgm:presLayoutVars>
          <dgm:bulletEnabled val="1"/>
        </dgm:presLayoutVars>
      </dgm:prSet>
      <dgm:spPr/>
    </dgm:pt>
    <dgm:pt modelId="{71BE1BE3-C78D-4A5C-A91D-0DE59F4CEDBB}" type="pres">
      <dgm:prSet presAssocID="{B08F8298-F124-4E76-9D50-899EC5E12610}" presName="sp" presStyleCnt="0"/>
      <dgm:spPr/>
    </dgm:pt>
    <dgm:pt modelId="{0E770C83-732F-454C-A42C-5D6B8ACF51B3}" type="pres">
      <dgm:prSet presAssocID="{2F795C37-DC5E-4C19-ABD4-068C52A97AB9}" presName="composite" presStyleCnt="0"/>
      <dgm:spPr/>
    </dgm:pt>
    <dgm:pt modelId="{6E9E659C-D216-4738-8FEA-778527CB338D}" type="pres">
      <dgm:prSet presAssocID="{2F795C37-DC5E-4C19-ABD4-068C52A97AB9}" presName="parentText" presStyleLbl="alignNode1" presStyleIdx="2" presStyleCnt="4">
        <dgm:presLayoutVars>
          <dgm:chMax val="1"/>
          <dgm:bulletEnabled val="1"/>
        </dgm:presLayoutVars>
      </dgm:prSet>
      <dgm:spPr/>
    </dgm:pt>
    <dgm:pt modelId="{1BAE54CF-F6A3-4A76-858E-6DFD07AC6E98}" type="pres">
      <dgm:prSet presAssocID="{2F795C37-DC5E-4C19-ABD4-068C52A97AB9}" presName="descendantText" presStyleLbl="alignAcc1" presStyleIdx="2" presStyleCnt="4">
        <dgm:presLayoutVars>
          <dgm:bulletEnabled val="1"/>
        </dgm:presLayoutVars>
      </dgm:prSet>
      <dgm:spPr/>
    </dgm:pt>
    <dgm:pt modelId="{87518BAA-F821-42D3-B443-45245A9D85BC}" type="pres">
      <dgm:prSet presAssocID="{E056CA7B-9868-4E47-810B-8376EB8607CF}" presName="sp" presStyleCnt="0"/>
      <dgm:spPr/>
    </dgm:pt>
    <dgm:pt modelId="{69D873AC-3EBF-4FB2-BE72-EAEC74E39E10}" type="pres">
      <dgm:prSet presAssocID="{70A5F9D8-7DFE-4C70-BBD7-235D1667F6FB}" presName="composite" presStyleCnt="0"/>
      <dgm:spPr/>
    </dgm:pt>
    <dgm:pt modelId="{2D46347E-B367-4892-9A0C-05754BA944C6}" type="pres">
      <dgm:prSet presAssocID="{70A5F9D8-7DFE-4C70-BBD7-235D1667F6FB}" presName="parentText" presStyleLbl="alignNode1" presStyleIdx="3" presStyleCnt="4">
        <dgm:presLayoutVars>
          <dgm:chMax val="1"/>
          <dgm:bulletEnabled val="1"/>
        </dgm:presLayoutVars>
      </dgm:prSet>
      <dgm:spPr/>
    </dgm:pt>
    <dgm:pt modelId="{FE567B64-DE00-4AD8-A90F-696150E00EBF}" type="pres">
      <dgm:prSet presAssocID="{70A5F9D8-7DFE-4C70-BBD7-235D1667F6FB}" presName="descendantText" presStyleLbl="alignAcc1" presStyleIdx="3" presStyleCnt="4">
        <dgm:presLayoutVars>
          <dgm:bulletEnabled val="1"/>
        </dgm:presLayoutVars>
      </dgm:prSet>
      <dgm:spPr/>
    </dgm:pt>
  </dgm:ptLst>
  <dgm:cxnLst>
    <dgm:cxn modelId="{B9910C10-13F6-42F0-9A00-2F2B3F88EC7C}" type="presOf" srcId="{42BAAAAF-B523-4FB7-927F-7B51EDD54476}" destId="{457EFFAA-A4C4-441C-B867-F419F4C94200}" srcOrd="0" destOrd="1" presId="urn:microsoft.com/office/officeart/2005/8/layout/chevron2"/>
    <dgm:cxn modelId="{366A1F39-2840-4339-B0CF-AF3425080D18}" srcId="{70A5F9D8-7DFE-4C70-BBD7-235D1667F6FB}" destId="{4DCDE936-5216-421A-BFBF-DED8F904EA4C}" srcOrd="0" destOrd="0" parTransId="{093C4FA1-1F18-4976-971F-0A9C277CF1A4}" sibTransId="{14391AF9-F37B-4906-A25A-4D6F9DF3A291}"/>
    <dgm:cxn modelId="{DB324939-D22D-4324-8431-899A05409A73}" type="presOf" srcId="{70A5F9D8-7DFE-4C70-BBD7-235D1667F6FB}" destId="{2D46347E-B367-4892-9A0C-05754BA944C6}" srcOrd="0" destOrd="0" presId="urn:microsoft.com/office/officeart/2005/8/layout/chevron2"/>
    <dgm:cxn modelId="{967F6E40-0EEE-486C-9CCF-D5EEA86EACD0}" srcId="{3FBAC52C-8F3D-47D5-AA25-E90B33F262FA}" destId="{B8D1266B-8CE8-464A-A4A5-F1E2E79A7E6A}" srcOrd="1" destOrd="0" parTransId="{12F4AA23-3E86-4B63-A5D9-EB5DB3E63260}" sibTransId="{B08F8298-F124-4E76-9D50-899EC5E12610}"/>
    <dgm:cxn modelId="{EBB37266-B221-4D0E-8494-EF8E371DF83E}" type="presOf" srcId="{B8D1266B-8CE8-464A-A4A5-F1E2E79A7E6A}" destId="{4028BBE1-F7D6-4B78-AEE1-5F1ECDA7A3B1}" srcOrd="0" destOrd="0" presId="urn:microsoft.com/office/officeart/2005/8/layout/chevron2"/>
    <dgm:cxn modelId="{1E46164E-6F4E-484D-8D1D-536A3D921392}" type="presOf" srcId="{FD2D61BD-D686-4D45-A677-B1444DE98BAB}" destId="{457EFFAA-A4C4-441C-B867-F419F4C94200}" srcOrd="0" destOrd="0" presId="urn:microsoft.com/office/officeart/2005/8/layout/chevron2"/>
    <dgm:cxn modelId="{571E9D73-B441-4444-9D49-DAD7E587C0F9}" type="presOf" srcId="{4DCDE936-5216-421A-BFBF-DED8F904EA4C}" destId="{FE567B64-DE00-4AD8-A90F-696150E00EBF}" srcOrd="0" destOrd="0" presId="urn:microsoft.com/office/officeart/2005/8/layout/chevron2"/>
    <dgm:cxn modelId="{D9276057-CA12-4D7F-B202-6ECC4CB5B86D}" type="presOf" srcId="{FC633731-7DF4-4043-9EA9-091A1174E1A8}" destId="{1BAE54CF-F6A3-4A76-858E-6DFD07AC6E98}" srcOrd="0" destOrd="0" presId="urn:microsoft.com/office/officeart/2005/8/layout/chevron2"/>
    <dgm:cxn modelId="{092DE17A-E87F-4536-9865-BBEEE20B37B1}" type="presOf" srcId="{3FBAC52C-8F3D-47D5-AA25-E90B33F262FA}" destId="{FE4DDA8A-C4EC-492A-8DD1-E03EAF4AEC20}" srcOrd="0" destOrd="0" presId="urn:microsoft.com/office/officeart/2005/8/layout/chevron2"/>
    <dgm:cxn modelId="{CC251A98-D5AD-473E-964F-18086AA71EE7}" srcId="{3FBAC52C-8F3D-47D5-AA25-E90B33F262FA}" destId="{9A64FC13-6260-4BCB-98C3-3F9B7ED3495E}" srcOrd="0" destOrd="0" parTransId="{DE840DF5-AFE9-46DB-9F69-1ED7E98A1C99}" sibTransId="{93A44921-4C53-4026-8D0D-C3740D4543F1}"/>
    <dgm:cxn modelId="{DDBA8A9A-B324-415F-80E7-F90D7EFCDBAB}" srcId="{B8D1266B-8CE8-464A-A4A5-F1E2E79A7E6A}" destId="{1B4063E9-E6A8-4E54-8EF6-950DA60657B8}" srcOrd="1" destOrd="0" parTransId="{FFA42026-4708-4708-B0B7-43C0A6C939C7}" sibTransId="{294F7C91-7E6F-4080-BC0F-834B26A6A67B}"/>
    <dgm:cxn modelId="{E1C2DB9D-B05A-47F2-8663-1940D7DF21CC}" type="presOf" srcId="{2F795C37-DC5E-4C19-ABD4-068C52A97AB9}" destId="{6E9E659C-D216-4738-8FEA-778527CB338D}" srcOrd="0" destOrd="0" presId="urn:microsoft.com/office/officeart/2005/8/layout/chevron2"/>
    <dgm:cxn modelId="{645E5DB3-60E9-4B68-BB2E-BC0254C79D0F}" srcId="{9A64FC13-6260-4BCB-98C3-3F9B7ED3495E}" destId="{42BAAAAF-B523-4FB7-927F-7B51EDD54476}" srcOrd="1" destOrd="0" parTransId="{134E6931-D51F-474B-931A-F8002B907FFC}" sibTransId="{6DEC8C2F-3373-4535-BFB9-FE458EB61E37}"/>
    <dgm:cxn modelId="{AE167EC0-5F8B-48A1-A067-A25BC8765CE0}" srcId="{2F795C37-DC5E-4C19-ABD4-068C52A97AB9}" destId="{FC633731-7DF4-4043-9EA9-091A1174E1A8}" srcOrd="0" destOrd="0" parTransId="{627BC706-E17B-4FF1-9C69-9AE9826C3152}" sibTransId="{6318D967-DB5E-48B5-8FA5-86D9579146DB}"/>
    <dgm:cxn modelId="{D0828CD3-FB14-497C-9557-B5147D5EDC51}" srcId="{B8D1266B-8CE8-464A-A4A5-F1E2E79A7E6A}" destId="{CFB05A75-1A0D-48F3-8608-14DF36AA073E}" srcOrd="0" destOrd="0" parTransId="{2223A313-5C7D-4407-8690-66216E974DDC}" sibTransId="{F23AB288-5137-4A3F-ABB2-10A84D531B64}"/>
    <dgm:cxn modelId="{045CD9E6-7A72-4CD2-91CC-57F395E57681}" type="presOf" srcId="{CFB05A75-1A0D-48F3-8608-14DF36AA073E}" destId="{7F160D38-198F-46D0-BC39-665FE8A3925C}" srcOrd="0" destOrd="0" presId="urn:microsoft.com/office/officeart/2005/8/layout/chevron2"/>
    <dgm:cxn modelId="{A9C688EC-9373-4926-B966-8C759CCE7FA1}" type="presOf" srcId="{1B4063E9-E6A8-4E54-8EF6-950DA60657B8}" destId="{7F160D38-198F-46D0-BC39-665FE8A3925C}" srcOrd="0" destOrd="1" presId="urn:microsoft.com/office/officeart/2005/8/layout/chevron2"/>
    <dgm:cxn modelId="{5128BDF2-58AA-43FA-9629-B1D45024125D}" type="presOf" srcId="{9A64FC13-6260-4BCB-98C3-3F9B7ED3495E}" destId="{07737BE6-3A46-4659-BEE5-75A7E158958D}" srcOrd="0" destOrd="0" presId="urn:microsoft.com/office/officeart/2005/8/layout/chevron2"/>
    <dgm:cxn modelId="{47CEA2F5-8C2D-4040-AD88-89A494ACFADC}" srcId="{3FBAC52C-8F3D-47D5-AA25-E90B33F262FA}" destId="{2F795C37-DC5E-4C19-ABD4-068C52A97AB9}" srcOrd="2" destOrd="0" parTransId="{C4549342-9FCE-495E-912B-794287A88BED}" sibTransId="{E056CA7B-9868-4E47-810B-8376EB8607CF}"/>
    <dgm:cxn modelId="{09452DFE-D0AF-4A85-A9E3-5D5730F5ADD8}" srcId="{9A64FC13-6260-4BCB-98C3-3F9B7ED3495E}" destId="{FD2D61BD-D686-4D45-A677-B1444DE98BAB}" srcOrd="0" destOrd="0" parTransId="{3C8B48D9-C123-4AA3-81BE-6179C39A3465}" sibTransId="{1BD6B2B7-6891-4515-B22E-372A684EEEBF}"/>
    <dgm:cxn modelId="{DA39E3FF-CD57-4EA3-BE44-00536C5824F1}" srcId="{3FBAC52C-8F3D-47D5-AA25-E90B33F262FA}" destId="{70A5F9D8-7DFE-4C70-BBD7-235D1667F6FB}" srcOrd="3" destOrd="0" parTransId="{27A0A058-3F22-4181-A9D7-693E7DEB2E1F}" sibTransId="{08AA9BB2-F61B-4B46-8FC6-A9B1F7C541AE}"/>
    <dgm:cxn modelId="{BF8DE5F3-CFB1-4215-9E68-23FC5915CA6C}" type="presParOf" srcId="{FE4DDA8A-C4EC-492A-8DD1-E03EAF4AEC20}" destId="{7AC67652-F818-47DA-B4E5-CB365E864CF9}" srcOrd="0" destOrd="0" presId="urn:microsoft.com/office/officeart/2005/8/layout/chevron2"/>
    <dgm:cxn modelId="{9D00E705-D3C5-451A-A1BC-BCCF1E2A0B81}" type="presParOf" srcId="{7AC67652-F818-47DA-B4E5-CB365E864CF9}" destId="{07737BE6-3A46-4659-BEE5-75A7E158958D}" srcOrd="0" destOrd="0" presId="urn:microsoft.com/office/officeart/2005/8/layout/chevron2"/>
    <dgm:cxn modelId="{E8510F42-B165-48CA-B895-3387EEA6D1FB}" type="presParOf" srcId="{7AC67652-F818-47DA-B4E5-CB365E864CF9}" destId="{457EFFAA-A4C4-441C-B867-F419F4C94200}" srcOrd="1" destOrd="0" presId="urn:microsoft.com/office/officeart/2005/8/layout/chevron2"/>
    <dgm:cxn modelId="{9D57C88A-92D7-4E48-9549-C78E2C8907A1}" type="presParOf" srcId="{FE4DDA8A-C4EC-492A-8DD1-E03EAF4AEC20}" destId="{C5F108D9-C0BD-42E0-B903-4218F0F50E9D}" srcOrd="1" destOrd="0" presId="urn:microsoft.com/office/officeart/2005/8/layout/chevron2"/>
    <dgm:cxn modelId="{52C98A5A-30F4-40FA-AB61-954311DC3056}" type="presParOf" srcId="{FE4DDA8A-C4EC-492A-8DD1-E03EAF4AEC20}" destId="{A1DC67CC-2EBD-4654-A8BF-16C3F1FE1F5A}" srcOrd="2" destOrd="0" presId="urn:microsoft.com/office/officeart/2005/8/layout/chevron2"/>
    <dgm:cxn modelId="{7CC8E574-243A-4E63-9A93-376454884270}" type="presParOf" srcId="{A1DC67CC-2EBD-4654-A8BF-16C3F1FE1F5A}" destId="{4028BBE1-F7D6-4B78-AEE1-5F1ECDA7A3B1}" srcOrd="0" destOrd="0" presId="urn:microsoft.com/office/officeart/2005/8/layout/chevron2"/>
    <dgm:cxn modelId="{ABEC03B0-6795-408E-B0CD-417088BAF075}" type="presParOf" srcId="{A1DC67CC-2EBD-4654-A8BF-16C3F1FE1F5A}" destId="{7F160D38-198F-46D0-BC39-665FE8A3925C}" srcOrd="1" destOrd="0" presId="urn:microsoft.com/office/officeart/2005/8/layout/chevron2"/>
    <dgm:cxn modelId="{4EAE2522-73C9-42E0-B7B5-06516D6585BA}" type="presParOf" srcId="{FE4DDA8A-C4EC-492A-8DD1-E03EAF4AEC20}" destId="{71BE1BE3-C78D-4A5C-A91D-0DE59F4CEDBB}" srcOrd="3" destOrd="0" presId="urn:microsoft.com/office/officeart/2005/8/layout/chevron2"/>
    <dgm:cxn modelId="{43DFEAA3-F479-4316-ACF6-43A96B569BC2}" type="presParOf" srcId="{FE4DDA8A-C4EC-492A-8DD1-E03EAF4AEC20}" destId="{0E770C83-732F-454C-A42C-5D6B8ACF51B3}" srcOrd="4" destOrd="0" presId="urn:microsoft.com/office/officeart/2005/8/layout/chevron2"/>
    <dgm:cxn modelId="{34823F2C-AD79-4FD4-B83B-268711D58692}" type="presParOf" srcId="{0E770C83-732F-454C-A42C-5D6B8ACF51B3}" destId="{6E9E659C-D216-4738-8FEA-778527CB338D}" srcOrd="0" destOrd="0" presId="urn:microsoft.com/office/officeart/2005/8/layout/chevron2"/>
    <dgm:cxn modelId="{48F44FC1-9EB4-4156-BBE1-1DC6BB46FCE1}" type="presParOf" srcId="{0E770C83-732F-454C-A42C-5D6B8ACF51B3}" destId="{1BAE54CF-F6A3-4A76-858E-6DFD07AC6E98}" srcOrd="1" destOrd="0" presId="urn:microsoft.com/office/officeart/2005/8/layout/chevron2"/>
    <dgm:cxn modelId="{095C2808-1B61-4E76-BC84-E3A48007EF19}" type="presParOf" srcId="{FE4DDA8A-C4EC-492A-8DD1-E03EAF4AEC20}" destId="{87518BAA-F821-42D3-B443-45245A9D85BC}" srcOrd="5" destOrd="0" presId="urn:microsoft.com/office/officeart/2005/8/layout/chevron2"/>
    <dgm:cxn modelId="{695DA581-C4E5-4B45-9A0E-DD1633C0F1E8}" type="presParOf" srcId="{FE4DDA8A-C4EC-492A-8DD1-E03EAF4AEC20}" destId="{69D873AC-3EBF-4FB2-BE72-EAEC74E39E10}" srcOrd="6" destOrd="0" presId="urn:microsoft.com/office/officeart/2005/8/layout/chevron2"/>
    <dgm:cxn modelId="{5A14DA31-3CAA-4A74-8489-912A9C689469}" type="presParOf" srcId="{69D873AC-3EBF-4FB2-BE72-EAEC74E39E10}" destId="{2D46347E-B367-4892-9A0C-05754BA944C6}" srcOrd="0" destOrd="0" presId="urn:microsoft.com/office/officeart/2005/8/layout/chevron2"/>
    <dgm:cxn modelId="{73E4E5EC-C69C-42E6-BB4E-E768D04B01FC}" type="presParOf" srcId="{69D873AC-3EBF-4FB2-BE72-EAEC74E39E10}" destId="{FE567B64-DE00-4AD8-A90F-696150E00EBF}"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B6810-7C26-4F2B-AA8A-1CCCF047ABE3}">
      <dsp:nvSpPr>
        <dsp:cNvPr id="0" name=""/>
        <dsp:cNvSpPr/>
      </dsp:nvSpPr>
      <dsp:spPr>
        <a:xfrm>
          <a:off x="3055" y="1041245"/>
          <a:ext cx="1837531" cy="72554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zh-CN" altLang="en-US" sz="1500" b="0" i="0" kern="1200" dirty="0"/>
            <a:t>零售多品牌集团型企业</a:t>
          </a:r>
          <a:endParaRPr lang="zh-CN" altLang="en-US" sz="1500" kern="1200" dirty="0"/>
        </a:p>
      </dsp:txBody>
      <dsp:txXfrm>
        <a:off x="3055" y="1041245"/>
        <a:ext cx="1837531" cy="725543"/>
      </dsp:txXfrm>
    </dsp:sp>
    <dsp:sp modelId="{743A47BC-74F0-48AC-AD89-D05DB4366E2B}">
      <dsp:nvSpPr>
        <dsp:cNvPr id="0" name=""/>
        <dsp:cNvSpPr/>
      </dsp:nvSpPr>
      <dsp:spPr>
        <a:xfrm>
          <a:off x="3055" y="1766789"/>
          <a:ext cx="1837531" cy="2610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zh-CN" altLang="en-US" sz="1500" b="0" i="0" kern="1200" dirty="0"/>
            <a:t>关注如何实现集中管控前提下营销能力在多品牌复用</a:t>
          </a:r>
          <a:endParaRPr lang="zh-CN" altLang="en-US" sz="1500" kern="1200" dirty="0"/>
        </a:p>
      </dsp:txBody>
      <dsp:txXfrm>
        <a:off x="3055" y="1766789"/>
        <a:ext cx="1837531" cy="2610631"/>
      </dsp:txXfrm>
    </dsp:sp>
    <dsp:sp modelId="{D60B43C2-3CDA-4E59-A28A-684B566DB13A}">
      <dsp:nvSpPr>
        <dsp:cNvPr id="0" name=""/>
        <dsp:cNvSpPr/>
      </dsp:nvSpPr>
      <dsp:spPr>
        <a:xfrm>
          <a:off x="2097841" y="1041245"/>
          <a:ext cx="1837531" cy="72554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zh-CN" altLang="en-US" sz="1500" b="0" i="0" kern="1200" dirty="0"/>
            <a:t>跨国零售企业</a:t>
          </a:r>
          <a:endParaRPr lang="zh-CN" altLang="en-US" sz="1500" kern="1200" dirty="0"/>
        </a:p>
      </dsp:txBody>
      <dsp:txXfrm>
        <a:off x="2097841" y="1041245"/>
        <a:ext cx="1837531" cy="725543"/>
      </dsp:txXfrm>
    </dsp:sp>
    <dsp:sp modelId="{4C78EF90-962C-4EF2-8888-75F2FFF25158}">
      <dsp:nvSpPr>
        <dsp:cNvPr id="0" name=""/>
        <dsp:cNvSpPr/>
      </dsp:nvSpPr>
      <dsp:spPr>
        <a:xfrm>
          <a:off x="2097841" y="1766789"/>
          <a:ext cx="1837531" cy="2610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zh-CN" altLang="en-US" sz="1500" b="0" i="0" kern="1200" dirty="0"/>
            <a:t>关注如何实现全球统一运营下的核心业务能力，适应中国的特有业务场景和业务发展</a:t>
          </a:r>
          <a:endParaRPr lang="zh-CN" altLang="en-US" sz="1500" kern="1200" dirty="0"/>
        </a:p>
      </dsp:txBody>
      <dsp:txXfrm>
        <a:off x="2097841" y="1766789"/>
        <a:ext cx="1837531" cy="2610631"/>
      </dsp:txXfrm>
    </dsp:sp>
    <dsp:sp modelId="{848085D5-1299-4051-A4BF-AD82543333C2}">
      <dsp:nvSpPr>
        <dsp:cNvPr id="0" name=""/>
        <dsp:cNvSpPr/>
      </dsp:nvSpPr>
      <dsp:spPr>
        <a:xfrm>
          <a:off x="4192627" y="1041245"/>
          <a:ext cx="1837531" cy="72554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zh-CN" altLang="en-US" sz="1500" b="0" i="0" kern="1200" dirty="0"/>
            <a:t>商业银行与金融机构</a:t>
          </a:r>
          <a:endParaRPr lang="zh-CN" altLang="en-US" sz="1500" kern="1200" dirty="0"/>
        </a:p>
      </dsp:txBody>
      <dsp:txXfrm>
        <a:off x="4192627" y="1041245"/>
        <a:ext cx="1837531" cy="725543"/>
      </dsp:txXfrm>
    </dsp:sp>
    <dsp:sp modelId="{BFDD3455-9914-455A-8131-B0FD3DCF4F53}">
      <dsp:nvSpPr>
        <dsp:cNvPr id="0" name=""/>
        <dsp:cNvSpPr/>
      </dsp:nvSpPr>
      <dsp:spPr>
        <a:xfrm>
          <a:off x="4192627" y="1766789"/>
          <a:ext cx="1837531" cy="2610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zh-CN" altLang="en-US" sz="1500" b="0" i="0" kern="1200" dirty="0"/>
            <a:t>关注场景的能力抽取与模式复用，实现对于金融产品的快速创新的加速，和金融电商化的渠道能力运营的加强，为生态建设奠定基础</a:t>
          </a:r>
          <a:endParaRPr lang="zh-CN" altLang="en-US" sz="1500" kern="1200" dirty="0"/>
        </a:p>
      </dsp:txBody>
      <dsp:txXfrm>
        <a:off x="4192627" y="1766789"/>
        <a:ext cx="1837531" cy="2610631"/>
      </dsp:txXfrm>
    </dsp:sp>
    <dsp:sp modelId="{DBC0E687-8A82-4F31-A11A-582FD7F8255B}">
      <dsp:nvSpPr>
        <dsp:cNvPr id="0" name=""/>
        <dsp:cNvSpPr/>
      </dsp:nvSpPr>
      <dsp:spPr>
        <a:xfrm>
          <a:off x="6287412" y="1041245"/>
          <a:ext cx="1837531" cy="72554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zh-CN" altLang="en-US" sz="1500" b="0" i="0" kern="1200" dirty="0"/>
            <a:t>通信企业</a:t>
          </a:r>
          <a:endParaRPr lang="zh-CN" altLang="en-US" sz="1500" kern="1200" dirty="0"/>
        </a:p>
      </dsp:txBody>
      <dsp:txXfrm>
        <a:off x="6287412" y="1041245"/>
        <a:ext cx="1837531" cy="725543"/>
      </dsp:txXfrm>
    </dsp:sp>
    <dsp:sp modelId="{2C366E53-03C1-44BE-B0AD-62DB43948AE6}">
      <dsp:nvSpPr>
        <dsp:cNvPr id="0" name=""/>
        <dsp:cNvSpPr/>
      </dsp:nvSpPr>
      <dsp:spPr>
        <a:xfrm>
          <a:off x="6287412" y="1766789"/>
          <a:ext cx="1837531" cy="2610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zh-CN" altLang="en-US" sz="1500" b="0" i="0" kern="1200" dirty="0"/>
            <a:t>关注如何实现跨业务线之间的公共能力的识别，沉淀，形成统一管控及支撑，实现产品平台化，更灵活的适配不同场景的需求与快速响应。</a:t>
          </a:r>
          <a:endParaRPr lang="zh-CN" altLang="en-US" sz="1500" kern="1200" dirty="0"/>
        </a:p>
      </dsp:txBody>
      <dsp:txXfrm>
        <a:off x="6287412" y="1766789"/>
        <a:ext cx="1837531" cy="26106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DE376-9886-4A17-B3E4-4F815E0918B1}">
      <dsp:nvSpPr>
        <dsp:cNvPr id="0" name=""/>
        <dsp:cNvSpPr/>
      </dsp:nvSpPr>
      <dsp:spPr>
        <a:xfrm>
          <a:off x="0" y="164854"/>
          <a:ext cx="8128000" cy="2438400"/>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54B99A-CD98-45DB-B4E3-03B5E7F038D7}">
      <dsp:nvSpPr>
        <dsp:cNvPr id="0" name=""/>
        <dsp:cNvSpPr/>
      </dsp:nvSpPr>
      <dsp:spPr>
        <a:xfrm>
          <a:off x="244772" y="796054"/>
          <a:ext cx="3637359" cy="178816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805B233-663D-4B57-94F5-3061BFC59B9C}">
      <dsp:nvSpPr>
        <dsp:cNvPr id="0" name=""/>
        <dsp:cNvSpPr/>
      </dsp:nvSpPr>
      <dsp:spPr>
        <a:xfrm rot="10800000">
          <a:off x="352984" y="2918573"/>
          <a:ext cx="3637359" cy="1724442"/>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zh-CN" altLang="en-US" sz="1400" kern="1200" dirty="0"/>
            <a:t>中台以“复用”之名起源，很容易走回从前软件“套件化”实施的思路和模式。</a:t>
          </a:r>
          <a:endParaRPr lang="en-US" altLang="zh-CN" sz="1400" kern="1200" dirty="0"/>
        </a:p>
        <a:p>
          <a:pPr marL="0" lvl="0" indent="0" algn="ctr" defTabSz="622300">
            <a:lnSpc>
              <a:spcPct val="90000"/>
            </a:lnSpc>
            <a:spcBef>
              <a:spcPct val="0"/>
            </a:spcBef>
            <a:spcAft>
              <a:spcPct val="35000"/>
            </a:spcAft>
            <a:buNone/>
          </a:pPr>
          <a:r>
            <a:rPr lang="zh-CN" altLang="en-US" sz="1400" kern="1200" dirty="0"/>
            <a:t>在中台规划与建设中，如果仍以“中台产品套件”实施方式，会不可避免的再次出现削足适履的问题。</a:t>
          </a:r>
        </a:p>
      </dsp:txBody>
      <dsp:txXfrm rot="10800000">
        <a:off x="406017" y="2918573"/>
        <a:ext cx="3531293" cy="1671409"/>
      </dsp:txXfrm>
    </dsp:sp>
    <dsp:sp modelId="{742D0879-414C-4A72-BB0D-C22A8C2B5F1D}">
      <dsp:nvSpPr>
        <dsp:cNvPr id="0" name=""/>
        <dsp:cNvSpPr/>
      </dsp:nvSpPr>
      <dsp:spPr>
        <a:xfrm>
          <a:off x="4245867" y="806477"/>
          <a:ext cx="3637359" cy="178816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01D1873-3299-4444-B3F6-6BC2F57DFC4F}">
      <dsp:nvSpPr>
        <dsp:cNvPr id="0" name=""/>
        <dsp:cNvSpPr/>
      </dsp:nvSpPr>
      <dsp:spPr>
        <a:xfrm rot="10800000">
          <a:off x="4278967" y="2939412"/>
          <a:ext cx="3637359" cy="1682748"/>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zh-CN" altLang="en-US" sz="1300" kern="1200" dirty="0"/>
            <a:t>中台是针对于“商业模式”和“业务模式”的抽象与复用。</a:t>
          </a:r>
          <a:endParaRPr lang="en-US" altLang="zh-CN" sz="1300" kern="1200" dirty="0"/>
        </a:p>
        <a:p>
          <a:pPr marL="0" lvl="0" indent="0" algn="ctr" defTabSz="577850">
            <a:lnSpc>
              <a:spcPct val="90000"/>
            </a:lnSpc>
            <a:spcBef>
              <a:spcPct val="0"/>
            </a:spcBef>
            <a:spcAft>
              <a:spcPct val="35000"/>
            </a:spcAft>
            <a:buNone/>
          </a:pPr>
          <a:r>
            <a:rPr lang="zh-CN" altLang="en-US" sz="1300" kern="1200" dirty="0"/>
            <a:t>体现的是企业希望通过对于自身商业模式和自身业务的思考与抽象沉淀，实现的扩展与复用，支撑企业业务的快速拓展与创新，契合平台向业务的再演进过程。</a:t>
          </a:r>
        </a:p>
      </dsp:txBody>
      <dsp:txXfrm rot="10800000">
        <a:off x="4330717" y="2939412"/>
        <a:ext cx="3533859" cy="16309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37BE6-3A46-4659-BEE5-75A7E158958D}">
      <dsp:nvSpPr>
        <dsp:cNvPr id="0" name=""/>
        <dsp:cNvSpPr/>
      </dsp:nvSpPr>
      <dsp:spPr>
        <a:xfrm rot="5400000">
          <a:off x="-219257" y="221911"/>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altLang="zh-CN" sz="1800" b="1" i="0" kern="1200" dirty="0"/>
        </a:p>
        <a:p>
          <a:pPr marL="0" lvl="0" indent="0" algn="ctr" defTabSz="800100">
            <a:lnSpc>
              <a:spcPct val="90000"/>
            </a:lnSpc>
            <a:spcBef>
              <a:spcPct val="0"/>
            </a:spcBef>
            <a:spcAft>
              <a:spcPct val="35000"/>
            </a:spcAft>
            <a:buNone/>
          </a:pPr>
          <a:r>
            <a:rPr lang="zh-CN" altLang="en-US" sz="1800" b="1" i="0" kern="1200" dirty="0"/>
            <a:t>业务架构层</a:t>
          </a:r>
          <a:endParaRPr lang="zh-CN" altLang="en-US" sz="1800" kern="1200" dirty="0"/>
        </a:p>
      </dsp:txBody>
      <dsp:txXfrm rot="-5400000">
        <a:off x="2" y="514254"/>
        <a:ext cx="1023201" cy="438516"/>
      </dsp:txXfrm>
    </dsp:sp>
    <dsp:sp modelId="{457EFFAA-A4C4-441C-B867-F419F4C94200}">
      <dsp:nvSpPr>
        <dsp:cNvPr id="0" name=""/>
        <dsp:cNvSpPr/>
      </dsp:nvSpPr>
      <dsp:spPr>
        <a:xfrm rot="5400000">
          <a:off x="4100293" y="-3074437"/>
          <a:ext cx="950615" cy="710479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zh-CN" altLang="en-US" sz="1300" b="0" i="0" kern="1200" dirty="0"/>
            <a:t>如何抽离多业务线共享的能力，以避免重复投资？</a:t>
          </a:r>
          <a:endParaRPr lang="zh-CN" altLang="en-US" sz="1300" kern="1200" dirty="0"/>
        </a:p>
        <a:p>
          <a:pPr marL="114300" lvl="1" indent="-114300" algn="l" defTabSz="577850">
            <a:lnSpc>
              <a:spcPct val="90000"/>
            </a:lnSpc>
            <a:spcBef>
              <a:spcPct val="0"/>
            </a:spcBef>
            <a:spcAft>
              <a:spcPct val="15000"/>
            </a:spcAft>
            <a:buChar char="•"/>
          </a:pPr>
          <a:r>
            <a:rPr lang="zh-CN" altLang="en-US" sz="1300" b="0" i="0" kern="1200" dirty="0"/>
            <a:t>新业务如何基于企业能力快速组装上线，以支撑业务快速迭代创新？</a:t>
          </a:r>
          <a:endParaRPr lang="zh-CN" altLang="en-US" sz="1300" kern="1200" dirty="0"/>
        </a:p>
      </dsp:txBody>
      <dsp:txXfrm rot="-5400000">
        <a:off x="1023202" y="49059"/>
        <a:ext cx="7058393" cy="857805"/>
      </dsp:txXfrm>
    </dsp:sp>
    <dsp:sp modelId="{4028BBE1-F7D6-4B78-AEE1-5F1ECDA7A3B1}">
      <dsp:nvSpPr>
        <dsp:cNvPr id="0" name=""/>
        <dsp:cNvSpPr/>
      </dsp:nvSpPr>
      <dsp:spPr>
        <a:xfrm rot="5400000">
          <a:off x="-219257" y="1539125"/>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altLang="zh-CN" sz="1800" b="1" i="0" kern="1200" dirty="0"/>
        </a:p>
        <a:p>
          <a:pPr marL="0" lvl="0" indent="0" algn="ctr" defTabSz="800100">
            <a:lnSpc>
              <a:spcPct val="90000"/>
            </a:lnSpc>
            <a:spcBef>
              <a:spcPct val="0"/>
            </a:spcBef>
            <a:spcAft>
              <a:spcPct val="35000"/>
            </a:spcAft>
            <a:buNone/>
          </a:pPr>
          <a:r>
            <a:rPr lang="zh-CN" altLang="en-US" sz="1800" b="1" i="0" kern="1200" dirty="0"/>
            <a:t>应用架构层</a:t>
          </a:r>
          <a:endParaRPr lang="zh-CN" altLang="en-US" sz="1800" kern="1200" dirty="0"/>
        </a:p>
      </dsp:txBody>
      <dsp:txXfrm rot="-5400000">
        <a:off x="2" y="1831468"/>
        <a:ext cx="1023201" cy="438516"/>
      </dsp:txXfrm>
    </dsp:sp>
    <dsp:sp modelId="{7F160D38-198F-46D0-BC39-665FE8A3925C}">
      <dsp:nvSpPr>
        <dsp:cNvPr id="0" name=""/>
        <dsp:cNvSpPr/>
      </dsp:nvSpPr>
      <dsp:spPr>
        <a:xfrm rot="5400000">
          <a:off x="4100542" y="-1757473"/>
          <a:ext cx="950116" cy="710479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zh-CN" altLang="en-US" sz="1300" b="0" i="0" kern="1200" dirty="0"/>
            <a:t>在宏观规划层面，如何有效的划分和组织能力，如何划分</a:t>
          </a:r>
          <a:r>
            <a:rPr lang="en-US" altLang="zh-CN" sz="1300" b="0" i="0" kern="1200" dirty="0"/>
            <a:t>IT </a:t>
          </a:r>
          <a:r>
            <a:rPr lang="zh-CN" altLang="en-US" sz="1300" b="0" i="0" kern="1200" dirty="0"/>
            <a:t>系统的物理边界</a:t>
          </a:r>
          <a:r>
            <a:rPr lang="en-US" altLang="zh-CN" sz="1300" b="0" i="0" kern="1200" dirty="0"/>
            <a:t>,</a:t>
          </a:r>
          <a:r>
            <a:rPr lang="zh-CN" altLang="en-US" sz="1300" b="0" i="0" kern="1200" dirty="0"/>
            <a:t>以合理的布局更好地应对变化</a:t>
          </a:r>
          <a:endParaRPr lang="zh-CN" altLang="en-US" sz="1300" kern="1200" dirty="0"/>
        </a:p>
        <a:p>
          <a:pPr marL="114300" lvl="1" indent="-114300" algn="l" defTabSz="577850">
            <a:lnSpc>
              <a:spcPct val="90000"/>
            </a:lnSpc>
            <a:spcBef>
              <a:spcPct val="0"/>
            </a:spcBef>
            <a:spcAft>
              <a:spcPct val="15000"/>
            </a:spcAft>
            <a:buChar char="•"/>
          </a:pPr>
          <a:r>
            <a:rPr lang="zh-CN" altLang="en-US" sz="1300" b="0" i="0" kern="1200" dirty="0"/>
            <a:t>在局部设计层面，如何在最大化复用效果的同时，保障对差异化需求的响应力？</a:t>
          </a:r>
          <a:endParaRPr lang="zh-CN" altLang="en-US" sz="1300" kern="1200" dirty="0"/>
        </a:p>
      </dsp:txBody>
      <dsp:txXfrm rot="-5400000">
        <a:off x="1023202" y="1366248"/>
        <a:ext cx="7058417" cy="857354"/>
      </dsp:txXfrm>
    </dsp:sp>
    <dsp:sp modelId="{6E9E659C-D216-4738-8FEA-778527CB338D}">
      <dsp:nvSpPr>
        <dsp:cNvPr id="0" name=""/>
        <dsp:cNvSpPr/>
      </dsp:nvSpPr>
      <dsp:spPr>
        <a:xfrm rot="5400000">
          <a:off x="-219257" y="2856339"/>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altLang="zh-CN" sz="1800" b="1" i="0" kern="1200" dirty="0"/>
        </a:p>
        <a:p>
          <a:pPr marL="0" lvl="0" indent="0" algn="ctr" defTabSz="800100">
            <a:lnSpc>
              <a:spcPct val="90000"/>
            </a:lnSpc>
            <a:spcBef>
              <a:spcPct val="0"/>
            </a:spcBef>
            <a:spcAft>
              <a:spcPct val="35000"/>
            </a:spcAft>
            <a:buNone/>
          </a:pPr>
          <a:r>
            <a:rPr lang="zh-CN" altLang="en-US" sz="1800" b="1" i="0" kern="1200" dirty="0"/>
            <a:t>数据架构层</a:t>
          </a:r>
          <a:endParaRPr lang="zh-CN" altLang="en-US" sz="1800" kern="1200" dirty="0"/>
        </a:p>
      </dsp:txBody>
      <dsp:txXfrm rot="-5400000">
        <a:off x="2" y="3148682"/>
        <a:ext cx="1023201" cy="438516"/>
      </dsp:txXfrm>
    </dsp:sp>
    <dsp:sp modelId="{1BAE54CF-F6A3-4A76-858E-6DFD07AC6E98}">
      <dsp:nvSpPr>
        <dsp:cNvPr id="0" name=""/>
        <dsp:cNvSpPr/>
      </dsp:nvSpPr>
      <dsp:spPr>
        <a:xfrm rot="5400000">
          <a:off x="4100542" y="-440258"/>
          <a:ext cx="950116" cy="710479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zh-CN" altLang="en-US" sz="1300" b="0" i="0" kern="1200" dirty="0"/>
            <a:t>如何适当拆分过于集中的分析类数据处理职责，缓解规模化瓶颈</a:t>
          </a:r>
          <a:endParaRPr lang="zh-CN" altLang="en-US" sz="1300" kern="1200" dirty="0"/>
        </a:p>
      </dsp:txBody>
      <dsp:txXfrm rot="-5400000">
        <a:off x="1023202" y="2683463"/>
        <a:ext cx="7058417" cy="857354"/>
      </dsp:txXfrm>
    </dsp:sp>
    <dsp:sp modelId="{2D46347E-B367-4892-9A0C-05754BA944C6}">
      <dsp:nvSpPr>
        <dsp:cNvPr id="0" name=""/>
        <dsp:cNvSpPr/>
      </dsp:nvSpPr>
      <dsp:spPr>
        <a:xfrm rot="5400000">
          <a:off x="-219257" y="4173553"/>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altLang="zh-CN" sz="1800" b="1" i="0" kern="1200" dirty="0"/>
        </a:p>
        <a:p>
          <a:pPr marL="0" lvl="0" indent="0" algn="ctr" defTabSz="800100">
            <a:lnSpc>
              <a:spcPct val="90000"/>
            </a:lnSpc>
            <a:spcBef>
              <a:spcPct val="0"/>
            </a:spcBef>
            <a:spcAft>
              <a:spcPct val="35000"/>
            </a:spcAft>
            <a:buNone/>
          </a:pPr>
          <a:r>
            <a:rPr lang="zh-CN" altLang="en-US" sz="1800" b="1" i="0" kern="1200" dirty="0"/>
            <a:t>技术架构层</a:t>
          </a:r>
          <a:endParaRPr lang="zh-CN" altLang="en-US" sz="1800" kern="1200" dirty="0"/>
        </a:p>
      </dsp:txBody>
      <dsp:txXfrm rot="-5400000">
        <a:off x="2" y="4465896"/>
        <a:ext cx="1023201" cy="438516"/>
      </dsp:txXfrm>
    </dsp:sp>
    <dsp:sp modelId="{FE567B64-DE00-4AD8-A90F-696150E00EBF}">
      <dsp:nvSpPr>
        <dsp:cNvPr id="0" name=""/>
        <dsp:cNvSpPr/>
      </dsp:nvSpPr>
      <dsp:spPr>
        <a:xfrm rot="5400000">
          <a:off x="4100542" y="876955"/>
          <a:ext cx="950116" cy="710479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zh-CN" altLang="en-US" sz="1300" b="0" i="0" kern="1200"/>
            <a:t>如何在富技术时代进行平台型技术架构设计</a:t>
          </a:r>
          <a:endParaRPr lang="zh-CN" altLang="en-US" sz="1300" kern="1200"/>
        </a:p>
      </dsp:txBody>
      <dsp:txXfrm rot="-5400000">
        <a:off x="1023202" y="4000677"/>
        <a:ext cx="7058417" cy="85735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pPr/>
              <a:t>2021/12/25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pPr/>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pPr/>
              <a:t>1</a:t>
            </a:fld>
            <a:endParaRPr lang="zh-CN" altLang="en-US"/>
          </a:p>
        </p:txBody>
      </p:sp>
    </p:spTree>
    <p:extLst>
      <p:ext uri="{BB962C8B-B14F-4D97-AF65-F5344CB8AC3E}">
        <p14:creationId xmlns:p14="http://schemas.microsoft.com/office/powerpoint/2010/main" val="687707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9E6FDB6-6D2B-46C1-9FA1-D82906A37C3A}" type="slidenum">
              <a:rPr lang="zh-CN" altLang="en-US" smtClean="0"/>
              <a:pPr/>
              <a:t>2</a:t>
            </a:fld>
            <a:endParaRPr lang="zh-CN" altLang="en-US"/>
          </a:p>
        </p:txBody>
      </p:sp>
    </p:spTree>
    <p:extLst>
      <p:ext uri="{BB962C8B-B14F-4D97-AF65-F5344CB8AC3E}">
        <p14:creationId xmlns:p14="http://schemas.microsoft.com/office/powerpoint/2010/main" val="3079798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9E6FDB6-6D2B-46C1-9FA1-D82906A37C3A}" type="slidenum">
              <a:rPr lang="zh-CN" altLang="en-US" smtClean="0"/>
              <a:pPr/>
              <a:t>5</a:t>
            </a:fld>
            <a:endParaRPr lang="zh-CN" altLang="en-US"/>
          </a:p>
        </p:txBody>
      </p:sp>
    </p:spTree>
    <p:extLst>
      <p:ext uri="{BB962C8B-B14F-4D97-AF65-F5344CB8AC3E}">
        <p14:creationId xmlns:p14="http://schemas.microsoft.com/office/powerpoint/2010/main" val="28166513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chemeClr val="tx1"/>
        </a:solidFill>
        <a:effectLst/>
      </p:bgPr>
    </p:bg>
    <p:spTree>
      <p:nvGrpSpPr>
        <p:cNvPr id="1" name=""/>
        <p:cNvGrpSpPr/>
        <p:nvPr/>
      </p:nvGrpSpPr>
      <p:grpSpPr>
        <a:xfrm>
          <a:off x="0" y="0"/>
          <a:ext cx="0" cy="0"/>
          <a:chOff x="0" y="0"/>
          <a:chExt cx="0" cy="0"/>
        </a:xfrm>
      </p:grpSpPr>
      <p:sp>
        <p:nvSpPr>
          <p:cNvPr id="9802" name="标题 1"/>
          <p:cNvSpPr>
            <a:spLocks noGrp="1"/>
          </p:cNvSpPr>
          <p:nvPr>
            <p:ph type="ctrTitle" hasCustomPrompt="1"/>
          </p:nvPr>
        </p:nvSpPr>
        <p:spPr>
          <a:xfrm>
            <a:off x="8342350" y="1611086"/>
            <a:ext cx="2814860" cy="2246528"/>
          </a:xfrm>
        </p:spPr>
        <p:txBody>
          <a:bodyPr anchor="ctr">
            <a:normAutofit/>
          </a:bodyPr>
          <a:lstStyle>
            <a:lvl1pPr algn="r">
              <a:defRPr sz="4000">
                <a:solidFill>
                  <a:schemeClr val="bg1"/>
                </a:solidFill>
              </a:defRPr>
            </a:lvl1pPr>
          </a:lstStyle>
          <a:p>
            <a:r>
              <a:rPr lang="en-US" dirty="0"/>
              <a:t>Click to edit master title style</a:t>
            </a:r>
            <a:endParaRPr lang="zh-CN" altLang="en-US" dirty="0"/>
          </a:p>
        </p:txBody>
      </p:sp>
      <p:sp>
        <p:nvSpPr>
          <p:cNvPr id="9801" name="副标题 2"/>
          <p:cNvSpPr>
            <a:spLocks noGrp="1"/>
          </p:cNvSpPr>
          <p:nvPr>
            <p:ph type="subTitle" idx="1" hasCustomPrompt="1"/>
          </p:nvPr>
        </p:nvSpPr>
        <p:spPr>
          <a:xfrm>
            <a:off x="8149917" y="3941671"/>
            <a:ext cx="3007293" cy="451230"/>
          </a:xfrm>
        </p:spPr>
        <p:txBody>
          <a:bodyPr anchor="ctr">
            <a:normAutofit/>
          </a:bodyPr>
          <a:lstStyle>
            <a:lvl1pPr marL="0" indent="0" algn="r">
              <a:buNone/>
              <a:defRPr sz="200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12" name="文本占位符 13"/>
          <p:cNvSpPr>
            <a:spLocks noGrp="1"/>
          </p:cNvSpPr>
          <p:nvPr>
            <p:ph type="body" sz="quarter" idx="10" hasCustomPrompt="1"/>
          </p:nvPr>
        </p:nvSpPr>
        <p:spPr>
          <a:xfrm>
            <a:off x="8149917" y="4791072"/>
            <a:ext cx="3007293" cy="451230"/>
          </a:xfrm>
        </p:spPr>
        <p:txBody>
          <a:bodyPr vert="horz" anchor="ctr">
            <a:noAutofit/>
          </a:bodyPr>
          <a:lstStyle>
            <a:lvl1pPr marL="0" indent="0" algn="r">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p:ph type="body" sz="quarter" idx="11" hasCustomPrompt="1"/>
          </p:nvPr>
        </p:nvSpPr>
        <p:spPr>
          <a:xfrm>
            <a:off x="8149917" y="5064403"/>
            <a:ext cx="3007293" cy="516530"/>
          </a:xfrm>
        </p:spPr>
        <p:txBody>
          <a:bodyPr vert="horz" anchor="ctr">
            <a:noAutofit/>
          </a:bodyPr>
          <a:lstStyle>
            <a:lvl1pPr marL="0" indent="0" algn="r">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
        <p:nvSpPr>
          <p:cNvPr id="10" name="任意多边形: 形状 9">
            <a:extLst>
              <a:ext uri="{FF2B5EF4-FFF2-40B4-BE49-F238E27FC236}">
                <a16:creationId xmlns:a16="http://schemas.microsoft.com/office/drawing/2014/main" id="{121E2CE6-2BDD-435D-9089-3DA8B99CAC6B}"/>
              </a:ext>
            </a:extLst>
          </p:cNvPr>
          <p:cNvSpPr/>
          <p:nvPr userDrawn="1"/>
        </p:nvSpPr>
        <p:spPr>
          <a:xfrm>
            <a:off x="-73374" y="-61204"/>
            <a:ext cx="6359873" cy="6975345"/>
          </a:xfrm>
          <a:custGeom>
            <a:avLst/>
            <a:gdLst>
              <a:gd name="connsiteX0" fmla="*/ 3457072 w 4611040"/>
              <a:gd name="connsiteY0" fmla="*/ 5018876 h 5057270"/>
              <a:gd name="connsiteX1" fmla="*/ 48372 w 4611040"/>
              <a:gd name="connsiteY1" fmla="*/ 5018876 h 5057270"/>
              <a:gd name="connsiteX2" fmla="*/ 48372 w 4611040"/>
              <a:gd name="connsiteY2" fmla="*/ 48372 h 5057270"/>
              <a:gd name="connsiteX3" fmla="*/ 2800122 w 4611040"/>
              <a:gd name="connsiteY3" fmla="*/ 48372 h 5057270"/>
              <a:gd name="connsiteX4" fmla="*/ 4572646 w 4611040"/>
              <a:gd name="connsiteY4" fmla="*/ 2192754 h 5057270"/>
              <a:gd name="connsiteX5" fmla="*/ 3457072 w 4611040"/>
              <a:gd name="connsiteY5" fmla="*/ 5018876 h 505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1040" h="5057270">
                <a:moveTo>
                  <a:pt x="3457072" y="5018876"/>
                </a:moveTo>
                <a:lnTo>
                  <a:pt x="48372" y="5018876"/>
                </a:lnTo>
                <a:lnTo>
                  <a:pt x="48372" y="48372"/>
                </a:lnTo>
                <a:lnTo>
                  <a:pt x="2800122" y="48372"/>
                </a:lnTo>
                <a:cubicBezTo>
                  <a:pt x="2800122" y="48372"/>
                  <a:pt x="4597437" y="370649"/>
                  <a:pt x="4572646" y="2192754"/>
                </a:cubicBezTo>
                <a:cubicBezTo>
                  <a:pt x="4572646" y="2192754"/>
                  <a:pt x="4572646" y="3717372"/>
                  <a:pt x="3457072" y="5018876"/>
                </a:cubicBezTo>
                <a:close/>
              </a:path>
            </a:pathLst>
          </a:custGeom>
          <a:blipFill>
            <a:blip r:embed="rId2" cstate="print"/>
            <a:srcRect/>
            <a:stretch>
              <a:fillRect l="181" r="-92107" b="-580"/>
            </a:stretch>
          </a:blipFill>
          <a:ln w="24781"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692402ED-3C31-470B-A9FE-9A4ECD70AA29}"/>
              </a:ext>
            </a:extLst>
          </p:cNvPr>
          <p:cNvSpPr/>
          <p:nvPr userDrawn="1"/>
        </p:nvSpPr>
        <p:spPr>
          <a:xfrm>
            <a:off x="3577863" y="-82204"/>
            <a:ext cx="3039766" cy="6967553"/>
          </a:xfrm>
          <a:custGeom>
            <a:avLst/>
            <a:gdLst>
              <a:gd name="connsiteX0" fmla="*/ 593764 w 2206358"/>
              <a:gd name="connsiteY0" fmla="*/ 48372 h 5057270"/>
              <a:gd name="connsiteX1" fmla="*/ 2118383 w 2206358"/>
              <a:gd name="connsiteY1" fmla="*/ 2304312 h 5057270"/>
              <a:gd name="connsiteX2" fmla="*/ 1907663 w 2206358"/>
              <a:gd name="connsiteY2" fmla="*/ 5031271 h 5057270"/>
              <a:gd name="connsiteX3" fmla="*/ 692926 w 2206358"/>
              <a:gd name="connsiteY3" fmla="*/ 5031271 h 5057270"/>
              <a:gd name="connsiteX4" fmla="*/ 1796106 w 2206358"/>
              <a:gd name="connsiteY4" fmla="*/ 1833291 h 5057270"/>
              <a:gd name="connsiteX5" fmla="*/ 48372 w 2206358"/>
              <a:gd name="connsiteY5" fmla="*/ 60768 h 5057270"/>
              <a:gd name="connsiteX6" fmla="*/ 593764 w 2206358"/>
              <a:gd name="connsiteY6" fmla="*/ 48372 h 505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6358" h="5057270">
                <a:moveTo>
                  <a:pt x="593764" y="48372"/>
                </a:moveTo>
                <a:cubicBezTo>
                  <a:pt x="593764" y="48372"/>
                  <a:pt x="1870477" y="506997"/>
                  <a:pt x="2118383" y="2304312"/>
                </a:cubicBezTo>
                <a:cubicBezTo>
                  <a:pt x="2118383" y="2304312"/>
                  <a:pt x="2304312" y="3568629"/>
                  <a:pt x="1907663" y="5031271"/>
                </a:cubicBezTo>
                <a:lnTo>
                  <a:pt x="692926" y="5031271"/>
                </a:lnTo>
                <a:cubicBezTo>
                  <a:pt x="692926" y="5031271"/>
                  <a:pt x="1932453" y="3457072"/>
                  <a:pt x="1796106" y="1833291"/>
                </a:cubicBezTo>
                <a:cubicBezTo>
                  <a:pt x="1796106" y="1833291"/>
                  <a:pt x="1783710" y="643345"/>
                  <a:pt x="48372" y="60768"/>
                </a:cubicBezTo>
                <a:lnTo>
                  <a:pt x="593764" y="48372"/>
                </a:lnTo>
                <a:close/>
              </a:path>
            </a:pathLst>
          </a:custGeom>
          <a:solidFill>
            <a:srgbClr val="023DBF">
              <a:alpha val="35000"/>
            </a:srgbClr>
          </a:solidFill>
          <a:ln w="24781"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D1061CF1-3517-45B0-A9F3-817844093180}"/>
              </a:ext>
            </a:extLst>
          </p:cNvPr>
          <p:cNvSpPr/>
          <p:nvPr userDrawn="1"/>
        </p:nvSpPr>
        <p:spPr>
          <a:xfrm>
            <a:off x="3523808" y="-69504"/>
            <a:ext cx="3179415" cy="6974201"/>
          </a:xfrm>
          <a:custGeom>
            <a:avLst/>
            <a:gdLst>
              <a:gd name="connsiteX0" fmla="*/ 48372 w 2305520"/>
              <a:gd name="connsiteY0" fmla="*/ 48372 h 5057270"/>
              <a:gd name="connsiteX1" fmla="*/ 618555 w 2305520"/>
              <a:gd name="connsiteY1" fmla="*/ 48372 h 5057270"/>
              <a:gd name="connsiteX2" fmla="*/ 1957244 w 2305520"/>
              <a:gd name="connsiteY2" fmla="*/ 5018876 h 5057270"/>
              <a:gd name="connsiteX3" fmla="*/ 1572991 w 2305520"/>
              <a:gd name="connsiteY3" fmla="*/ 5018876 h 5057270"/>
              <a:gd name="connsiteX4" fmla="*/ 48372 w 2305520"/>
              <a:gd name="connsiteY4" fmla="*/ 48372 h 5057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520" h="5057270">
                <a:moveTo>
                  <a:pt x="48372" y="48372"/>
                </a:moveTo>
                <a:lnTo>
                  <a:pt x="618555" y="48372"/>
                </a:lnTo>
                <a:cubicBezTo>
                  <a:pt x="618555" y="48372"/>
                  <a:pt x="3147190" y="717717"/>
                  <a:pt x="1957244" y="5018876"/>
                </a:cubicBezTo>
                <a:lnTo>
                  <a:pt x="1572991" y="5018876"/>
                </a:lnTo>
                <a:cubicBezTo>
                  <a:pt x="1572991" y="5018876"/>
                  <a:pt x="3432281" y="1287899"/>
                  <a:pt x="48372" y="48372"/>
                </a:cubicBezTo>
                <a:close/>
              </a:path>
            </a:pathLst>
          </a:custGeom>
          <a:solidFill>
            <a:srgbClr val="023DBF">
              <a:alpha val="62000"/>
            </a:srgbClr>
          </a:solidFill>
          <a:ln w="24781"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569FA176-6CD4-47D1-B739-B912D7762A19}"/>
              </a:ext>
            </a:extLst>
          </p:cNvPr>
          <p:cNvSpPr/>
          <p:nvPr userDrawn="1"/>
        </p:nvSpPr>
        <p:spPr>
          <a:xfrm>
            <a:off x="3751472" y="-65127"/>
            <a:ext cx="3572152" cy="6974201"/>
          </a:xfrm>
          <a:custGeom>
            <a:avLst/>
            <a:gdLst>
              <a:gd name="connsiteX0" fmla="*/ 48372 w 2603006"/>
              <a:gd name="connsiteY0" fmla="*/ 48372 h 5082060"/>
              <a:gd name="connsiteX1" fmla="*/ 767298 w 2603006"/>
              <a:gd name="connsiteY1" fmla="*/ 48372 h 5082060"/>
              <a:gd name="connsiteX2" fmla="*/ 2490241 w 2603006"/>
              <a:gd name="connsiteY2" fmla="*/ 5043666 h 5082060"/>
              <a:gd name="connsiteX3" fmla="*/ 1560595 w 2603006"/>
              <a:gd name="connsiteY3" fmla="*/ 5043666 h 5082060"/>
              <a:gd name="connsiteX4" fmla="*/ 48372 w 2603006"/>
              <a:gd name="connsiteY4" fmla="*/ 48372 h 5082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06" h="5082060">
                <a:moveTo>
                  <a:pt x="48372" y="48372"/>
                </a:moveTo>
                <a:lnTo>
                  <a:pt x="767298" y="48372"/>
                </a:lnTo>
                <a:cubicBezTo>
                  <a:pt x="767298" y="48372"/>
                  <a:pt x="3010842" y="1287899"/>
                  <a:pt x="2490241" y="5043666"/>
                </a:cubicBezTo>
                <a:lnTo>
                  <a:pt x="1560595" y="5043666"/>
                </a:lnTo>
                <a:cubicBezTo>
                  <a:pt x="1560595" y="5043666"/>
                  <a:pt x="3444676" y="1201133"/>
                  <a:pt x="48372" y="48372"/>
                </a:cubicBezTo>
                <a:close/>
              </a:path>
            </a:pathLst>
          </a:custGeom>
          <a:solidFill>
            <a:srgbClr val="023DBF"/>
          </a:solidFill>
          <a:ln w="24781" cap="flat">
            <a:noFill/>
            <a:prstDash val="solid"/>
            <a:miter/>
          </a:ln>
        </p:spPr>
        <p:txBody>
          <a:bodyPr rtlCol="0" anchor="ctr"/>
          <a:lstStyle/>
          <a:p>
            <a:endParaRPr lang="zh-CN" altLang="en-US"/>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bg>
      <p:bgPr>
        <a:solidFill>
          <a:schemeClr val="tx1"/>
        </a:solidFill>
        <a:effectLst/>
      </p:bgPr>
    </p:bg>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4360647" y="2025838"/>
            <a:ext cx="5419185"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4361763" y="2921188"/>
            <a:ext cx="5419185" cy="1015623"/>
          </a:xfrm>
        </p:spPr>
        <p:txBody>
          <a:bodyPr anchor="t">
            <a:normAutofit/>
          </a:bodyPr>
          <a:lstStyle>
            <a:lvl1pPr marL="0" indent="0" algn="l">
              <a:lnSpc>
                <a:spcPct val="100000"/>
              </a:lnSpc>
              <a:buNone/>
              <a:defRPr sz="1100">
                <a:solidFill>
                  <a:schemeClr val="bg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grpSp>
        <p:nvGrpSpPr>
          <p:cNvPr id="9" name="组合 8">
            <a:extLst>
              <a:ext uri="{FF2B5EF4-FFF2-40B4-BE49-F238E27FC236}">
                <a16:creationId xmlns:a16="http://schemas.microsoft.com/office/drawing/2014/main" id="{6DF96490-FC1A-48E9-B148-674EB08A504D}"/>
              </a:ext>
            </a:extLst>
          </p:cNvPr>
          <p:cNvGrpSpPr/>
          <p:nvPr userDrawn="1"/>
        </p:nvGrpSpPr>
        <p:grpSpPr>
          <a:xfrm rot="5400000">
            <a:off x="3515843" y="-2915955"/>
            <a:ext cx="5193050" cy="12420522"/>
            <a:chOff x="8531236" y="-82204"/>
            <a:chExt cx="3794775" cy="6986901"/>
          </a:xfrm>
        </p:grpSpPr>
        <p:sp>
          <p:nvSpPr>
            <p:cNvPr id="15" name="任意多边形: 形状 14">
              <a:extLst>
                <a:ext uri="{FF2B5EF4-FFF2-40B4-BE49-F238E27FC236}">
                  <a16:creationId xmlns:a16="http://schemas.microsoft.com/office/drawing/2014/main" id="{52F5025A-3D04-482A-A802-A801E8A21579}"/>
                </a:ext>
              </a:extLst>
            </p:cNvPr>
            <p:cNvSpPr/>
            <p:nvPr/>
          </p:nvSpPr>
          <p:spPr>
            <a:xfrm>
              <a:off x="8585291" y="-82204"/>
              <a:ext cx="3039766" cy="6967553"/>
            </a:xfrm>
            <a:custGeom>
              <a:avLst/>
              <a:gdLst>
                <a:gd name="connsiteX0" fmla="*/ 593764 w 2206358"/>
                <a:gd name="connsiteY0" fmla="*/ 48372 h 5057270"/>
                <a:gd name="connsiteX1" fmla="*/ 2118383 w 2206358"/>
                <a:gd name="connsiteY1" fmla="*/ 2304312 h 5057270"/>
                <a:gd name="connsiteX2" fmla="*/ 1907663 w 2206358"/>
                <a:gd name="connsiteY2" fmla="*/ 5031271 h 5057270"/>
                <a:gd name="connsiteX3" fmla="*/ 692926 w 2206358"/>
                <a:gd name="connsiteY3" fmla="*/ 5031271 h 5057270"/>
                <a:gd name="connsiteX4" fmla="*/ 1796106 w 2206358"/>
                <a:gd name="connsiteY4" fmla="*/ 1833291 h 5057270"/>
                <a:gd name="connsiteX5" fmla="*/ 48372 w 2206358"/>
                <a:gd name="connsiteY5" fmla="*/ 60768 h 5057270"/>
                <a:gd name="connsiteX6" fmla="*/ 593764 w 2206358"/>
                <a:gd name="connsiteY6" fmla="*/ 48372 h 505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6358" h="5057270">
                  <a:moveTo>
                    <a:pt x="593764" y="48372"/>
                  </a:moveTo>
                  <a:cubicBezTo>
                    <a:pt x="593764" y="48372"/>
                    <a:pt x="1870477" y="506997"/>
                    <a:pt x="2118383" y="2304312"/>
                  </a:cubicBezTo>
                  <a:cubicBezTo>
                    <a:pt x="2118383" y="2304312"/>
                    <a:pt x="2304312" y="3568629"/>
                    <a:pt x="1907663" y="5031271"/>
                  </a:cubicBezTo>
                  <a:lnTo>
                    <a:pt x="692926" y="5031271"/>
                  </a:lnTo>
                  <a:cubicBezTo>
                    <a:pt x="692926" y="5031271"/>
                    <a:pt x="1932453" y="3457072"/>
                    <a:pt x="1796106" y="1833291"/>
                  </a:cubicBezTo>
                  <a:cubicBezTo>
                    <a:pt x="1796106" y="1833291"/>
                    <a:pt x="1783710" y="643345"/>
                    <a:pt x="48372" y="60768"/>
                  </a:cubicBezTo>
                  <a:lnTo>
                    <a:pt x="593764" y="48372"/>
                  </a:lnTo>
                  <a:close/>
                </a:path>
              </a:pathLst>
            </a:custGeom>
            <a:solidFill>
              <a:srgbClr val="023DBF">
                <a:alpha val="35000"/>
              </a:srgbClr>
            </a:solidFill>
            <a:ln w="24781"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802CF925-91DD-47C7-AF76-69306BCA06C3}"/>
                </a:ext>
              </a:extLst>
            </p:cNvPr>
            <p:cNvSpPr/>
            <p:nvPr/>
          </p:nvSpPr>
          <p:spPr>
            <a:xfrm>
              <a:off x="8531236" y="-69504"/>
              <a:ext cx="3179415" cy="6974201"/>
            </a:xfrm>
            <a:custGeom>
              <a:avLst/>
              <a:gdLst>
                <a:gd name="connsiteX0" fmla="*/ 48372 w 2305520"/>
                <a:gd name="connsiteY0" fmla="*/ 48372 h 5057270"/>
                <a:gd name="connsiteX1" fmla="*/ 618555 w 2305520"/>
                <a:gd name="connsiteY1" fmla="*/ 48372 h 5057270"/>
                <a:gd name="connsiteX2" fmla="*/ 1957244 w 2305520"/>
                <a:gd name="connsiteY2" fmla="*/ 5018876 h 5057270"/>
                <a:gd name="connsiteX3" fmla="*/ 1572991 w 2305520"/>
                <a:gd name="connsiteY3" fmla="*/ 5018876 h 5057270"/>
                <a:gd name="connsiteX4" fmla="*/ 48372 w 2305520"/>
                <a:gd name="connsiteY4" fmla="*/ 48372 h 5057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520" h="5057270">
                  <a:moveTo>
                    <a:pt x="48372" y="48372"/>
                  </a:moveTo>
                  <a:lnTo>
                    <a:pt x="618555" y="48372"/>
                  </a:lnTo>
                  <a:cubicBezTo>
                    <a:pt x="618555" y="48372"/>
                    <a:pt x="3147190" y="717717"/>
                    <a:pt x="1957244" y="5018876"/>
                  </a:cubicBezTo>
                  <a:lnTo>
                    <a:pt x="1572991" y="5018876"/>
                  </a:lnTo>
                  <a:cubicBezTo>
                    <a:pt x="1572991" y="5018876"/>
                    <a:pt x="3432281" y="1287899"/>
                    <a:pt x="48372" y="48372"/>
                  </a:cubicBezTo>
                  <a:close/>
                </a:path>
              </a:pathLst>
            </a:custGeom>
            <a:solidFill>
              <a:srgbClr val="023DBF">
                <a:alpha val="62000"/>
              </a:srgbClr>
            </a:solidFill>
            <a:ln w="24781"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FB1C7AB9-1A3C-4913-9640-1B8383F27D22}"/>
                </a:ext>
              </a:extLst>
            </p:cNvPr>
            <p:cNvSpPr/>
            <p:nvPr/>
          </p:nvSpPr>
          <p:spPr>
            <a:xfrm>
              <a:off x="8758901" y="-65127"/>
              <a:ext cx="3567110" cy="6964356"/>
            </a:xfrm>
            <a:custGeom>
              <a:avLst/>
              <a:gdLst>
                <a:gd name="connsiteX0" fmla="*/ 48372 w 2603006"/>
                <a:gd name="connsiteY0" fmla="*/ 48372 h 5082060"/>
                <a:gd name="connsiteX1" fmla="*/ 767298 w 2603006"/>
                <a:gd name="connsiteY1" fmla="*/ 48372 h 5082060"/>
                <a:gd name="connsiteX2" fmla="*/ 2490241 w 2603006"/>
                <a:gd name="connsiteY2" fmla="*/ 5043666 h 5082060"/>
                <a:gd name="connsiteX3" fmla="*/ 1560595 w 2603006"/>
                <a:gd name="connsiteY3" fmla="*/ 5043666 h 5082060"/>
                <a:gd name="connsiteX4" fmla="*/ 48372 w 2603006"/>
                <a:gd name="connsiteY4" fmla="*/ 48372 h 5082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06" h="5082060">
                  <a:moveTo>
                    <a:pt x="48372" y="48372"/>
                  </a:moveTo>
                  <a:lnTo>
                    <a:pt x="767298" y="48372"/>
                  </a:lnTo>
                  <a:cubicBezTo>
                    <a:pt x="767298" y="48372"/>
                    <a:pt x="3010842" y="1287899"/>
                    <a:pt x="2490241" y="5043666"/>
                  </a:cubicBezTo>
                  <a:lnTo>
                    <a:pt x="1560595" y="5043666"/>
                  </a:lnTo>
                  <a:cubicBezTo>
                    <a:pt x="1560595" y="5043666"/>
                    <a:pt x="3444676" y="1201133"/>
                    <a:pt x="48372" y="48372"/>
                  </a:cubicBezTo>
                  <a:close/>
                </a:path>
              </a:pathLst>
            </a:custGeom>
            <a:solidFill>
              <a:srgbClr val="023DBF"/>
            </a:solidFill>
            <a:ln w="24781"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pPr/>
              <a:t>2021/12/25</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a:t>www.islide.cc</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Date Placeholder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pPr/>
              <a:t>2021/12/25</a:t>
            </a:fld>
            <a:endParaRPr lang="zh-CN" altLang="en-US"/>
          </a:p>
        </p:txBody>
      </p:sp>
      <p:sp>
        <p:nvSpPr>
          <p:cNvPr id="4" name="Footer Placeholder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a:t>www.islide.cc</a:t>
            </a:r>
            <a:endParaRPr lang="zh-CN" altLang="en-US" dirty="0"/>
          </a:p>
        </p:txBody>
      </p:sp>
      <p:sp>
        <p:nvSpPr>
          <p:cNvPr id="5" name="Slide Number Placeholder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文本框 8">
            <a:extLst>
              <a:ext uri="{FF2B5EF4-FFF2-40B4-BE49-F238E27FC236}">
                <a16:creationId xmlns:a16="http://schemas.microsoft.com/office/drawing/2014/main" id="{E5EE0683-969A-47AE-A81C-07A6AB80E295}"/>
              </a:ext>
            </a:extLst>
          </p:cNvPr>
          <p:cNvSpPr txBox="1"/>
          <p:nvPr userDrawn="1"/>
        </p:nvSpPr>
        <p:spPr>
          <a:xfrm>
            <a:off x="10222173" y="4700"/>
            <a:ext cx="2361063" cy="369332"/>
          </a:xfrm>
          <a:prstGeom prst="rect">
            <a:avLst/>
          </a:prstGeom>
          <a:noFill/>
        </p:spPr>
        <p:txBody>
          <a:bodyPr wrap="square" rtlCol="0">
            <a:spAutoFit/>
          </a:bodyPr>
          <a:lstStyle/>
          <a:p>
            <a:r>
              <a:rPr lang="zh-CN" altLang="en-US" b="1" dirty="0">
                <a:solidFill>
                  <a:schemeClr val="tx1"/>
                </a:solidFill>
                <a:latin typeface="华文楷体" panose="02010600040101010101" pitchFamily="2" charset="-122"/>
                <a:ea typeface="华文楷体" panose="02010600040101010101" pitchFamily="2" charset="-122"/>
              </a:rPr>
              <a:t>读书笔记挑战</a:t>
            </a:r>
            <a:r>
              <a:rPr lang="en-US" altLang="zh-CN" b="1" dirty="0">
                <a:solidFill>
                  <a:schemeClr val="tx1"/>
                </a:solidFill>
                <a:latin typeface="华文楷体" panose="02010600040101010101" pitchFamily="2" charset="-122"/>
                <a:ea typeface="华文楷体" panose="02010600040101010101" pitchFamily="2" charset="-122"/>
              </a:rPr>
              <a:t>30</a:t>
            </a:r>
            <a:r>
              <a:rPr lang="zh-CN" altLang="en-US" b="1" dirty="0">
                <a:solidFill>
                  <a:schemeClr val="tx1"/>
                </a:solidFill>
                <a:latin typeface="华文楷体" panose="02010600040101010101" pitchFamily="2" charset="-122"/>
                <a:ea typeface="华文楷体" panose="02010600040101010101" pitchFamily="2" charset="-122"/>
              </a:rPr>
              <a:t>天</a:t>
            </a:r>
          </a:p>
        </p:txBody>
      </p:sp>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tx1"/>
        </a:solidFill>
        <a:effectLst/>
      </p:bgPr>
    </p:bg>
    <p:spTree>
      <p:nvGrpSpPr>
        <p:cNvPr id="1" name=""/>
        <p:cNvGrpSpPr/>
        <p:nvPr/>
      </p:nvGrpSpPr>
      <p:grpSpPr>
        <a:xfrm>
          <a:off x="0" y="0"/>
          <a:ext cx="0" cy="0"/>
          <a:chOff x="0" y="0"/>
          <a:chExt cx="0" cy="0"/>
        </a:xfrm>
      </p:grpSpPr>
      <p:sp>
        <p:nvSpPr>
          <p:cNvPr id="10" name="任意多边形: 形状 9">
            <a:extLst>
              <a:ext uri="{FF2B5EF4-FFF2-40B4-BE49-F238E27FC236}">
                <a16:creationId xmlns:a16="http://schemas.microsoft.com/office/drawing/2014/main" id="{9B6A17DA-D20D-4059-B080-C2913E2D1696}"/>
              </a:ext>
            </a:extLst>
          </p:cNvPr>
          <p:cNvSpPr/>
          <p:nvPr userDrawn="1"/>
        </p:nvSpPr>
        <p:spPr>
          <a:xfrm rot="5400000">
            <a:off x="3026333" y="-3155894"/>
            <a:ext cx="6162789" cy="12398384"/>
          </a:xfrm>
          <a:custGeom>
            <a:avLst/>
            <a:gdLst>
              <a:gd name="connsiteX0" fmla="*/ 3457072 w 4611040"/>
              <a:gd name="connsiteY0" fmla="*/ 5018876 h 5057270"/>
              <a:gd name="connsiteX1" fmla="*/ 48372 w 4611040"/>
              <a:gd name="connsiteY1" fmla="*/ 5018876 h 5057270"/>
              <a:gd name="connsiteX2" fmla="*/ 48372 w 4611040"/>
              <a:gd name="connsiteY2" fmla="*/ 48372 h 5057270"/>
              <a:gd name="connsiteX3" fmla="*/ 2800122 w 4611040"/>
              <a:gd name="connsiteY3" fmla="*/ 48372 h 5057270"/>
              <a:gd name="connsiteX4" fmla="*/ 4572646 w 4611040"/>
              <a:gd name="connsiteY4" fmla="*/ 2192754 h 5057270"/>
              <a:gd name="connsiteX5" fmla="*/ 3457072 w 4611040"/>
              <a:gd name="connsiteY5" fmla="*/ 5018876 h 505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1040" h="5057270">
                <a:moveTo>
                  <a:pt x="3457072" y="5018876"/>
                </a:moveTo>
                <a:lnTo>
                  <a:pt x="48372" y="5018876"/>
                </a:lnTo>
                <a:lnTo>
                  <a:pt x="48372" y="48372"/>
                </a:lnTo>
                <a:lnTo>
                  <a:pt x="2800122" y="48372"/>
                </a:lnTo>
                <a:cubicBezTo>
                  <a:pt x="2800122" y="48372"/>
                  <a:pt x="4597437" y="370649"/>
                  <a:pt x="4572646" y="2192754"/>
                </a:cubicBezTo>
                <a:cubicBezTo>
                  <a:pt x="4572646" y="2192754"/>
                  <a:pt x="4572646" y="3717372"/>
                  <a:pt x="3457072" y="5018876"/>
                </a:cubicBezTo>
                <a:close/>
              </a:path>
            </a:pathLst>
          </a:custGeom>
          <a:blipFill dpi="0" rotWithShape="0">
            <a:blip r:embed="rId2" cstate="print">
              <a:alphaModFix amt="30000"/>
            </a:blip>
            <a:srcRect/>
            <a:stretch>
              <a:fillRect t="-1742" b="-14272"/>
            </a:stretch>
          </a:blipFill>
          <a:ln w="24781"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AF01AE82-4E54-492E-96F8-2042676E7435}"/>
              </a:ext>
            </a:extLst>
          </p:cNvPr>
          <p:cNvSpPr/>
          <p:nvPr userDrawn="1"/>
        </p:nvSpPr>
        <p:spPr>
          <a:xfrm rot="5400000">
            <a:off x="4559901" y="-1317072"/>
            <a:ext cx="3126132" cy="12367909"/>
          </a:xfrm>
          <a:custGeom>
            <a:avLst/>
            <a:gdLst>
              <a:gd name="connsiteX0" fmla="*/ 593764 w 2206358"/>
              <a:gd name="connsiteY0" fmla="*/ 48372 h 5057270"/>
              <a:gd name="connsiteX1" fmla="*/ 2118383 w 2206358"/>
              <a:gd name="connsiteY1" fmla="*/ 2304312 h 5057270"/>
              <a:gd name="connsiteX2" fmla="*/ 1907663 w 2206358"/>
              <a:gd name="connsiteY2" fmla="*/ 5031271 h 5057270"/>
              <a:gd name="connsiteX3" fmla="*/ 692926 w 2206358"/>
              <a:gd name="connsiteY3" fmla="*/ 5031271 h 5057270"/>
              <a:gd name="connsiteX4" fmla="*/ 1796106 w 2206358"/>
              <a:gd name="connsiteY4" fmla="*/ 1833291 h 5057270"/>
              <a:gd name="connsiteX5" fmla="*/ 48372 w 2206358"/>
              <a:gd name="connsiteY5" fmla="*/ 60768 h 5057270"/>
              <a:gd name="connsiteX6" fmla="*/ 593764 w 2206358"/>
              <a:gd name="connsiteY6" fmla="*/ 48372 h 505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6358" h="5057270">
                <a:moveTo>
                  <a:pt x="593764" y="48372"/>
                </a:moveTo>
                <a:cubicBezTo>
                  <a:pt x="593764" y="48372"/>
                  <a:pt x="1870477" y="506997"/>
                  <a:pt x="2118383" y="2304312"/>
                </a:cubicBezTo>
                <a:cubicBezTo>
                  <a:pt x="2118383" y="2304312"/>
                  <a:pt x="2304312" y="3568629"/>
                  <a:pt x="1907663" y="5031271"/>
                </a:cubicBezTo>
                <a:lnTo>
                  <a:pt x="692926" y="5031271"/>
                </a:lnTo>
                <a:cubicBezTo>
                  <a:pt x="692926" y="5031271"/>
                  <a:pt x="1932453" y="3457072"/>
                  <a:pt x="1796106" y="1833291"/>
                </a:cubicBezTo>
                <a:cubicBezTo>
                  <a:pt x="1796106" y="1833291"/>
                  <a:pt x="1783710" y="643345"/>
                  <a:pt x="48372" y="60768"/>
                </a:cubicBezTo>
                <a:lnTo>
                  <a:pt x="593764" y="48372"/>
                </a:lnTo>
                <a:close/>
              </a:path>
            </a:pathLst>
          </a:custGeom>
          <a:solidFill>
            <a:srgbClr val="023DBF">
              <a:alpha val="34000"/>
            </a:srgbClr>
          </a:solidFill>
          <a:ln w="24781"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BFC9240F-0812-4672-8FA9-5A0EA747DFD1}"/>
              </a:ext>
            </a:extLst>
          </p:cNvPr>
          <p:cNvSpPr/>
          <p:nvPr userDrawn="1"/>
        </p:nvSpPr>
        <p:spPr>
          <a:xfrm rot="5400000">
            <a:off x="4558572" y="-1544566"/>
            <a:ext cx="3106117" cy="12390577"/>
          </a:xfrm>
          <a:custGeom>
            <a:avLst/>
            <a:gdLst>
              <a:gd name="connsiteX0" fmla="*/ 48372 w 2305520"/>
              <a:gd name="connsiteY0" fmla="*/ 48372 h 5057270"/>
              <a:gd name="connsiteX1" fmla="*/ 618555 w 2305520"/>
              <a:gd name="connsiteY1" fmla="*/ 48372 h 5057270"/>
              <a:gd name="connsiteX2" fmla="*/ 1957244 w 2305520"/>
              <a:gd name="connsiteY2" fmla="*/ 5018876 h 5057270"/>
              <a:gd name="connsiteX3" fmla="*/ 1572991 w 2305520"/>
              <a:gd name="connsiteY3" fmla="*/ 5018876 h 5057270"/>
              <a:gd name="connsiteX4" fmla="*/ 48372 w 2305520"/>
              <a:gd name="connsiteY4" fmla="*/ 48372 h 5057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520" h="5057270">
                <a:moveTo>
                  <a:pt x="48372" y="48372"/>
                </a:moveTo>
                <a:lnTo>
                  <a:pt x="618555" y="48372"/>
                </a:lnTo>
                <a:cubicBezTo>
                  <a:pt x="618555" y="48372"/>
                  <a:pt x="3147190" y="717717"/>
                  <a:pt x="1957244" y="5018876"/>
                </a:cubicBezTo>
                <a:lnTo>
                  <a:pt x="1572991" y="5018876"/>
                </a:lnTo>
                <a:cubicBezTo>
                  <a:pt x="1572991" y="5018876"/>
                  <a:pt x="3432281" y="1287899"/>
                  <a:pt x="48372" y="48372"/>
                </a:cubicBezTo>
                <a:close/>
              </a:path>
            </a:pathLst>
          </a:custGeom>
          <a:solidFill>
            <a:schemeClr val="accent1">
              <a:alpha val="62000"/>
            </a:schemeClr>
          </a:solidFill>
          <a:ln w="24781"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B66987E4-6791-4A97-A983-F13ED0750CEC}"/>
              </a:ext>
            </a:extLst>
          </p:cNvPr>
          <p:cNvSpPr/>
          <p:nvPr userDrawn="1"/>
        </p:nvSpPr>
        <p:spPr>
          <a:xfrm rot="5400000">
            <a:off x="4465457" y="-1160655"/>
            <a:ext cx="3261091" cy="12398386"/>
          </a:xfrm>
          <a:custGeom>
            <a:avLst/>
            <a:gdLst>
              <a:gd name="connsiteX0" fmla="*/ 48372 w 2603006"/>
              <a:gd name="connsiteY0" fmla="*/ 48372 h 5082060"/>
              <a:gd name="connsiteX1" fmla="*/ 767298 w 2603006"/>
              <a:gd name="connsiteY1" fmla="*/ 48372 h 5082060"/>
              <a:gd name="connsiteX2" fmla="*/ 2490241 w 2603006"/>
              <a:gd name="connsiteY2" fmla="*/ 5043666 h 5082060"/>
              <a:gd name="connsiteX3" fmla="*/ 1560595 w 2603006"/>
              <a:gd name="connsiteY3" fmla="*/ 5043666 h 5082060"/>
              <a:gd name="connsiteX4" fmla="*/ 48372 w 2603006"/>
              <a:gd name="connsiteY4" fmla="*/ 48372 h 5082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06" h="5082060">
                <a:moveTo>
                  <a:pt x="48372" y="48372"/>
                </a:moveTo>
                <a:lnTo>
                  <a:pt x="767298" y="48372"/>
                </a:lnTo>
                <a:cubicBezTo>
                  <a:pt x="767298" y="48372"/>
                  <a:pt x="3010842" y="1287899"/>
                  <a:pt x="2490241" y="5043666"/>
                </a:cubicBezTo>
                <a:lnTo>
                  <a:pt x="1560595" y="5043666"/>
                </a:lnTo>
                <a:cubicBezTo>
                  <a:pt x="1560595" y="5043666"/>
                  <a:pt x="3444676" y="1201133"/>
                  <a:pt x="48372" y="48372"/>
                </a:cubicBezTo>
                <a:close/>
              </a:path>
            </a:pathLst>
          </a:custGeom>
          <a:solidFill>
            <a:schemeClr val="accent2"/>
          </a:solidFill>
          <a:ln w="24781" cap="flat">
            <a:noFill/>
            <a:prstDash val="solid"/>
            <a:miter/>
          </a:ln>
        </p:spPr>
        <p:txBody>
          <a:bodyPr rtlCol="0" anchor="ctr"/>
          <a:lstStyle/>
          <a:p>
            <a:endParaRPr lang="zh-CN" altLang="en-US"/>
          </a:p>
        </p:txBody>
      </p:sp>
      <p:sp>
        <p:nvSpPr>
          <p:cNvPr id="15" name="文本占位符 62"/>
          <p:cNvSpPr>
            <a:spLocks noGrp="1"/>
          </p:cNvSpPr>
          <p:nvPr userDrawn="1">
            <p:ph type="body" sz="quarter" idx="18" hasCustomPrompt="1"/>
          </p:nvPr>
        </p:nvSpPr>
        <p:spPr>
          <a:xfrm>
            <a:off x="3975100" y="4010916"/>
            <a:ext cx="4470400" cy="310871"/>
          </a:xfrm>
        </p:spPr>
        <p:txBody>
          <a:bodyPr vert="horz" lIns="91440" tIns="45720" rIns="91440" bIns="45720" rtlCol="0">
            <a:normAutofit/>
          </a:bodyPr>
          <a:lstStyle>
            <a:lvl1pPr marL="0" indent="0" algn="ctr">
              <a:buNone/>
              <a:defRPr lang="zh-CN" altLang="en-US" sz="1500" smtClean="0">
                <a:solidFill>
                  <a:schemeClr val="accent5"/>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a16="http://schemas.microsoft.com/office/drawing/2014/main" id="{05EBDA4F-7210-4CAE-8333-80DB24212E78}"/>
              </a:ext>
            </a:extLst>
          </p:cNvPr>
          <p:cNvSpPr>
            <a:spLocks noGrp="1"/>
          </p:cNvSpPr>
          <p:nvPr userDrawn="1">
            <p:ph type="body" sz="quarter" idx="10" hasCustomPrompt="1"/>
          </p:nvPr>
        </p:nvSpPr>
        <p:spPr>
          <a:xfrm>
            <a:off x="3975100" y="3714645"/>
            <a:ext cx="4470400" cy="296271"/>
          </a:xfrm>
        </p:spPr>
        <p:txBody>
          <a:bodyPr vert="horz" anchor="ctr">
            <a:noAutofit/>
          </a:bodyPr>
          <a:lstStyle>
            <a:lvl1pPr marL="0" indent="0" algn="ctr">
              <a:buNone/>
              <a:defRPr sz="1500" b="0">
                <a:solidFill>
                  <a:schemeClr val="accent5"/>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标题 1"/>
          <p:cNvSpPr>
            <a:spLocks noGrp="1"/>
          </p:cNvSpPr>
          <p:nvPr userDrawn="1">
            <p:ph type="ctrTitle" hasCustomPrompt="1"/>
          </p:nvPr>
        </p:nvSpPr>
        <p:spPr>
          <a:xfrm>
            <a:off x="3975101" y="2195285"/>
            <a:ext cx="4470400" cy="1332948"/>
          </a:xfrm>
        </p:spPr>
        <p:txBody>
          <a:bodyPr anchor="b">
            <a:normAutofit/>
          </a:bodyPr>
          <a:lstStyle>
            <a:lvl1pPr marL="0" indent="0" algn="ctr">
              <a:buFont typeface="Arial" panose="020B0604020202020204" pitchFamily="34" charset="0"/>
              <a:buNone/>
              <a:defRPr sz="3600">
                <a:solidFill>
                  <a:schemeClr val="accent5"/>
                </a:solidFill>
              </a:defRPr>
            </a:lvl1pPr>
          </a:lstStyle>
          <a:p>
            <a:r>
              <a:rPr lang="en-US" altLang="zh-CN" dirty="0"/>
              <a:t>Conclusion</a:t>
            </a:r>
            <a:endParaRPr lang="zh-CN" altLang="en-US" dirty="0"/>
          </a:p>
        </p:txBody>
      </p:sp>
      <p:sp>
        <p:nvSpPr>
          <p:cNvPr id="9" name="文本框 8">
            <a:extLst>
              <a:ext uri="{FF2B5EF4-FFF2-40B4-BE49-F238E27FC236}">
                <a16:creationId xmlns:a16="http://schemas.microsoft.com/office/drawing/2014/main" id="{5140A4C0-F4C0-4FA0-9CDE-DB2CA2AFEFE3}"/>
              </a:ext>
            </a:extLst>
          </p:cNvPr>
          <p:cNvSpPr txBox="1"/>
          <p:nvPr userDrawn="1"/>
        </p:nvSpPr>
        <p:spPr>
          <a:xfrm>
            <a:off x="10222173" y="4700"/>
            <a:ext cx="2361063" cy="369332"/>
          </a:xfrm>
          <a:prstGeom prst="rect">
            <a:avLst/>
          </a:prstGeom>
          <a:noFill/>
        </p:spPr>
        <p:txBody>
          <a:bodyPr wrap="square" rtlCol="0">
            <a:spAutoFit/>
          </a:bodyPr>
          <a:lstStyle/>
          <a:p>
            <a:r>
              <a:rPr lang="zh-CN" altLang="en-US" b="1" dirty="0">
                <a:solidFill>
                  <a:schemeClr val="bg1"/>
                </a:solidFill>
                <a:latin typeface="华文楷体" panose="02010600040101010101" pitchFamily="2" charset="-122"/>
                <a:ea typeface="华文楷体" panose="02010600040101010101" pitchFamily="2" charset="-122"/>
              </a:rPr>
              <a:t>读书笔记挑战</a:t>
            </a:r>
            <a:r>
              <a:rPr lang="en-US" altLang="zh-CN" b="1" dirty="0">
                <a:solidFill>
                  <a:schemeClr val="bg1"/>
                </a:solidFill>
                <a:latin typeface="华文楷体" panose="02010600040101010101" pitchFamily="2" charset="-122"/>
                <a:ea typeface="华文楷体" panose="02010600040101010101" pitchFamily="2" charset="-122"/>
              </a:rPr>
              <a:t>30</a:t>
            </a:r>
            <a:r>
              <a:rPr lang="zh-CN" altLang="en-US" b="1" dirty="0">
                <a:solidFill>
                  <a:schemeClr val="bg1"/>
                </a:solidFill>
                <a:latin typeface="华文楷体" panose="02010600040101010101" pitchFamily="2" charset="-122"/>
                <a:ea typeface="华文楷体" panose="02010600040101010101" pitchFamily="2" charset="-122"/>
              </a:rPr>
              <a:t>天</a:t>
            </a:r>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3">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pPr/>
              <a:t>2021/12/25</a:t>
            </a:fld>
            <a:endParaRPr lang="zh-CN" altLang="en-US"/>
          </a:p>
        </p:txBody>
      </p:sp>
      <p:sp>
        <p:nvSpPr>
          <p:cNvPr id="9" name="页脚占位符 4">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2.emf"/><Relationship Id="rId2" Type="http://schemas.openxmlformats.org/officeDocument/2006/relationships/vmlDrawing" Target="../drawings/vmlDrawing1.vml"/><Relationship Id="rId1" Type="http://schemas.openxmlformats.org/officeDocument/2006/relationships/themeOverride" Target="../theme/themeOverride1.xml"/><Relationship Id="rId6" Type="http://schemas.openxmlformats.org/officeDocument/2006/relationships/oleObject" Target="../embeddings/oleObject1.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2.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extLst>
              <p:ext uri="{D42A27DB-BD31-4B8C-83A1-F6EECF244321}">
                <p14:modId xmlns:p14="http://schemas.microsoft.com/office/powerpoint/2010/main" val="2584086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23" name="think-cell Slide" r:id="rId6" imgW="360" imgH="360" progId="">
                  <p:embed/>
                </p:oleObj>
              </mc:Choice>
              <mc:Fallback>
                <p:oleObj name="think-cell Slide" r:id="rId6" imgW="360" imgH="360" progId="">
                  <p:embed/>
                  <p:pic>
                    <p:nvPicPr>
                      <p:cNvPr id="0" name="Picture 9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469353" y="668461"/>
            <a:ext cx="5192992" cy="3091026"/>
          </a:xfrm>
        </p:spPr>
        <p:txBody>
          <a:bodyPr>
            <a:normAutofit/>
          </a:bodyPr>
          <a:lstStyle/>
          <a:p>
            <a:pPr algn="ctr"/>
            <a:r>
              <a:rPr lang="zh-CN" altLang="en-US" sz="3600" dirty="0">
                <a:solidFill>
                  <a:srgbClr val="1277FE"/>
                </a:solidFill>
              </a:rPr>
              <a:t>                   进步同行</a:t>
            </a:r>
            <a:br>
              <a:rPr lang="en-US" altLang="zh-CN" sz="4800" u="sng" dirty="0">
                <a:solidFill>
                  <a:srgbClr val="1277FE"/>
                </a:solidFill>
              </a:rPr>
            </a:br>
            <a:br>
              <a:rPr lang="en-US" altLang="zh-CN" sz="4800" u="sng" dirty="0">
                <a:solidFill>
                  <a:srgbClr val="1277FE"/>
                </a:solidFill>
              </a:rPr>
            </a:br>
            <a:r>
              <a:rPr lang="zh-CN" altLang="en-US" sz="4800" u="sng" dirty="0">
                <a:solidFill>
                  <a:srgbClr val="F3EED9"/>
                </a:solidFill>
              </a:rPr>
              <a:t>读书笔记挑战</a:t>
            </a:r>
            <a:r>
              <a:rPr lang="en-US" altLang="zh-CN" sz="4800" u="sng" dirty="0">
                <a:solidFill>
                  <a:srgbClr val="F3EED9"/>
                </a:solidFill>
              </a:rPr>
              <a:t>30</a:t>
            </a:r>
            <a:r>
              <a:rPr lang="zh-CN" altLang="en-US" sz="4800" u="sng" dirty="0">
                <a:solidFill>
                  <a:srgbClr val="F3EED9"/>
                </a:solidFill>
              </a:rPr>
              <a:t>天</a:t>
            </a:r>
            <a:endParaRPr lang="zh-CN" altLang="en-US" sz="4400" u="sng" dirty="0">
              <a:solidFill>
                <a:srgbClr val="F3EED9"/>
              </a:solidFill>
            </a:endParaRPr>
          </a:p>
        </p:txBody>
      </p:sp>
      <p:sp>
        <p:nvSpPr>
          <p:cNvPr id="6" name="文本占位符 5"/>
          <p:cNvSpPr>
            <a:spLocks noGrp="1"/>
          </p:cNvSpPr>
          <p:nvPr>
            <p:ph type="body" sz="quarter" idx="10"/>
          </p:nvPr>
        </p:nvSpPr>
        <p:spPr>
          <a:xfrm>
            <a:off x="6021660" y="4140487"/>
            <a:ext cx="6170340" cy="829758"/>
          </a:xfrm>
        </p:spPr>
        <p:txBody>
          <a:bodyPr/>
          <a:lstStyle/>
          <a:p>
            <a:pPr algn="r"/>
            <a:r>
              <a:rPr lang="zh-CN" altLang="en-US" sz="2400" dirty="0">
                <a:solidFill>
                  <a:srgbClr val="F3EED9"/>
                </a:solidFill>
                <a:latin typeface="STKaiti" panose="02010600040101010101" pitchFamily="2" charset="-122"/>
                <a:ea typeface="STKaiti" panose="02010600040101010101" pitchFamily="2" charset="-122"/>
              </a:rPr>
              <a:t>书名：</a:t>
            </a:r>
            <a:r>
              <a:rPr lang="en-US" altLang="zh-CN" sz="2400" dirty="0">
                <a:solidFill>
                  <a:srgbClr val="F3EED9"/>
                </a:solidFill>
                <a:latin typeface="STKaiti" panose="02010600040101010101" pitchFamily="2" charset="-122"/>
                <a:ea typeface="STKaiti" panose="02010600040101010101" pitchFamily="2" charset="-122"/>
              </a:rPr>
              <a:t>《</a:t>
            </a:r>
            <a:r>
              <a:rPr lang="zh-CN" altLang="en-US" sz="2400" dirty="0">
                <a:solidFill>
                  <a:srgbClr val="F3EED9"/>
                </a:solidFill>
                <a:latin typeface="STKaiti" panose="02010600040101010101" pitchFamily="2" charset="-122"/>
                <a:ea typeface="STKaiti" panose="02010600040101010101" pitchFamily="2" charset="-122"/>
              </a:rPr>
              <a:t>现代企业架构框架白皮书</a:t>
            </a:r>
            <a:r>
              <a:rPr lang="en-US" altLang="zh-CN" sz="2400" dirty="0">
                <a:solidFill>
                  <a:srgbClr val="F3EED9"/>
                </a:solidFill>
                <a:latin typeface="STKaiti" panose="02010600040101010101" pitchFamily="2" charset="-122"/>
                <a:ea typeface="STKaiti" panose="02010600040101010101" pitchFamily="2" charset="-122"/>
              </a:rPr>
              <a:t>》</a:t>
            </a:r>
          </a:p>
          <a:p>
            <a:pPr algn="r"/>
            <a:r>
              <a:rPr lang="zh-CN" altLang="en-US" sz="2400" dirty="0">
                <a:solidFill>
                  <a:srgbClr val="F3EED9"/>
                </a:solidFill>
                <a:latin typeface="STKaiti" panose="02010600040101010101" pitchFamily="2" charset="-122"/>
                <a:ea typeface="STKaiti" panose="02010600040101010101" pitchFamily="2" charset="-122"/>
              </a:rPr>
              <a:t>笔记作者姓名：无声笛</a:t>
            </a:r>
            <a:endParaRPr lang="en-US" altLang="zh-CN" sz="2400" dirty="0">
              <a:solidFill>
                <a:srgbClr val="F3EED9"/>
              </a:solidFill>
              <a:latin typeface="STKaiti" panose="02010600040101010101" pitchFamily="2" charset="-122"/>
              <a:ea typeface="STKaiti" panose="02010600040101010101" pitchFamily="2" charset="-122"/>
            </a:endParaRPr>
          </a:p>
        </p:txBody>
      </p:sp>
      <p:sp>
        <p:nvSpPr>
          <p:cNvPr id="11" name="文本框 10">
            <a:extLst>
              <a:ext uri="{FF2B5EF4-FFF2-40B4-BE49-F238E27FC236}">
                <a16:creationId xmlns:a16="http://schemas.microsoft.com/office/drawing/2014/main" id="{8D9B5D46-20DC-4C2E-A403-782F5098108C}"/>
              </a:ext>
            </a:extLst>
          </p:cNvPr>
          <p:cNvSpPr txBox="1"/>
          <p:nvPr/>
        </p:nvSpPr>
        <p:spPr>
          <a:xfrm>
            <a:off x="-163773" y="6558170"/>
            <a:ext cx="2920621" cy="369332"/>
          </a:xfrm>
          <a:prstGeom prst="rect">
            <a:avLst/>
          </a:prstGeom>
          <a:noFill/>
        </p:spPr>
        <p:txBody>
          <a:bodyPr wrap="square" rtlCol="0">
            <a:spAutoFit/>
          </a:bodyPr>
          <a:lstStyle/>
          <a:p>
            <a:r>
              <a:rPr lang="zh-CN" altLang="en-US" dirty="0">
                <a:solidFill>
                  <a:schemeClr val="bg1"/>
                </a:solidFill>
                <a:latin typeface="华文楷体" panose="02010600040101010101" pitchFamily="2" charset="-122"/>
                <a:ea typeface="华文楷体" panose="02010600040101010101" pitchFamily="2" charset="-122"/>
              </a:rPr>
              <a:t>“球迷</a:t>
            </a:r>
            <a:r>
              <a:rPr lang="en-US" altLang="zh-CN" dirty="0">
                <a:solidFill>
                  <a:schemeClr val="bg1"/>
                </a:solidFill>
                <a:latin typeface="华文楷体" panose="02010600040101010101" pitchFamily="2" charset="-122"/>
                <a:ea typeface="华文楷体" panose="02010600040101010101" pitchFamily="2" charset="-122"/>
              </a:rPr>
              <a:t>Long</a:t>
            </a:r>
            <a:r>
              <a:rPr lang="zh-CN" altLang="en-US" dirty="0">
                <a:solidFill>
                  <a:schemeClr val="bg1"/>
                </a:solidFill>
                <a:latin typeface="华文楷体" panose="02010600040101010101" pitchFamily="2" charset="-122"/>
                <a:ea typeface="华文楷体" panose="02010600040101010101" pitchFamily="2" charset="-122"/>
              </a:rPr>
              <a:t>笔记” 组织</a:t>
            </a:r>
          </a:p>
        </p:txBody>
      </p:sp>
    </p:spTree>
    <p:custDataLst>
      <p:tags r:id="rId3"/>
    </p:custDataLst>
    <p:extLst>
      <p:ext uri="{BB962C8B-B14F-4D97-AF65-F5344CB8AC3E}">
        <p14:creationId xmlns:p14="http://schemas.microsoft.com/office/powerpoint/2010/main" val="227174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8">
            <a:extLst>
              <a:ext uri="{FF2B5EF4-FFF2-40B4-BE49-F238E27FC236}">
                <a16:creationId xmlns:a16="http://schemas.microsoft.com/office/drawing/2014/main" id="{299BC2D0-A78F-4252-9D6F-1C0293A3CDED}"/>
              </a:ext>
            </a:extLst>
          </p:cNvPr>
          <p:cNvSpPr txBox="1"/>
          <p:nvPr/>
        </p:nvSpPr>
        <p:spPr>
          <a:xfrm>
            <a:off x="-163773" y="6558170"/>
            <a:ext cx="2920621" cy="369332"/>
          </a:xfrm>
          <a:prstGeom prst="rect">
            <a:avLst/>
          </a:prstGeom>
          <a:noFill/>
        </p:spPr>
        <p:txBody>
          <a:bodyPr wrap="square" rtlCol="0">
            <a:spAutoFit/>
          </a:bodyPr>
          <a:lstStyle/>
          <a:p>
            <a:r>
              <a:rPr lang="zh-CN" altLang="en-US" dirty="0">
                <a:solidFill>
                  <a:schemeClr val="accent2">
                    <a:lumMod val="75000"/>
                  </a:schemeClr>
                </a:solidFill>
                <a:latin typeface="华文楷体" panose="02010600040101010101" pitchFamily="2" charset="-122"/>
                <a:ea typeface="华文楷体" panose="02010600040101010101" pitchFamily="2" charset="-122"/>
              </a:rPr>
              <a:t>“球迷</a:t>
            </a:r>
            <a:r>
              <a:rPr lang="en-US" altLang="zh-CN" dirty="0">
                <a:solidFill>
                  <a:schemeClr val="accent2">
                    <a:lumMod val="75000"/>
                  </a:schemeClr>
                </a:solidFill>
                <a:latin typeface="华文楷体" panose="02010600040101010101" pitchFamily="2" charset="-122"/>
                <a:ea typeface="华文楷体" panose="02010600040101010101" pitchFamily="2" charset="-122"/>
              </a:rPr>
              <a:t>Long</a:t>
            </a:r>
            <a:r>
              <a:rPr lang="zh-CN" altLang="en-US" dirty="0">
                <a:solidFill>
                  <a:schemeClr val="accent2">
                    <a:lumMod val="75000"/>
                  </a:schemeClr>
                </a:solidFill>
                <a:latin typeface="华文楷体" panose="02010600040101010101" pitchFamily="2" charset="-122"/>
                <a:ea typeface="华文楷体" panose="02010600040101010101" pitchFamily="2" charset="-122"/>
              </a:rPr>
              <a:t>笔记” 组织</a:t>
            </a:r>
          </a:p>
        </p:txBody>
      </p:sp>
      <p:pic>
        <p:nvPicPr>
          <p:cNvPr id="6" name="图片 5">
            <a:extLst>
              <a:ext uri="{FF2B5EF4-FFF2-40B4-BE49-F238E27FC236}">
                <a16:creationId xmlns:a16="http://schemas.microsoft.com/office/drawing/2014/main" id="{635F939B-88D1-43C3-B913-A105BE590CD5}"/>
              </a:ext>
            </a:extLst>
          </p:cNvPr>
          <p:cNvPicPr>
            <a:picLocks noChangeAspect="1"/>
          </p:cNvPicPr>
          <p:nvPr/>
        </p:nvPicPr>
        <p:blipFill>
          <a:blip r:embed="rId3"/>
          <a:stretch>
            <a:fillRect/>
          </a:stretch>
        </p:blipFill>
        <p:spPr>
          <a:xfrm>
            <a:off x="1776350" y="0"/>
            <a:ext cx="8639299" cy="6858000"/>
          </a:xfrm>
          <a:prstGeom prst="rect">
            <a:avLst/>
          </a:prstGeom>
        </p:spPr>
      </p:pic>
      <p:sp>
        <p:nvSpPr>
          <p:cNvPr id="7" name="矩形 6">
            <a:extLst>
              <a:ext uri="{FF2B5EF4-FFF2-40B4-BE49-F238E27FC236}">
                <a16:creationId xmlns:a16="http://schemas.microsoft.com/office/drawing/2014/main" id="{82715A10-2DE1-4DEF-9C2E-FC3DAFA2563E}"/>
              </a:ext>
            </a:extLst>
          </p:cNvPr>
          <p:cNvSpPr/>
          <p:nvPr/>
        </p:nvSpPr>
        <p:spPr>
          <a:xfrm>
            <a:off x="5524901" y="1126156"/>
            <a:ext cx="1106905" cy="182880"/>
          </a:xfrm>
          <a:prstGeom prst="rect">
            <a:avLst/>
          </a:prstGeom>
          <a:solidFill>
            <a:srgbClr val="444D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44D92"/>
              </a:solidFill>
            </a:endParaRPr>
          </a:p>
        </p:txBody>
      </p:sp>
      <p:sp>
        <p:nvSpPr>
          <p:cNvPr id="8" name="文本框 7">
            <a:extLst>
              <a:ext uri="{FF2B5EF4-FFF2-40B4-BE49-F238E27FC236}">
                <a16:creationId xmlns:a16="http://schemas.microsoft.com/office/drawing/2014/main" id="{51FC7AA4-0DAD-4DA7-B996-911F26D44BDB}"/>
              </a:ext>
            </a:extLst>
          </p:cNvPr>
          <p:cNvSpPr txBox="1"/>
          <p:nvPr/>
        </p:nvSpPr>
        <p:spPr>
          <a:xfrm>
            <a:off x="86627" y="67377"/>
            <a:ext cx="2117558" cy="369332"/>
          </a:xfrm>
          <a:prstGeom prst="rect">
            <a:avLst/>
          </a:prstGeom>
          <a:noFill/>
        </p:spPr>
        <p:txBody>
          <a:bodyPr wrap="square" rtlCol="0">
            <a:spAutoFit/>
          </a:bodyPr>
          <a:lstStyle/>
          <a:p>
            <a:r>
              <a:rPr lang="en-US" altLang="zh-CN" b="1" dirty="0">
                <a:latin typeface="+mn-ea"/>
              </a:rPr>
              <a:t>TOGAF</a:t>
            </a:r>
            <a:r>
              <a:rPr lang="zh-CN" altLang="en-US" b="1" dirty="0">
                <a:latin typeface="+mn-ea"/>
              </a:rPr>
              <a:t>标准结构</a:t>
            </a:r>
          </a:p>
        </p:txBody>
      </p:sp>
    </p:spTree>
    <p:extLst>
      <p:ext uri="{BB962C8B-B14F-4D97-AF65-F5344CB8AC3E}">
        <p14:creationId xmlns:p14="http://schemas.microsoft.com/office/powerpoint/2010/main" val="3907360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a:extLst>
              <a:ext uri="{FF2B5EF4-FFF2-40B4-BE49-F238E27FC236}">
                <a16:creationId xmlns:a16="http://schemas.microsoft.com/office/drawing/2014/main" id="{595C6EE2-20C2-427E-AC68-402A582DA5DA}"/>
              </a:ext>
            </a:extLst>
          </p:cNvPr>
          <p:cNvSpPr/>
          <p:nvPr/>
        </p:nvSpPr>
        <p:spPr>
          <a:xfrm>
            <a:off x="1120971" y="1573143"/>
            <a:ext cx="3706166" cy="3706166"/>
          </a:xfrm>
          <a:prstGeom prst="ellipse">
            <a:avLst/>
          </a:prstGeom>
          <a:gradFill>
            <a:gsLst>
              <a:gs pos="30000">
                <a:srgbClr val="EFC49C"/>
              </a:gs>
              <a:gs pos="76000">
                <a:schemeClr val="accent4"/>
              </a:gs>
            </a:gsLst>
            <a:path path="circle">
              <a:fillToRect r="100000" b="100000"/>
            </a:path>
          </a:gradFill>
          <a:ln>
            <a:noFill/>
          </a:ln>
          <a:effectLst>
            <a:outerShdw blurRad="520700" dist="228600" dir="5400000" algn="t" rotWithShape="0">
              <a:srgbClr val="EFC49C">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8" name="椭圆 7">
            <a:extLst>
              <a:ext uri="{FF2B5EF4-FFF2-40B4-BE49-F238E27FC236}">
                <a16:creationId xmlns:a16="http://schemas.microsoft.com/office/drawing/2014/main" id="{55E0D1C2-4314-4D65-8146-CCB7F084D1FC}"/>
              </a:ext>
            </a:extLst>
          </p:cNvPr>
          <p:cNvSpPr/>
          <p:nvPr/>
        </p:nvSpPr>
        <p:spPr>
          <a:xfrm>
            <a:off x="-1289914" y="-837742"/>
            <a:ext cx="8527934" cy="8527934"/>
          </a:xfrm>
          <a:prstGeom prst="ellipse">
            <a:avLst/>
          </a:prstGeom>
          <a:noFill/>
          <a:ln w="28575" cap="flat" cmpd="sng" algn="ctr">
            <a:gradFill>
              <a:gsLst>
                <a:gs pos="0">
                  <a:srgbClr val="CA865F"/>
                </a:gs>
                <a:gs pos="87000">
                  <a:srgbClr val="CA865F">
                    <a:alpha val="0"/>
                  </a:srgbClr>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Regular"/>
              <a:ea typeface="思源黑体 CN Regular"/>
              <a:cs typeface="+mn-cs"/>
            </a:endParaRPr>
          </a:p>
        </p:txBody>
      </p:sp>
      <p:sp>
        <p:nvSpPr>
          <p:cNvPr id="9" name="椭圆 8">
            <a:extLst>
              <a:ext uri="{FF2B5EF4-FFF2-40B4-BE49-F238E27FC236}">
                <a16:creationId xmlns:a16="http://schemas.microsoft.com/office/drawing/2014/main" id="{E4A0894B-0383-495D-B7A0-842054438992}"/>
              </a:ext>
            </a:extLst>
          </p:cNvPr>
          <p:cNvSpPr/>
          <p:nvPr/>
        </p:nvSpPr>
        <p:spPr>
          <a:xfrm>
            <a:off x="-9331" y="442841"/>
            <a:ext cx="5966768" cy="5966768"/>
          </a:xfrm>
          <a:prstGeom prst="ellipse">
            <a:avLst/>
          </a:prstGeom>
          <a:noFill/>
          <a:ln w="12700" cap="flat" cmpd="sng" algn="ctr">
            <a:gradFill flip="none" rotWithShape="1">
              <a:gsLst>
                <a:gs pos="0">
                  <a:srgbClr val="EFC49C"/>
                </a:gs>
                <a:gs pos="87000">
                  <a:srgbClr val="EFC49C">
                    <a:alpha val="0"/>
                  </a:srgbClr>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0" name="椭圆 9">
            <a:extLst>
              <a:ext uri="{FF2B5EF4-FFF2-40B4-BE49-F238E27FC236}">
                <a16:creationId xmlns:a16="http://schemas.microsoft.com/office/drawing/2014/main" id="{4424F561-74F8-4816-996C-D51F87DA1990}"/>
              </a:ext>
            </a:extLst>
          </p:cNvPr>
          <p:cNvSpPr/>
          <p:nvPr/>
        </p:nvSpPr>
        <p:spPr>
          <a:xfrm>
            <a:off x="-5010564" y="-4558392"/>
            <a:ext cx="15969234" cy="15969234"/>
          </a:xfrm>
          <a:prstGeom prst="ellipse">
            <a:avLst/>
          </a:prstGeom>
          <a:noFill/>
          <a:ln w="28575" cap="flat" cmpd="sng" algn="ctr">
            <a:gradFill flip="none" rotWithShape="1">
              <a:gsLst>
                <a:gs pos="0">
                  <a:srgbClr val="EFC49C"/>
                </a:gs>
                <a:gs pos="96000">
                  <a:srgbClr val="EFC49C">
                    <a:alpha val="0"/>
                  </a:srgbClr>
                </a:gs>
              </a:gsLst>
              <a:lin ang="18900000" scaled="1"/>
              <a:tileRect/>
            </a:gradFill>
            <a:prstDash val="sysDot"/>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1" name="椭圆 10">
            <a:extLst>
              <a:ext uri="{FF2B5EF4-FFF2-40B4-BE49-F238E27FC236}">
                <a16:creationId xmlns:a16="http://schemas.microsoft.com/office/drawing/2014/main" id="{8F9E4BE3-60D5-431E-B03B-B5E877F0B359}"/>
              </a:ext>
            </a:extLst>
          </p:cNvPr>
          <p:cNvSpPr/>
          <p:nvPr/>
        </p:nvSpPr>
        <p:spPr>
          <a:xfrm>
            <a:off x="-5886053" y="-5433881"/>
            <a:ext cx="17720212" cy="17720212"/>
          </a:xfrm>
          <a:prstGeom prst="ellipse">
            <a:avLst/>
          </a:prstGeom>
          <a:noFill/>
          <a:ln w="12700" cap="flat" cmpd="sng" algn="ctr">
            <a:gradFill flip="none" rotWithShape="1">
              <a:gsLst>
                <a:gs pos="0">
                  <a:srgbClr val="CA865F"/>
                </a:gs>
                <a:gs pos="4000">
                  <a:srgbClr val="CA865F">
                    <a:alpha val="0"/>
                  </a:srgbClr>
                </a:gs>
              </a:gsLst>
              <a:lin ang="108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Regular"/>
              <a:ea typeface="思源黑体 CN Regular"/>
              <a:cs typeface="+mn-cs"/>
            </a:endParaRPr>
          </a:p>
        </p:txBody>
      </p:sp>
      <p:grpSp>
        <p:nvGrpSpPr>
          <p:cNvPr id="25" name="组合 24">
            <a:extLst>
              <a:ext uri="{FF2B5EF4-FFF2-40B4-BE49-F238E27FC236}">
                <a16:creationId xmlns:a16="http://schemas.microsoft.com/office/drawing/2014/main" id="{408F66B5-2DFA-464B-9E00-C966D74C8328}"/>
              </a:ext>
            </a:extLst>
          </p:cNvPr>
          <p:cNvGrpSpPr/>
          <p:nvPr/>
        </p:nvGrpSpPr>
        <p:grpSpPr>
          <a:xfrm>
            <a:off x="1811727" y="2102787"/>
            <a:ext cx="2345985" cy="2793072"/>
            <a:chOff x="1225455" y="2197053"/>
            <a:chExt cx="2345985" cy="2793072"/>
          </a:xfrm>
        </p:grpSpPr>
        <p:sp>
          <p:nvSpPr>
            <p:cNvPr id="23" name="文本框 22">
              <a:extLst>
                <a:ext uri="{FF2B5EF4-FFF2-40B4-BE49-F238E27FC236}">
                  <a16:creationId xmlns:a16="http://schemas.microsoft.com/office/drawing/2014/main" id="{034FD0E2-A3B3-477D-BA2B-863B122D845D}"/>
                </a:ext>
              </a:extLst>
            </p:cNvPr>
            <p:cNvSpPr txBox="1"/>
            <p:nvPr/>
          </p:nvSpPr>
          <p:spPr>
            <a:xfrm>
              <a:off x="1225455" y="2197053"/>
              <a:ext cx="1659429" cy="186204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500" b="0" i="0" u="none" strike="noStrike" kern="1200" cap="none" spc="0" normalizeH="0" baseline="0" noProof="0" dirty="0">
                  <a:ln>
                    <a:noFill/>
                  </a:ln>
                  <a:solidFill>
                    <a:prstClr val="white"/>
                  </a:solidFill>
                  <a:effectLst/>
                  <a:uLnTx/>
                  <a:uFillTx/>
                  <a:latin typeface="思源宋体 CN Heavy"/>
                  <a:ea typeface="思源宋体 CN Heavy"/>
                  <a:cs typeface="+mn-cs"/>
                </a:rPr>
                <a:t>目</a:t>
              </a:r>
              <a:endParaRPr kumimoji="0" lang="en-US" altLang="zh-CN" sz="11500" b="0" i="0" u="none" strike="noStrike" kern="1200" cap="none" spc="0" normalizeH="0" baseline="0" noProof="0" dirty="0">
                <a:ln>
                  <a:noFill/>
                </a:ln>
                <a:solidFill>
                  <a:prstClr val="white"/>
                </a:solidFill>
                <a:effectLst/>
                <a:uLnTx/>
                <a:uFillTx/>
                <a:latin typeface="思源宋体 CN Heavy"/>
                <a:ea typeface="思源宋体 CN Heavy"/>
                <a:cs typeface="+mn-cs"/>
              </a:endParaRPr>
            </a:p>
          </p:txBody>
        </p:sp>
        <p:sp>
          <p:nvSpPr>
            <p:cNvPr id="24" name="文本框 23">
              <a:extLst>
                <a:ext uri="{FF2B5EF4-FFF2-40B4-BE49-F238E27FC236}">
                  <a16:creationId xmlns:a16="http://schemas.microsoft.com/office/drawing/2014/main" id="{7251800A-414E-456B-8CD4-9F772803401C}"/>
                </a:ext>
              </a:extLst>
            </p:cNvPr>
            <p:cNvSpPr txBox="1"/>
            <p:nvPr/>
          </p:nvSpPr>
          <p:spPr>
            <a:xfrm>
              <a:off x="1912011" y="3128077"/>
              <a:ext cx="1659429" cy="186204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500" b="0" i="0" u="none" strike="noStrike" kern="1200" cap="none" spc="0" normalizeH="0" baseline="0" noProof="0" dirty="0">
                  <a:ln>
                    <a:noFill/>
                  </a:ln>
                  <a:gradFill>
                    <a:gsLst>
                      <a:gs pos="13000">
                        <a:prstClr val="white">
                          <a:alpha val="0"/>
                        </a:prstClr>
                      </a:gs>
                      <a:gs pos="76000">
                        <a:prstClr val="white"/>
                      </a:gs>
                    </a:gsLst>
                    <a:path path="circle">
                      <a:fillToRect r="100000" b="100000"/>
                    </a:path>
                  </a:gradFill>
                  <a:effectLst/>
                  <a:uLnTx/>
                  <a:uFillTx/>
                  <a:latin typeface="思源宋体 CN Heavy"/>
                  <a:ea typeface="思源宋体 CN Heavy"/>
                  <a:cs typeface="+mn-cs"/>
                </a:rPr>
                <a:t>录</a:t>
              </a:r>
              <a:endParaRPr kumimoji="0" lang="en-US" altLang="zh-CN" sz="11500" b="0" i="0" u="none" strike="noStrike" kern="1200" cap="none" spc="0" normalizeH="0" baseline="0" noProof="0" dirty="0">
                <a:ln>
                  <a:noFill/>
                </a:ln>
                <a:gradFill>
                  <a:gsLst>
                    <a:gs pos="13000">
                      <a:prstClr val="white">
                        <a:alpha val="0"/>
                      </a:prstClr>
                    </a:gs>
                    <a:gs pos="76000">
                      <a:prstClr val="white"/>
                    </a:gs>
                  </a:gsLst>
                  <a:path path="circle">
                    <a:fillToRect r="100000" b="100000"/>
                  </a:path>
                </a:gradFill>
                <a:effectLst/>
                <a:uLnTx/>
                <a:uFillTx/>
                <a:latin typeface="思源宋体 CN Heavy"/>
                <a:ea typeface="思源宋体 CN Heavy"/>
                <a:cs typeface="+mn-cs"/>
              </a:endParaRPr>
            </a:p>
          </p:txBody>
        </p:sp>
      </p:grpSp>
      <p:sp>
        <p:nvSpPr>
          <p:cNvPr id="12" name="文本框 11">
            <a:extLst>
              <a:ext uri="{FF2B5EF4-FFF2-40B4-BE49-F238E27FC236}">
                <a16:creationId xmlns:a16="http://schemas.microsoft.com/office/drawing/2014/main" id="{52A41930-94FD-4836-9944-F84EF6348E8F}"/>
              </a:ext>
            </a:extLst>
          </p:cNvPr>
          <p:cNvSpPr txBox="1"/>
          <p:nvPr/>
        </p:nvSpPr>
        <p:spPr>
          <a:xfrm>
            <a:off x="6317110" y="2994979"/>
            <a:ext cx="5386090"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i="0" dirty="0">
                <a:solidFill>
                  <a:srgbClr val="0052FF"/>
                </a:solidFill>
                <a:effectLst/>
                <a:latin typeface="微软雅黑" panose="020B0503020204020204" pitchFamily="34" charset="-122"/>
                <a:ea typeface="微软雅黑" panose="020B0503020204020204" pitchFamily="34" charset="-122"/>
              </a:rPr>
              <a:t>中小城市数字化转型的价值和挑战</a:t>
            </a:r>
            <a:endParaRPr kumimoji="0" lang="zh-CN" altLang="en-US" sz="2800" b="0" i="0" u="none" strike="noStrike" kern="1200" cap="none" spc="0" normalizeH="0" baseline="0" noProof="0" dirty="0">
              <a:ln>
                <a:noFill/>
              </a:ln>
              <a:solidFill>
                <a:srgbClr val="2D4464"/>
              </a:solidFill>
              <a:effectLst/>
              <a:uLnTx/>
              <a:uFillTx/>
              <a:latin typeface="思源宋体 CN Heavy"/>
              <a:ea typeface="思源宋体 CN Heavy"/>
              <a:cs typeface="OPPOSans M" panose="00020600040101010101" pitchFamily="18" charset="-122"/>
              <a:sym typeface="OPPOSans M" panose="00020600040101010101" pitchFamily="18" charset="-122"/>
            </a:endParaRPr>
          </a:p>
        </p:txBody>
      </p:sp>
      <p:sp>
        <p:nvSpPr>
          <p:cNvPr id="16" name="文本框 15">
            <a:extLst>
              <a:ext uri="{FF2B5EF4-FFF2-40B4-BE49-F238E27FC236}">
                <a16:creationId xmlns:a16="http://schemas.microsoft.com/office/drawing/2014/main" id="{12140139-4A97-4172-AA50-B14B4A8E8000}"/>
              </a:ext>
            </a:extLst>
          </p:cNvPr>
          <p:cNvSpPr txBox="1"/>
          <p:nvPr/>
        </p:nvSpPr>
        <p:spPr>
          <a:xfrm>
            <a:off x="5626260" y="2994978"/>
            <a:ext cx="365485" cy="430887"/>
          </a:xfrm>
          <a:prstGeom prst="rect">
            <a:avLst/>
          </a:prstGeom>
          <a:noFill/>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cap="none" spc="0" normalizeH="0" baseline="0">
                <a:ln>
                  <a:solidFill>
                    <a:prstClr val="white"/>
                  </a:solidFill>
                </a:ln>
                <a:noFill/>
                <a:effectLst/>
                <a:uLnTx/>
                <a:uFillTx/>
                <a:latin typeface="Hanson" pitchFamily="2" charset="0"/>
                <a:ea typeface="OPPOSans M" panose="00020600040101010101" pitchFamily="18" charset="-122"/>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rPr>
              <a:t>03</a:t>
            </a:r>
            <a:endParaRPr kumimoji="0" lang="zh-CN" altLang="en-US"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endParaRPr>
          </a:p>
        </p:txBody>
      </p:sp>
      <p:sp>
        <p:nvSpPr>
          <p:cNvPr id="13" name="文本框 12">
            <a:extLst>
              <a:ext uri="{FF2B5EF4-FFF2-40B4-BE49-F238E27FC236}">
                <a16:creationId xmlns:a16="http://schemas.microsoft.com/office/drawing/2014/main" id="{C6E63394-68F7-455E-9A05-E6FE17F951BC}"/>
              </a:ext>
            </a:extLst>
          </p:cNvPr>
          <p:cNvSpPr txBox="1"/>
          <p:nvPr/>
        </p:nvSpPr>
        <p:spPr>
          <a:xfrm>
            <a:off x="6274931" y="3951477"/>
            <a:ext cx="5027017"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i="0" dirty="0">
                <a:solidFill>
                  <a:srgbClr val="0052FF"/>
                </a:solidFill>
                <a:effectLst/>
                <a:latin typeface="微软雅黑" panose="020B0503020204020204" pitchFamily="34" charset="-122"/>
                <a:ea typeface="微软雅黑" panose="020B0503020204020204" pitchFamily="34" charset="-122"/>
              </a:rPr>
              <a:t>中小城市数字化转型的建设思路</a:t>
            </a:r>
            <a:endParaRPr kumimoji="0" lang="zh-CN" altLang="en-US" sz="2800" b="0" i="0" u="none" strike="noStrike" kern="1200" cap="none" spc="0" normalizeH="0" baseline="0" noProof="0" dirty="0">
              <a:ln>
                <a:noFill/>
              </a:ln>
              <a:solidFill>
                <a:srgbClr val="2D4464"/>
              </a:solidFill>
              <a:effectLst/>
              <a:uLnTx/>
              <a:uFillTx/>
              <a:latin typeface="思源宋体 CN Heavy"/>
              <a:ea typeface="思源宋体 CN Heavy"/>
              <a:cs typeface="OPPOSans M" panose="00020600040101010101" pitchFamily="18" charset="-122"/>
              <a:sym typeface="OPPOSans M" panose="00020600040101010101" pitchFamily="18" charset="-122"/>
            </a:endParaRPr>
          </a:p>
        </p:txBody>
      </p:sp>
      <p:sp>
        <p:nvSpPr>
          <p:cNvPr id="17" name="文本框 16">
            <a:extLst>
              <a:ext uri="{FF2B5EF4-FFF2-40B4-BE49-F238E27FC236}">
                <a16:creationId xmlns:a16="http://schemas.microsoft.com/office/drawing/2014/main" id="{4289ADBA-FD48-419A-9A69-AD8D3873E737}"/>
              </a:ext>
            </a:extLst>
          </p:cNvPr>
          <p:cNvSpPr txBox="1"/>
          <p:nvPr/>
        </p:nvSpPr>
        <p:spPr>
          <a:xfrm>
            <a:off x="5641787" y="3961701"/>
            <a:ext cx="365485" cy="430887"/>
          </a:xfrm>
          <a:prstGeom prst="rect">
            <a:avLst/>
          </a:prstGeom>
          <a:noFill/>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cap="none" spc="0" normalizeH="0" baseline="0">
                <a:ln>
                  <a:solidFill>
                    <a:prstClr val="white"/>
                  </a:solidFill>
                </a:ln>
                <a:noFill/>
                <a:effectLst/>
                <a:uLnTx/>
                <a:uFillTx/>
                <a:latin typeface="Hanson" pitchFamily="2" charset="0"/>
                <a:ea typeface="OPPOSans M" panose="00020600040101010101" pitchFamily="18" charset="-122"/>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rPr>
              <a:t>04</a:t>
            </a:r>
            <a:endParaRPr kumimoji="0" lang="zh-CN" altLang="en-US"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endParaRPr>
          </a:p>
        </p:txBody>
      </p:sp>
      <p:sp>
        <p:nvSpPr>
          <p:cNvPr id="14" name="文本框 13">
            <a:extLst>
              <a:ext uri="{FF2B5EF4-FFF2-40B4-BE49-F238E27FC236}">
                <a16:creationId xmlns:a16="http://schemas.microsoft.com/office/drawing/2014/main" id="{27F8C385-B3C7-4A46-BCF5-B2CA5CA22728}"/>
              </a:ext>
            </a:extLst>
          </p:cNvPr>
          <p:cNvSpPr txBox="1"/>
          <p:nvPr/>
        </p:nvSpPr>
        <p:spPr>
          <a:xfrm>
            <a:off x="5931653" y="4907734"/>
            <a:ext cx="5027017"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i="0" dirty="0">
                <a:solidFill>
                  <a:srgbClr val="0052FF"/>
                </a:solidFill>
                <a:effectLst/>
                <a:latin typeface="微软雅黑" panose="020B0503020204020204" pitchFamily="34" charset="-122"/>
                <a:ea typeface="微软雅黑" panose="020B0503020204020204" pitchFamily="34" charset="-122"/>
              </a:rPr>
              <a:t>中小城市数字化转型模式及实践</a:t>
            </a:r>
            <a:endParaRPr kumimoji="0" lang="zh-CN" altLang="en-US" sz="2800" b="0" i="0" u="none" strike="noStrike" kern="1200" cap="none" spc="0" normalizeH="0" baseline="0" noProof="0" dirty="0">
              <a:ln>
                <a:noFill/>
              </a:ln>
              <a:solidFill>
                <a:srgbClr val="2D4464"/>
              </a:solidFill>
              <a:effectLst/>
              <a:uLnTx/>
              <a:uFillTx/>
              <a:latin typeface="思源宋体 CN Heavy"/>
              <a:ea typeface="思源宋体 CN Heavy"/>
              <a:cs typeface="OPPOSans M" panose="00020600040101010101" pitchFamily="18" charset="-122"/>
              <a:sym typeface="OPPOSans M" panose="00020600040101010101" pitchFamily="18" charset="-122"/>
            </a:endParaRPr>
          </a:p>
        </p:txBody>
      </p:sp>
      <p:sp>
        <p:nvSpPr>
          <p:cNvPr id="18" name="文本框 17">
            <a:extLst>
              <a:ext uri="{FF2B5EF4-FFF2-40B4-BE49-F238E27FC236}">
                <a16:creationId xmlns:a16="http://schemas.microsoft.com/office/drawing/2014/main" id="{686B18B3-B5B5-4827-B97E-96513C5DC7D3}"/>
              </a:ext>
            </a:extLst>
          </p:cNvPr>
          <p:cNvSpPr txBox="1"/>
          <p:nvPr/>
        </p:nvSpPr>
        <p:spPr>
          <a:xfrm>
            <a:off x="5101943" y="4815702"/>
            <a:ext cx="365485" cy="430887"/>
          </a:xfrm>
          <a:prstGeom prst="rect">
            <a:avLst/>
          </a:prstGeom>
          <a:noFill/>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cap="none" spc="0" normalizeH="0" baseline="0">
                <a:ln>
                  <a:solidFill>
                    <a:prstClr val="white"/>
                  </a:solidFill>
                </a:ln>
                <a:noFill/>
                <a:effectLst/>
                <a:uLnTx/>
                <a:uFillTx/>
                <a:latin typeface="Hanson" pitchFamily="2" charset="0"/>
                <a:ea typeface="OPPOSans M" panose="00020600040101010101" pitchFamily="18" charset="-122"/>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rPr>
              <a:t>05</a:t>
            </a:r>
            <a:endParaRPr kumimoji="0" lang="zh-CN" altLang="en-US"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endParaRPr>
          </a:p>
        </p:txBody>
      </p:sp>
      <p:sp>
        <p:nvSpPr>
          <p:cNvPr id="15" name="文本框 14">
            <a:extLst>
              <a:ext uri="{FF2B5EF4-FFF2-40B4-BE49-F238E27FC236}">
                <a16:creationId xmlns:a16="http://schemas.microsoft.com/office/drawing/2014/main" id="{2212C6D8-9070-4040-B89D-835E57234B75}"/>
              </a:ext>
            </a:extLst>
          </p:cNvPr>
          <p:cNvSpPr txBox="1"/>
          <p:nvPr/>
        </p:nvSpPr>
        <p:spPr>
          <a:xfrm>
            <a:off x="5936440" y="2024427"/>
            <a:ext cx="4308872"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i="0" dirty="0">
                <a:solidFill>
                  <a:srgbClr val="0052FF"/>
                </a:solidFill>
                <a:effectLst/>
                <a:latin typeface="微软雅黑" panose="020B0503020204020204" pitchFamily="34" charset="-122"/>
                <a:ea typeface="微软雅黑" panose="020B0503020204020204" pitchFamily="34" charset="-122"/>
              </a:rPr>
              <a:t>中小城市数字化转型的背景</a:t>
            </a:r>
            <a:endParaRPr kumimoji="0" lang="zh-CN" altLang="en-US" sz="2800" b="0" i="0" u="none" strike="noStrike" kern="1200" cap="none" spc="0" normalizeH="0" baseline="0" noProof="0" dirty="0">
              <a:ln>
                <a:noFill/>
              </a:ln>
              <a:solidFill>
                <a:srgbClr val="2D4464"/>
              </a:solidFill>
              <a:effectLst/>
              <a:uLnTx/>
              <a:uFillTx/>
              <a:latin typeface="思源宋体 CN Heavy"/>
              <a:ea typeface="思源宋体 CN Heavy"/>
              <a:cs typeface="OPPOSans M" panose="00020600040101010101" pitchFamily="18" charset="-122"/>
              <a:sym typeface="OPPOSans M" panose="00020600040101010101" pitchFamily="18" charset="-122"/>
            </a:endParaRPr>
          </a:p>
        </p:txBody>
      </p:sp>
      <p:sp>
        <p:nvSpPr>
          <p:cNvPr id="19" name="文本框 18">
            <a:extLst>
              <a:ext uri="{FF2B5EF4-FFF2-40B4-BE49-F238E27FC236}">
                <a16:creationId xmlns:a16="http://schemas.microsoft.com/office/drawing/2014/main" id="{45D7D918-B6DA-4D93-8F7A-A0BDA7104E69}"/>
              </a:ext>
            </a:extLst>
          </p:cNvPr>
          <p:cNvSpPr txBox="1"/>
          <p:nvPr/>
        </p:nvSpPr>
        <p:spPr>
          <a:xfrm>
            <a:off x="5106608" y="2009758"/>
            <a:ext cx="365485" cy="430887"/>
          </a:xfrm>
          <a:prstGeom prst="rect">
            <a:avLst/>
          </a:prstGeom>
          <a:noFill/>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cap="none" spc="0" normalizeH="0" baseline="0">
                <a:ln>
                  <a:solidFill>
                    <a:prstClr val="white"/>
                  </a:solidFill>
                </a:ln>
                <a:noFill/>
                <a:effectLst/>
                <a:uLnTx/>
                <a:uFillTx/>
                <a:latin typeface="Hanson" pitchFamily="2" charset="0"/>
                <a:ea typeface="OPPOSans M" panose="00020600040101010101" pitchFamily="18" charset="-122"/>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rPr>
              <a:t>02</a:t>
            </a:r>
            <a:endParaRPr kumimoji="0" lang="zh-CN" altLang="en-US"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endParaRPr>
          </a:p>
        </p:txBody>
      </p:sp>
      <p:sp>
        <p:nvSpPr>
          <p:cNvPr id="31" name="文本框 30">
            <a:extLst>
              <a:ext uri="{FF2B5EF4-FFF2-40B4-BE49-F238E27FC236}">
                <a16:creationId xmlns:a16="http://schemas.microsoft.com/office/drawing/2014/main" id="{C9798E29-EBBC-420E-A932-5D9A4B640B2F}"/>
              </a:ext>
            </a:extLst>
          </p:cNvPr>
          <p:cNvSpPr txBox="1"/>
          <p:nvPr/>
        </p:nvSpPr>
        <p:spPr>
          <a:xfrm>
            <a:off x="5476313" y="5887440"/>
            <a:ext cx="5027017"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i="0" dirty="0">
                <a:solidFill>
                  <a:srgbClr val="0052FF"/>
                </a:solidFill>
                <a:effectLst/>
                <a:latin typeface="微软雅黑" panose="020B0503020204020204" pitchFamily="34" charset="-122"/>
                <a:ea typeface="微软雅黑" panose="020B0503020204020204" pitchFamily="34" charset="-122"/>
              </a:rPr>
              <a:t>​案例：​江门市新型智慧城市建设</a:t>
            </a:r>
            <a:endParaRPr kumimoji="0" lang="zh-CN" altLang="en-US" sz="2800" b="0" i="0" u="none" strike="noStrike" kern="1200" cap="none" spc="0" normalizeH="0" baseline="0" noProof="0" dirty="0">
              <a:ln>
                <a:noFill/>
              </a:ln>
              <a:solidFill>
                <a:srgbClr val="2D4464"/>
              </a:solidFill>
              <a:effectLst/>
              <a:uLnTx/>
              <a:uFillTx/>
              <a:latin typeface="思源宋体 CN Heavy"/>
              <a:ea typeface="思源宋体 CN Heavy"/>
              <a:cs typeface="OPPOSans M" panose="00020600040101010101" pitchFamily="18" charset="-122"/>
              <a:sym typeface="OPPOSans M" panose="00020600040101010101" pitchFamily="18" charset="-122"/>
            </a:endParaRPr>
          </a:p>
        </p:txBody>
      </p:sp>
      <p:sp>
        <p:nvSpPr>
          <p:cNvPr id="32" name="文本框 31">
            <a:extLst>
              <a:ext uri="{FF2B5EF4-FFF2-40B4-BE49-F238E27FC236}">
                <a16:creationId xmlns:a16="http://schemas.microsoft.com/office/drawing/2014/main" id="{2561040A-ECDF-45AE-91A3-5A7973A232B0}"/>
              </a:ext>
            </a:extLst>
          </p:cNvPr>
          <p:cNvSpPr txBox="1"/>
          <p:nvPr/>
        </p:nvSpPr>
        <p:spPr>
          <a:xfrm>
            <a:off x="4461652" y="5822328"/>
            <a:ext cx="365485" cy="430887"/>
          </a:xfrm>
          <a:prstGeom prst="rect">
            <a:avLst/>
          </a:prstGeom>
          <a:noFill/>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cap="none" spc="0" normalizeH="0" baseline="0">
                <a:ln>
                  <a:solidFill>
                    <a:prstClr val="white"/>
                  </a:solidFill>
                </a:ln>
                <a:noFill/>
                <a:effectLst/>
                <a:uLnTx/>
                <a:uFillTx/>
                <a:latin typeface="Hanson" pitchFamily="2" charset="0"/>
                <a:ea typeface="OPPOSans M" panose="00020600040101010101" pitchFamily="18" charset="-122"/>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rPr>
              <a:t>06</a:t>
            </a:r>
            <a:endParaRPr kumimoji="0" lang="zh-CN" altLang="en-US"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endParaRPr>
          </a:p>
        </p:txBody>
      </p:sp>
      <p:sp>
        <p:nvSpPr>
          <p:cNvPr id="21" name="文本框 20">
            <a:extLst>
              <a:ext uri="{FF2B5EF4-FFF2-40B4-BE49-F238E27FC236}">
                <a16:creationId xmlns:a16="http://schemas.microsoft.com/office/drawing/2014/main" id="{F5A52751-B1C2-4544-A57C-7BEA0A0C4EE8}"/>
              </a:ext>
            </a:extLst>
          </p:cNvPr>
          <p:cNvSpPr txBox="1"/>
          <p:nvPr/>
        </p:nvSpPr>
        <p:spPr>
          <a:xfrm>
            <a:off x="5467428" y="1057009"/>
            <a:ext cx="4667945"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i="0" dirty="0">
                <a:solidFill>
                  <a:srgbClr val="0052FF"/>
                </a:solidFill>
                <a:effectLst/>
                <a:latin typeface="微软雅黑" panose="020B0503020204020204" pitchFamily="34" charset="-122"/>
                <a:ea typeface="微软雅黑" panose="020B0503020204020204" pitchFamily="34" charset="-122"/>
              </a:rPr>
              <a:t>新型智慧城市和乡村振兴火爆</a:t>
            </a:r>
            <a:endParaRPr kumimoji="0" lang="zh-CN" altLang="en-US" sz="2800" b="0" i="0" u="none" strike="noStrike" kern="1200" cap="none" spc="0" normalizeH="0" baseline="0" noProof="0" dirty="0">
              <a:ln>
                <a:noFill/>
              </a:ln>
              <a:solidFill>
                <a:srgbClr val="2D4464"/>
              </a:solidFill>
              <a:effectLst/>
              <a:uLnTx/>
              <a:uFillTx/>
              <a:latin typeface="思源宋体 CN Heavy"/>
              <a:ea typeface="思源宋体 CN Heavy"/>
              <a:cs typeface="OPPOSans M" panose="00020600040101010101" pitchFamily="18" charset="-122"/>
              <a:sym typeface="OPPOSans M" panose="00020600040101010101" pitchFamily="18" charset="-122"/>
            </a:endParaRPr>
          </a:p>
        </p:txBody>
      </p:sp>
      <p:sp>
        <p:nvSpPr>
          <p:cNvPr id="22" name="文本框 21">
            <a:extLst>
              <a:ext uri="{FF2B5EF4-FFF2-40B4-BE49-F238E27FC236}">
                <a16:creationId xmlns:a16="http://schemas.microsoft.com/office/drawing/2014/main" id="{33B18E53-42B4-4F67-9245-D452DD2A255A}"/>
              </a:ext>
            </a:extLst>
          </p:cNvPr>
          <p:cNvSpPr txBox="1"/>
          <p:nvPr/>
        </p:nvSpPr>
        <p:spPr>
          <a:xfrm>
            <a:off x="4528268" y="1019867"/>
            <a:ext cx="365485" cy="430887"/>
          </a:xfrm>
          <a:prstGeom prst="rect">
            <a:avLst/>
          </a:prstGeom>
          <a:noFill/>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cap="none" spc="0" normalizeH="0" baseline="0">
                <a:ln>
                  <a:solidFill>
                    <a:prstClr val="white"/>
                  </a:solidFill>
                </a:ln>
                <a:noFill/>
                <a:effectLst/>
                <a:uLnTx/>
                <a:uFillTx/>
                <a:latin typeface="Hanson" pitchFamily="2" charset="0"/>
                <a:ea typeface="OPPOSans M" panose="00020600040101010101" pitchFamily="18" charset="-122"/>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rPr>
              <a:t>01</a:t>
            </a:r>
            <a:endParaRPr kumimoji="0" lang="zh-CN" altLang="en-US" sz="2800" b="0" i="0" u="none" strike="noStrike" kern="1200" cap="none" spc="0" normalizeH="0" baseline="0" noProof="0" dirty="0">
              <a:ln w="6350">
                <a:solidFill>
                  <a:prstClr val="white"/>
                </a:solidFill>
              </a:ln>
              <a:solidFill>
                <a:srgbClr val="CA865F"/>
              </a:solidFill>
              <a:effectLst/>
              <a:uLnTx/>
              <a:uFillTx/>
              <a:latin typeface="思源宋体 CN Heavy"/>
              <a:ea typeface="思源宋体 CN Heavy"/>
              <a:cs typeface="OPPOSans M" panose="00020600040101010101" pitchFamily="18" charset="-122"/>
              <a:sym typeface="Hanson" pitchFamily="2" charset="0"/>
            </a:endParaRPr>
          </a:p>
        </p:txBody>
      </p:sp>
    </p:spTree>
    <p:extLst>
      <p:ext uri="{BB962C8B-B14F-4D97-AF65-F5344CB8AC3E}">
        <p14:creationId xmlns:p14="http://schemas.microsoft.com/office/powerpoint/2010/main" val="3185271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146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8">
            <a:extLst>
              <a:ext uri="{FF2B5EF4-FFF2-40B4-BE49-F238E27FC236}">
                <a16:creationId xmlns:a16="http://schemas.microsoft.com/office/drawing/2014/main" id="{299BC2D0-A78F-4252-9D6F-1C0293A3CDED}"/>
              </a:ext>
            </a:extLst>
          </p:cNvPr>
          <p:cNvSpPr txBox="1"/>
          <p:nvPr/>
        </p:nvSpPr>
        <p:spPr>
          <a:xfrm>
            <a:off x="-163773" y="6558170"/>
            <a:ext cx="2920621" cy="369332"/>
          </a:xfrm>
          <a:prstGeom prst="rect">
            <a:avLst/>
          </a:prstGeom>
          <a:noFill/>
        </p:spPr>
        <p:txBody>
          <a:bodyPr wrap="square" rtlCol="0">
            <a:spAutoFit/>
          </a:bodyPr>
          <a:lstStyle/>
          <a:p>
            <a:r>
              <a:rPr lang="zh-CN" altLang="en-US" dirty="0">
                <a:solidFill>
                  <a:schemeClr val="accent2">
                    <a:lumMod val="75000"/>
                  </a:schemeClr>
                </a:solidFill>
                <a:latin typeface="华文楷体" panose="02010600040101010101" pitchFamily="2" charset="-122"/>
                <a:ea typeface="华文楷体" panose="02010600040101010101" pitchFamily="2" charset="-122"/>
              </a:rPr>
              <a:t>“球迷</a:t>
            </a:r>
            <a:r>
              <a:rPr lang="en-US" altLang="zh-CN" dirty="0">
                <a:solidFill>
                  <a:schemeClr val="accent2">
                    <a:lumMod val="75000"/>
                  </a:schemeClr>
                </a:solidFill>
                <a:latin typeface="华文楷体" panose="02010600040101010101" pitchFamily="2" charset="-122"/>
                <a:ea typeface="华文楷体" panose="02010600040101010101" pitchFamily="2" charset="-122"/>
              </a:rPr>
              <a:t>Long</a:t>
            </a:r>
            <a:r>
              <a:rPr lang="zh-CN" altLang="en-US" dirty="0">
                <a:solidFill>
                  <a:schemeClr val="accent2">
                    <a:lumMod val="75000"/>
                  </a:schemeClr>
                </a:solidFill>
                <a:latin typeface="华文楷体" panose="02010600040101010101" pitchFamily="2" charset="-122"/>
                <a:ea typeface="华文楷体" panose="02010600040101010101" pitchFamily="2" charset="-122"/>
              </a:rPr>
              <a:t>笔记” 组织</a:t>
            </a:r>
          </a:p>
        </p:txBody>
      </p:sp>
      <p:sp>
        <p:nvSpPr>
          <p:cNvPr id="2" name="文本框 1">
            <a:extLst>
              <a:ext uri="{FF2B5EF4-FFF2-40B4-BE49-F238E27FC236}">
                <a16:creationId xmlns:a16="http://schemas.microsoft.com/office/drawing/2014/main" id="{3F981A8F-E8D5-40CF-A3D9-ED69E460CED1}"/>
              </a:ext>
            </a:extLst>
          </p:cNvPr>
          <p:cNvSpPr txBox="1"/>
          <p:nvPr/>
        </p:nvSpPr>
        <p:spPr>
          <a:xfrm>
            <a:off x="112839" y="289679"/>
            <a:ext cx="5093114" cy="3139321"/>
          </a:xfrm>
          <a:prstGeom prst="rect">
            <a:avLst/>
          </a:prstGeom>
          <a:solidFill>
            <a:schemeClr val="tx2">
              <a:lumMod val="20000"/>
              <a:lumOff val="80000"/>
            </a:schemeClr>
          </a:solidFill>
        </p:spPr>
        <p:txBody>
          <a:bodyPr wrap="square" rtlCol="0">
            <a:spAutoFit/>
          </a:bodyPr>
          <a:lstStyle/>
          <a:p>
            <a:r>
              <a:rPr lang="zh-CN" altLang="en-US" sz="1800" b="1" i="0" u="none" strike="noStrike" baseline="0" dirty="0">
                <a:latin typeface="SourceHanSansCN-Bold"/>
              </a:rPr>
              <a:t>零售行业</a:t>
            </a:r>
            <a:endParaRPr lang="en-US" altLang="zh-CN" sz="1800" b="1" i="0" u="none" strike="noStrike" baseline="0" dirty="0">
              <a:latin typeface="SourceHanSansCN-Bold"/>
            </a:endParaRPr>
          </a:p>
          <a:p>
            <a:pPr algn="l"/>
            <a:r>
              <a:rPr lang="zh-CN" altLang="en-US" sz="1800" b="0" i="0" u="none" strike="noStrike" baseline="0" dirty="0">
                <a:latin typeface="SourceHanSansCN-Light"/>
              </a:rPr>
              <a:t>得益于阿里在零售行业的渗透和影响，以及电商在过去十年的高速发展，零售行业最先试水“中台”。</a:t>
            </a:r>
            <a:endParaRPr lang="en-US" altLang="zh-CN"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阿里中台理念与实践通过云服务输出，零售业是最佳适配对象</a:t>
            </a:r>
            <a:endParaRPr lang="en-US" altLang="zh-CN" sz="1800" b="0" i="0" u="none" strike="noStrike" baseline="0" dirty="0">
              <a:latin typeface="SourceHanSansCN-Light"/>
            </a:endParaRPr>
          </a:p>
          <a:p>
            <a:pPr algn="l"/>
            <a:endParaRPr lang="en-US" altLang="zh-CN"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电商业务模式中标准化程度较高的部分快速“中心化”，以“中台”的形态进行实施。而零售行业的中台模型，因其本质是对于交易合同及履约的业务抽象，具备较广的适用性</a:t>
            </a:r>
            <a:endParaRPr lang="en-US" altLang="zh-CN" b="1" dirty="0">
              <a:latin typeface="SourceHanSansCN-Bold"/>
            </a:endParaRPr>
          </a:p>
        </p:txBody>
      </p:sp>
      <p:sp>
        <p:nvSpPr>
          <p:cNvPr id="14" name="文本框 13">
            <a:extLst>
              <a:ext uri="{FF2B5EF4-FFF2-40B4-BE49-F238E27FC236}">
                <a16:creationId xmlns:a16="http://schemas.microsoft.com/office/drawing/2014/main" id="{4CD856D0-5D06-4925-9879-DB2130F82041}"/>
              </a:ext>
            </a:extLst>
          </p:cNvPr>
          <p:cNvSpPr txBox="1"/>
          <p:nvPr/>
        </p:nvSpPr>
        <p:spPr>
          <a:xfrm>
            <a:off x="7286638" y="289679"/>
            <a:ext cx="4724831" cy="3139321"/>
          </a:xfrm>
          <a:prstGeom prst="rect">
            <a:avLst/>
          </a:prstGeom>
          <a:solidFill>
            <a:schemeClr val="accent1">
              <a:lumMod val="40000"/>
              <a:lumOff val="60000"/>
            </a:schemeClr>
          </a:solidFill>
        </p:spPr>
        <p:txBody>
          <a:bodyPr wrap="square" rtlCol="0">
            <a:spAutoFit/>
          </a:bodyPr>
          <a:lstStyle/>
          <a:p>
            <a:r>
              <a:rPr lang="zh-CN" altLang="en-US" sz="1800" b="1" i="0" u="none" strike="noStrike" baseline="0" dirty="0">
                <a:latin typeface="SourceHanSansCN-Bold"/>
              </a:rPr>
              <a:t>金融行业</a:t>
            </a:r>
            <a:endParaRPr lang="en-US" altLang="zh-CN" sz="1800" b="1" i="0" u="none" strike="noStrike" baseline="0" dirty="0">
              <a:latin typeface="SourceHanSansCN-Bold"/>
            </a:endParaRPr>
          </a:p>
          <a:p>
            <a:r>
              <a:rPr lang="zh-CN" altLang="en-US" sz="1800" b="0" i="0" u="none" strike="noStrike" baseline="0" dirty="0">
                <a:latin typeface="SourceHanSansCN-Light"/>
              </a:rPr>
              <a:t>打造中台能力</a:t>
            </a:r>
            <a:r>
              <a:rPr lang="zh-CN" altLang="en-US" b="1" dirty="0">
                <a:latin typeface="SourceHanSansCN-Bold"/>
              </a:rPr>
              <a:t>，</a:t>
            </a:r>
            <a:r>
              <a:rPr lang="zh-CN" altLang="en-US" sz="1800" b="0" i="0" u="none" strike="noStrike" baseline="0" dirty="0">
                <a:latin typeface="SourceHanSansCN-Light"/>
              </a:rPr>
              <a:t>均已是高度共识的战略举措之一。</a:t>
            </a:r>
            <a:endParaRPr lang="en-US" altLang="zh-CN" sz="1800" b="0" i="0" u="none" strike="noStrike" baseline="0"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行业越来越重视客户一致性体验，开始打造开放银行，深度运营客户，构建生态。</a:t>
            </a:r>
            <a:endParaRPr lang="en-US" altLang="zh-CN" sz="1800" b="0" i="0" u="none" strike="noStrike" baseline="0"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解决银行遗留系统难以响应前端快速的业务创新、客户和业务数据孤岛现象严重、组织架构壁垒高筑等问题也越来越关键。</a:t>
            </a:r>
            <a:endParaRPr lang="en-US" altLang="zh-CN" sz="1800" b="0" i="0" u="none" strike="noStrike" baseline="0"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半数金融机构正在考虑建设业务中台，</a:t>
            </a:r>
            <a:r>
              <a:rPr lang="en-US" altLang="zh-CN" sz="1800" b="0" i="0" u="none" strike="noStrike" baseline="0" dirty="0">
                <a:latin typeface="OpenSans-Light"/>
              </a:rPr>
              <a:t>90% </a:t>
            </a:r>
            <a:r>
              <a:rPr lang="zh-CN" altLang="en-US" sz="1800" b="0" i="0" u="none" strike="noStrike" baseline="0" dirty="0">
                <a:latin typeface="SourceHanSansCN-Light"/>
              </a:rPr>
              <a:t>金融机构认为未来两至三年会建设业务中台。</a:t>
            </a:r>
            <a:endParaRPr lang="en-US" altLang="zh-CN" sz="1800" b="1" i="0" u="none" strike="noStrike" baseline="0" dirty="0">
              <a:latin typeface="SourceHanSansCN-Bold"/>
            </a:endParaRPr>
          </a:p>
        </p:txBody>
      </p:sp>
      <p:sp>
        <p:nvSpPr>
          <p:cNvPr id="17" name="文本框 16">
            <a:extLst>
              <a:ext uri="{FF2B5EF4-FFF2-40B4-BE49-F238E27FC236}">
                <a16:creationId xmlns:a16="http://schemas.microsoft.com/office/drawing/2014/main" id="{4623A061-D95C-4E95-B2A7-269D34466AE4}"/>
              </a:ext>
            </a:extLst>
          </p:cNvPr>
          <p:cNvSpPr txBox="1"/>
          <p:nvPr/>
        </p:nvSpPr>
        <p:spPr>
          <a:xfrm>
            <a:off x="2659396" y="4157513"/>
            <a:ext cx="6873208" cy="2585323"/>
          </a:xfrm>
          <a:prstGeom prst="rect">
            <a:avLst/>
          </a:prstGeom>
          <a:solidFill>
            <a:schemeClr val="accent3">
              <a:lumMod val="20000"/>
              <a:lumOff val="80000"/>
            </a:schemeClr>
          </a:solidFill>
        </p:spPr>
        <p:txBody>
          <a:bodyPr wrap="square" rtlCol="0">
            <a:spAutoFit/>
          </a:bodyPr>
          <a:lstStyle/>
          <a:p>
            <a:r>
              <a:rPr lang="zh-CN" altLang="en-US" sz="1800" b="1" i="0" u="none" strike="noStrike" baseline="0" dirty="0">
                <a:latin typeface="SourceHanSansCN-Bold"/>
              </a:rPr>
              <a:t>电信行业</a:t>
            </a:r>
            <a:endParaRPr lang="en-US" altLang="zh-CN" sz="1800" b="1" i="0" u="none" strike="noStrike" baseline="0" dirty="0">
              <a:latin typeface="SourceHanSansCN-Bold"/>
            </a:endParaRPr>
          </a:p>
          <a:p>
            <a:pPr algn="l"/>
            <a:r>
              <a:rPr lang="zh-CN" altLang="en-US" sz="1800" b="0" i="0" u="none" strike="noStrike" baseline="0" dirty="0">
                <a:latin typeface="SourceHanSansCN-Light"/>
              </a:rPr>
              <a:t>以</a:t>
            </a:r>
            <a:r>
              <a:rPr lang="en-US" altLang="zh-CN" sz="1800" b="0" i="0" u="none" strike="noStrike" baseline="0" dirty="0">
                <a:latin typeface="OpenSans-Light"/>
              </a:rPr>
              <a:t>IT </a:t>
            </a:r>
            <a:r>
              <a:rPr lang="zh-CN" altLang="en-US" sz="1800" b="0" i="0" u="none" strike="noStrike" baseline="0" dirty="0">
                <a:latin typeface="SourceHanSansCN-Light"/>
              </a:rPr>
              <a:t>基础设施作为重要支柱的电信行业，始终保持对</a:t>
            </a:r>
            <a:r>
              <a:rPr lang="en-US" altLang="zh-CN" sz="1800" b="0" i="0" u="none" strike="noStrike" baseline="0" dirty="0">
                <a:latin typeface="OpenSans-Light"/>
              </a:rPr>
              <a:t>IT </a:t>
            </a:r>
            <a:r>
              <a:rPr lang="zh-CN" altLang="en-US" sz="1800" b="0" i="0" u="none" strike="noStrike" baseline="0" dirty="0">
                <a:latin typeface="SourceHanSansCN-Light"/>
              </a:rPr>
              <a:t>新技术与工程实践的关注和引入。 </a:t>
            </a:r>
            <a:endParaRPr lang="en-US" altLang="zh-CN" sz="1800" b="0" i="0" u="none" strike="noStrike" baseline="0"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过去</a:t>
            </a:r>
            <a:r>
              <a:rPr lang="en-US" altLang="zh-CN" sz="1800" b="0" i="0" u="none" strike="noStrike" baseline="0" dirty="0">
                <a:latin typeface="OpenSans-Light"/>
              </a:rPr>
              <a:t>5 </a:t>
            </a:r>
            <a:r>
              <a:rPr lang="zh-CN" altLang="en-US" sz="1800" b="0" i="0" u="none" strike="noStrike" baseline="0" dirty="0">
                <a:latin typeface="SourceHanSansCN-Light"/>
              </a:rPr>
              <a:t>年，电信行业</a:t>
            </a:r>
            <a:r>
              <a:rPr lang="en-US" altLang="zh-CN" sz="1800" b="0" i="0" u="none" strike="noStrike" baseline="0" dirty="0">
                <a:latin typeface="OpenSans-Light"/>
              </a:rPr>
              <a:t>IT </a:t>
            </a:r>
            <a:r>
              <a:rPr lang="zh-CN" altLang="en-US" sz="1800" b="0" i="0" u="none" strike="noStrike" baseline="0" dirty="0">
                <a:latin typeface="SourceHanSansCN-Light"/>
              </a:rPr>
              <a:t>基础设施经历了新一轮的翻新和升级：研发体系的敏捷转型，</a:t>
            </a:r>
            <a:r>
              <a:rPr lang="en-US" altLang="zh-CN" sz="1800" b="0" i="0" u="none" strike="noStrike" baseline="0" dirty="0">
                <a:latin typeface="OpenSans-Light"/>
              </a:rPr>
              <a:t>DevOps </a:t>
            </a:r>
            <a:r>
              <a:rPr lang="zh-CN" altLang="en-US" sz="1800" b="0" i="0" u="none" strike="noStrike" baseline="0" dirty="0">
                <a:latin typeface="SourceHanSansCN-Light"/>
              </a:rPr>
              <a:t>体系搭建、大型核心系统的容器化及服务化改造。</a:t>
            </a:r>
            <a:endParaRPr lang="en-US" altLang="zh-CN" sz="1800" b="0" i="0" u="none" strike="noStrike" baseline="0" dirty="0">
              <a:latin typeface="SourceHanSansCN-Light"/>
            </a:endParaRPr>
          </a:p>
          <a:p>
            <a:pPr marL="285750" indent="-285750" algn="l">
              <a:buFont typeface="Wingdings" panose="05000000000000000000" pitchFamily="2" charset="2"/>
              <a:buChar char="l"/>
            </a:pPr>
            <a:r>
              <a:rPr lang="zh-CN" altLang="en-US" sz="1800" b="0" i="0" u="none" strike="noStrike" baseline="0" dirty="0">
                <a:latin typeface="SourceHanSansCN-Light"/>
              </a:rPr>
              <a:t>在此基础上，加之“新基建”顶层设计的牵引和推动，行业整体的</a:t>
            </a:r>
            <a:r>
              <a:rPr lang="en-US" altLang="zh-CN" sz="1800" b="0" i="0" u="none" strike="noStrike" baseline="0" dirty="0">
                <a:latin typeface="OpenSans-Light"/>
              </a:rPr>
              <a:t>IT </a:t>
            </a:r>
            <a:r>
              <a:rPr lang="zh-CN" altLang="en-US" sz="1800" b="0" i="0" u="none" strike="noStrike" baseline="0" dirty="0">
                <a:latin typeface="SourceHanSansCN-Light"/>
              </a:rPr>
              <a:t>基础设施进一步深化，中台建设作为突破点和抓手之一，在营销、服务、网运等多层面展开，并不断取得进展。</a:t>
            </a:r>
            <a:endParaRPr lang="en-US" altLang="zh-CN" b="1" dirty="0">
              <a:latin typeface="SourceHanSansCN-Bold"/>
            </a:endParaRPr>
          </a:p>
        </p:txBody>
      </p:sp>
      <p:sp>
        <p:nvSpPr>
          <p:cNvPr id="3" name="箭头: 丁字 2">
            <a:extLst>
              <a:ext uri="{FF2B5EF4-FFF2-40B4-BE49-F238E27FC236}">
                <a16:creationId xmlns:a16="http://schemas.microsoft.com/office/drawing/2014/main" id="{EC94A49E-D2F9-433E-91F8-78793B4D874D}"/>
              </a:ext>
            </a:extLst>
          </p:cNvPr>
          <p:cNvSpPr/>
          <p:nvPr/>
        </p:nvSpPr>
        <p:spPr>
          <a:xfrm rot="10800000">
            <a:off x="5262263" y="3029343"/>
            <a:ext cx="1799451" cy="1128170"/>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69D7690D-B71B-464C-8099-AEBAA2ED2D82}"/>
              </a:ext>
            </a:extLst>
          </p:cNvPr>
          <p:cNvSpPr/>
          <p:nvPr/>
        </p:nvSpPr>
        <p:spPr>
          <a:xfrm>
            <a:off x="5318571" y="1659117"/>
            <a:ext cx="1799452" cy="14705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400" b="1" i="0" u="none" strike="noStrike" baseline="0" dirty="0">
                <a:latin typeface="SourceHanSansCN-Bold"/>
              </a:rPr>
              <a:t>以互联网巨头中台化为原点，延伸到三大传统行业，中台实践正在进入到深水区</a:t>
            </a:r>
            <a:endParaRPr lang="zh-CN" altLang="en-US" sz="1400" dirty="0"/>
          </a:p>
        </p:txBody>
      </p:sp>
    </p:spTree>
    <p:extLst>
      <p:ext uri="{BB962C8B-B14F-4D97-AF65-F5344CB8AC3E}">
        <p14:creationId xmlns:p14="http://schemas.microsoft.com/office/powerpoint/2010/main" val="1198531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4549BB07-AFFD-44B0-A720-69D2F32AE35D}"/>
              </a:ext>
            </a:extLst>
          </p:cNvPr>
          <p:cNvGraphicFramePr/>
          <p:nvPr>
            <p:extLst>
              <p:ext uri="{D42A27DB-BD31-4B8C-83A1-F6EECF244321}">
                <p14:modId xmlns:p14="http://schemas.microsoft.com/office/powerpoint/2010/main" val="3208084222"/>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a:extLst>
              <a:ext uri="{FF2B5EF4-FFF2-40B4-BE49-F238E27FC236}">
                <a16:creationId xmlns:a16="http://schemas.microsoft.com/office/drawing/2014/main" id="{63580D39-043A-4A86-8862-16A1430055F7}"/>
              </a:ext>
            </a:extLst>
          </p:cNvPr>
          <p:cNvSpPr txBox="1"/>
          <p:nvPr/>
        </p:nvSpPr>
        <p:spPr>
          <a:xfrm>
            <a:off x="2032000" y="5684363"/>
            <a:ext cx="3982301" cy="646331"/>
          </a:xfrm>
          <a:prstGeom prst="rect">
            <a:avLst/>
          </a:prstGeom>
          <a:solidFill>
            <a:srgbClr val="00B050"/>
          </a:solidFill>
        </p:spPr>
        <p:txBody>
          <a:bodyPr wrap="square" rtlCol="0">
            <a:spAutoFit/>
          </a:bodyPr>
          <a:lstStyle/>
          <a:p>
            <a:pPr algn="l"/>
            <a:r>
              <a:rPr lang="zh-CN" altLang="en-US" sz="1800" b="0" i="0" u="none" strike="noStrike" baseline="0" dirty="0">
                <a:latin typeface="SourceHanSansCN-Light"/>
              </a:rPr>
              <a:t>这些领域中，中台的差异化适配和建设，印证了中台实践已进入深水区</a:t>
            </a:r>
            <a:endParaRPr lang="en-US" altLang="zh-CN" sz="1800" b="0" i="0" u="none" strike="noStrike" baseline="0" dirty="0">
              <a:latin typeface="SourceHanSansCN-Light"/>
            </a:endParaRPr>
          </a:p>
        </p:txBody>
      </p:sp>
      <p:sp>
        <p:nvSpPr>
          <p:cNvPr id="4" name="文本框 3">
            <a:extLst>
              <a:ext uri="{FF2B5EF4-FFF2-40B4-BE49-F238E27FC236}">
                <a16:creationId xmlns:a16="http://schemas.microsoft.com/office/drawing/2014/main" id="{0E861715-37D3-415B-AA18-4C8BC9DB3FBE}"/>
              </a:ext>
            </a:extLst>
          </p:cNvPr>
          <p:cNvSpPr txBox="1"/>
          <p:nvPr/>
        </p:nvSpPr>
        <p:spPr>
          <a:xfrm>
            <a:off x="245097" y="358219"/>
            <a:ext cx="11001080" cy="646331"/>
          </a:xfrm>
          <a:prstGeom prst="rect">
            <a:avLst/>
          </a:prstGeom>
          <a:noFill/>
        </p:spPr>
        <p:txBody>
          <a:bodyPr wrap="square" rtlCol="0">
            <a:spAutoFit/>
          </a:bodyPr>
          <a:lstStyle/>
          <a:p>
            <a:r>
              <a:rPr lang="en-US" altLang="zh-CN" b="1" i="0" dirty="0" err="1">
                <a:solidFill>
                  <a:srgbClr val="333333"/>
                </a:solidFill>
                <a:effectLst/>
                <a:latin typeface="mp-quote"/>
              </a:rPr>
              <a:t>ThoughtWorks</a:t>
            </a:r>
            <a:r>
              <a:rPr lang="en-US" altLang="zh-CN" b="1" i="0" dirty="0">
                <a:solidFill>
                  <a:srgbClr val="333333"/>
                </a:solidFill>
                <a:effectLst/>
                <a:latin typeface="mp-quote"/>
              </a:rPr>
              <a:t> </a:t>
            </a:r>
            <a:r>
              <a:rPr lang="zh-CN" altLang="en-US" b="1" i="0" dirty="0">
                <a:solidFill>
                  <a:srgbClr val="333333"/>
                </a:solidFill>
                <a:effectLst/>
                <a:latin typeface="mp-quote"/>
              </a:rPr>
              <a:t>在以上行业中台建设的深入实践认为，“中台”不是目的，而是手段，“平台化”向业务的再演进，是本轮数字化建设中的重要趋势</a:t>
            </a:r>
            <a:endParaRPr lang="zh-CN" altLang="en-US" dirty="0"/>
          </a:p>
        </p:txBody>
      </p:sp>
      <p:sp>
        <p:nvSpPr>
          <p:cNvPr id="6" name="文本框 5">
            <a:extLst>
              <a:ext uri="{FF2B5EF4-FFF2-40B4-BE49-F238E27FC236}">
                <a16:creationId xmlns:a16="http://schemas.microsoft.com/office/drawing/2014/main" id="{963C6270-0BB6-41C7-9F89-025F2A3D5A8C}"/>
              </a:ext>
            </a:extLst>
          </p:cNvPr>
          <p:cNvSpPr txBox="1"/>
          <p:nvPr/>
        </p:nvSpPr>
        <p:spPr>
          <a:xfrm>
            <a:off x="6259398" y="5684363"/>
            <a:ext cx="3982301" cy="646331"/>
          </a:xfrm>
          <a:prstGeom prst="rect">
            <a:avLst/>
          </a:prstGeom>
          <a:solidFill>
            <a:srgbClr val="00B050"/>
          </a:solidFill>
        </p:spPr>
        <p:txBody>
          <a:bodyPr wrap="square" rtlCol="0">
            <a:spAutoFit/>
          </a:bodyPr>
          <a:lstStyle/>
          <a:p>
            <a:pPr algn="l"/>
            <a:r>
              <a:rPr lang="zh-CN" altLang="en-US" sz="1800" b="0" i="0" u="none" strike="noStrike" baseline="0" dirty="0">
                <a:latin typeface="SourceHanSansCN-Light"/>
              </a:rPr>
              <a:t>中台实施“失败”的案例不绝于耳，行业对“中台”观点出现清晰的分化</a:t>
            </a:r>
            <a:endParaRPr lang="en-US" altLang="zh-CN" sz="1800" b="0" i="0" u="none" strike="noStrike" baseline="0" dirty="0">
              <a:latin typeface="SourceHanSansCN-Light"/>
            </a:endParaRPr>
          </a:p>
        </p:txBody>
      </p:sp>
    </p:spTree>
    <p:extLst>
      <p:ext uri="{BB962C8B-B14F-4D97-AF65-F5344CB8AC3E}">
        <p14:creationId xmlns:p14="http://schemas.microsoft.com/office/powerpoint/2010/main" val="2441009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E861715-37D3-415B-AA18-4C8BC9DB3FBE}"/>
              </a:ext>
            </a:extLst>
          </p:cNvPr>
          <p:cNvSpPr txBox="1"/>
          <p:nvPr/>
        </p:nvSpPr>
        <p:spPr>
          <a:xfrm>
            <a:off x="245097" y="358219"/>
            <a:ext cx="11001080" cy="369332"/>
          </a:xfrm>
          <a:prstGeom prst="rect">
            <a:avLst/>
          </a:prstGeom>
          <a:noFill/>
        </p:spPr>
        <p:txBody>
          <a:bodyPr wrap="square" rtlCol="0">
            <a:spAutoFit/>
          </a:bodyPr>
          <a:lstStyle/>
          <a:p>
            <a:r>
              <a:rPr lang="zh-CN" altLang="en-US" sz="1800" b="0" i="0" u="none" strike="noStrike" baseline="0" dirty="0">
                <a:latin typeface="SourceHanSansCN-Light"/>
              </a:rPr>
              <a:t>中台建设的成功，或者“失败”，甚至“去中台化”声音背后，本质上是一致的商业逻辑：</a:t>
            </a:r>
            <a:endParaRPr lang="zh-CN" altLang="en-US" dirty="0"/>
          </a:p>
        </p:txBody>
      </p:sp>
      <p:graphicFrame>
        <p:nvGraphicFramePr>
          <p:cNvPr id="5" name="图示 4">
            <a:extLst>
              <a:ext uri="{FF2B5EF4-FFF2-40B4-BE49-F238E27FC236}">
                <a16:creationId xmlns:a16="http://schemas.microsoft.com/office/drawing/2014/main" id="{D91ADE5C-78DB-471E-A84D-52B6E6A9EF47}"/>
              </a:ext>
            </a:extLst>
          </p:cNvPr>
          <p:cNvGraphicFramePr/>
          <p:nvPr>
            <p:extLst>
              <p:ext uri="{D42A27DB-BD31-4B8C-83A1-F6EECF244321}">
                <p14:modId xmlns:p14="http://schemas.microsoft.com/office/powerpoint/2010/main" val="2647334733"/>
              </p:ext>
            </p:extLst>
          </p:nvPr>
        </p:nvGraphicFramePr>
        <p:xfrm>
          <a:off x="636830" y="108731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D85EB041-446A-4653-90B0-666C4572729C}"/>
              </a:ext>
            </a:extLst>
          </p:cNvPr>
          <p:cNvSpPr txBox="1"/>
          <p:nvPr/>
        </p:nvSpPr>
        <p:spPr>
          <a:xfrm>
            <a:off x="914397" y="1497947"/>
            <a:ext cx="3619893" cy="1569660"/>
          </a:xfrm>
          <a:prstGeom prst="rect">
            <a:avLst/>
          </a:prstGeom>
          <a:solidFill>
            <a:schemeClr val="tx2"/>
          </a:solidFill>
        </p:spPr>
        <p:txBody>
          <a:bodyPr wrap="square" rtlCol="0">
            <a:spAutoFit/>
          </a:bodyPr>
          <a:lstStyle/>
          <a:p>
            <a:pPr algn="ctr"/>
            <a:r>
              <a:rPr lang="zh-CN" altLang="en-US" sz="3200" b="1" i="0" u="none" strike="noStrike" baseline="0" dirty="0">
                <a:solidFill>
                  <a:srgbClr val="FFFFFF"/>
                </a:solidFill>
                <a:latin typeface="SourceHanSansCN-Bold"/>
              </a:rPr>
              <a:t>中台建设“ 不</a:t>
            </a:r>
          </a:p>
          <a:p>
            <a:pPr algn="ctr"/>
            <a:r>
              <a:rPr lang="zh-CN" altLang="en-US" sz="3200" b="1" i="0" u="none" strike="noStrike" baseline="0" dirty="0">
                <a:solidFill>
                  <a:srgbClr val="FFFFFF"/>
                </a:solidFill>
                <a:latin typeface="SourceHanSansCN-Bold"/>
              </a:rPr>
              <a:t>是” 广义软件</a:t>
            </a:r>
          </a:p>
          <a:p>
            <a:pPr algn="ctr"/>
            <a:r>
              <a:rPr lang="zh-CN" altLang="en-US" sz="3200" b="1" i="0" u="none" strike="noStrike" baseline="0" dirty="0">
                <a:solidFill>
                  <a:srgbClr val="FFFFFF"/>
                </a:solidFill>
                <a:latin typeface="SourceHanSansCN-Bold"/>
              </a:rPr>
              <a:t>套件实施：</a:t>
            </a:r>
            <a:endParaRPr lang="zh-CN" altLang="en-US" sz="3200" dirty="0"/>
          </a:p>
        </p:txBody>
      </p:sp>
      <p:sp>
        <p:nvSpPr>
          <p:cNvPr id="8" name="文本框 7">
            <a:extLst>
              <a:ext uri="{FF2B5EF4-FFF2-40B4-BE49-F238E27FC236}">
                <a16:creationId xmlns:a16="http://schemas.microsoft.com/office/drawing/2014/main" id="{7D63CBA2-3A28-47AC-AD9E-A0E4272D9740}"/>
              </a:ext>
            </a:extLst>
          </p:cNvPr>
          <p:cNvSpPr txBox="1"/>
          <p:nvPr/>
        </p:nvSpPr>
        <p:spPr>
          <a:xfrm>
            <a:off x="4915813" y="1465607"/>
            <a:ext cx="3619893" cy="1754326"/>
          </a:xfrm>
          <a:prstGeom prst="rect">
            <a:avLst/>
          </a:prstGeom>
          <a:solidFill>
            <a:schemeClr val="tx2"/>
          </a:solidFill>
        </p:spPr>
        <p:txBody>
          <a:bodyPr wrap="square" rtlCol="0">
            <a:spAutoFit/>
          </a:bodyPr>
          <a:lstStyle/>
          <a:p>
            <a:pPr algn="ctr"/>
            <a:r>
              <a:rPr lang="zh-CN" altLang="en-US" sz="2700" b="1" dirty="0">
                <a:solidFill>
                  <a:srgbClr val="FFFFFF"/>
                </a:solidFill>
                <a:latin typeface="SourceHanSansCN-Bold"/>
              </a:rPr>
              <a:t>中台建设“是”对于企业业务模式端到的</a:t>
            </a:r>
          </a:p>
          <a:p>
            <a:pPr algn="ctr"/>
            <a:r>
              <a:rPr lang="zh-CN" altLang="en-US" sz="2700" b="1" dirty="0">
                <a:solidFill>
                  <a:srgbClr val="FFFFFF"/>
                </a:solidFill>
                <a:latin typeface="SourceHanSansCN-Bold"/>
              </a:rPr>
              <a:t>深度分析、</a:t>
            </a:r>
            <a:endParaRPr lang="en-US" altLang="zh-CN" sz="2700" b="1" dirty="0">
              <a:solidFill>
                <a:srgbClr val="FFFFFF"/>
              </a:solidFill>
              <a:latin typeface="SourceHanSansCN-Bold"/>
            </a:endParaRPr>
          </a:p>
          <a:p>
            <a:pPr algn="ctr"/>
            <a:r>
              <a:rPr lang="zh-CN" altLang="en-US" sz="2700" b="1" dirty="0">
                <a:solidFill>
                  <a:srgbClr val="FFFFFF"/>
                </a:solidFill>
                <a:latin typeface="SourceHanSansCN-Bold"/>
              </a:rPr>
              <a:t>建模与复用：</a:t>
            </a:r>
          </a:p>
        </p:txBody>
      </p:sp>
      <p:sp>
        <p:nvSpPr>
          <p:cNvPr id="9" name="文本框 8">
            <a:extLst>
              <a:ext uri="{FF2B5EF4-FFF2-40B4-BE49-F238E27FC236}">
                <a16:creationId xmlns:a16="http://schemas.microsoft.com/office/drawing/2014/main" id="{AED5B702-54F5-409F-8935-1530F37C48B3}"/>
              </a:ext>
            </a:extLst>
          </p:cNvPr>
          <p:cNvSpPr txBox="1"/>
          <p:nvPr/>
        </p:nvSpPr>
        <p:spPr>
          <a:xfrm>
            <a:off x="9453648" y="2282777"/>
            <a:ext cx="2301576" cy="2585323"/>
          </a:xfrm>
          <a:prstGeom prst="rect">
            <a:avLst/>
          </a:prstGeom>
          <a:solidFill>
            <a:schemeClr val="bg1">
              <a:lumMod val="85000"/>
            </a:schemeClr>
          </a:solidFill>
        </p:spPr>
        <p:txBody>
          <a:bodyPr wrap="square" rtlCol="0">
            <a:spAutoFit/>
          </a:bodyPr>
          <a:lstStyle/>
          <a:p>
            <a:pPr algn="just"/>
            <a:r>
              <a:rPr lang="zh-CN" altLang="en-US" b="0" i="0" dirty="0">
                <a:solidFill>
                  <a:srgbClr val="333333"/>
                </a:solidFill>
                <a:effectLst/>
                <a:latin typeface="mp-quote"/>
              </a:rPr>
              <a:t>“中台”是手段、过程，不是目的本身。</a:t>
            </a:r>
          </a:p>
          <a:p>
            <a:pPr algn="just"/>
            <a:r>
              <a:rPr lang="zh-CN" altLang="en-US" b="0" i="0" dirty="0">
                <a:solidFill>
                  <a:srgbClr val="333333"/>
                </a:solidFill>
                <a:effectLst/>
                <a:latin typeface="mp-quote"/>
              </a:rPr>
              <a:t>​回归本源，从问题与价值出发，“平台化”向业务的再演进，是这一轮数字化建设浪潮中需要关注的重要趋势，也是企业现代化进程中的关键步骤。</a:t>
            </a:r>
          </a:p>
        </p:txBody>
      </p:sp>
    </p:spTree>
    <p:extLst>
      <p:ext uri="{BB962C8B-B14F-4D97-AF65-F5344CB8AC3E}">
        <p14:creationId xmlns:p14="http://schemas.microsoft.com/office/powerpoint/2010/main" val="2860180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5B111438-DE06-4A63-B60B-28EE2EC49936}"/>
              </a:ext>
            </a:extLst>
          </p:cNvPr>
          <p:cNvSpPr/>
          <p:nvPr/>
        </p:nvSpPr>
        <p:spPr>
          <a:xfrm>
            <a:off x="1359254" y="2045627"/>
            <a:ext cx="10574337" cy="1403204"/>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 name="任意多边形: 形状 2">
            <a:extLst>
              <a:ext uri="{FF2B5EF4-FFF2-40B4-BE49-F238E27FC236}">
                <a16:creationId xmlns:a16="http://schemas.microsoft.com/office/drawing/2014/main" id="{338D72B9-ACF3-45FD-A672-4F9E51C21BB7}"/>
              </a:ext>
            </a:extLst>
          </p:cNvPr>
          <p:cNvSpPr/>
          <p:nvPr/>
        </p:nvSpPr>
        <p:spPr>
          <a:xfrm flipH="1">
            <a:off x="1362482" y="2045624"/>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a:gsLst>
              <a:gs pos="0">
                <a:srgbClr val="8BBAD4"/>
              </a:gs>
              <a:gs pos="98000">
                <a:srgbClr val="2F557A"/>
              </a:gs>
            </a:gsLst>
            <a:lin ang="5400000" scaled="1"/>
          </a:gradFill>
          <a:ln>
            <a:noFill/>
          </a:ln>
          <a:effectLst>
            <a:outerShdw blurRad="342900" dist="165100" dir="18900000" sx="96000" sy="96000" algn="bl" rotWithShape="0">
              <a:srgbClr val="8BBAD4">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4" name="文本框 3">
            <a:extLst>
              <a:ext uri="{FF2B5EF4-FFF2-40B4-BE49-F238E27FC236}">
                <a16:creationId xmlns:a16="http://schemas.microsoft.com/office/drawing/2014/main" id="{75018EF7-FC2F-4FA0-9886-2A798A7E20FA}"/>
              </a:ext>
            </a:extLst>
          </p:cNvPr>
          <p:cNvSpPr txBox="1"/>
          <p:nvPr/>
        </p:nvSpPr>
        <p:spPr>
          <a:xfrm>
            <a:off x="1510432" y="2328234"/>
            <a:ext cx="1210588" cy="830997"/>
          </a:xfrm>
          <a:prstGeom prst="rect">
            <a:avLst/>
          </a:prstGeom>
          <a:noFill/>
        </p:spPr>
        <p:txBody>
          <a:bodyPr wrap="none">
            <a:spAutoFit/>
          </a:bodyPr>
          <a:lstStyle/>
          <a:p>
            <a:pPr>
              <a:defRPr/>
            </a:pPr>
            <a:r>
              <a:rPr lang="zh-CN" altLang="en-US" sz="1600" dirty="0">
                <a:solidFill>
                  <a:prstClr val="white"/>
                </a:solidFill>
                <a:latin typeface="思源宋体 CN Heavy"/>
              </a:rPr>
              <a:t>如何合理地</a:t>
            </a:r>
            <a:endParaRPr lang="en-US" altLang="zh-CN" sz="1600" dirty="0">
              <a:solidFill>
                <a:prstClr val="white"/>
              </a:solidFill>
              <a:latin typeface="思源宋体 CN Heavy"/>
            </a:endParaRPr>
          </a:p>
          <a:p>
            <a:pPr>
              <a:defRPr/>
            </a:pPr>
            <a:r>
              <a:rPr lang="zh-CN" altLang="en-US" sz="1600" dirty="0">
                <a:solidFill>
                  <a:prstClr val="white"/>
                </a:solidFill>
                <a:latin typeface="思源宋体 CN Heavy"/>
              </a:rPr>
              <a:t>划分</a:t>
            </a:r>
            <a:r>
              <a:rPr lang="en-US" altLang="zh-CN" sz="1600" dirty="0">
                <a:solidFill>
                  <a:prstClr val="white"/>
                </a:solidFill>
                <a:latin typeface="思源宋体 CN Heavy"/>
              </a:rPr>
              <a:t>IT </a:t>
            </a:r>
          </a:p>
          <a:p>
            <a:pPr>
              <a:defRPr/>
            </a:pPr>
            <a:r>
              <a:rPr lang="zh-CN" altLang="en-US" sz="1600" dirty="0">
                <a:solidFill>
                  <a:prstClr val="white"/>
                </a:solidFill>
                <a:latin typeface="思源宋体 CN Heavy"/>
              </a:rPr>
              <a:t>系统边界？</a:t>
            </a:r>
          </a:p>
        </p:txBody>
      </p:sp>
      <p:sp>
        <p:nvSpPr>
          <p:cNvPr id="5" name="文本框 4">
            <a:extLst>
              <a:ext uri="{FF2B5EF4-FFF2-40B4-BE49-F238E27FC236}">
                <a16:creationId xmlns:a16="http://schemas.microsoft.com/office/drawing/2014/main" id="{89A9931A-D0F8-4870-82F5-78A3D044B8C3}"/>
              </a:ext>
            </a:extLst>
          </p:cNvPr>
          <p:cNvSpPr txBox="1"/>
          <p:nvPr/>
        </p:nvSpPr>
        <p:spPr>
          <a:xfrm>
            <a:off x="3363782" y="2244669"/>
            <a:ext cx="7963470" cy="1169551"/>
          </a:xfrm>
          <a:prstGeom prst="rect">
            <a:avLst/>
          </a:prstGeom>
          <a:noFill/>
        </p:spPr>
        <p:txBody>
          <a:bodyPr wrap="square">
            <a:spAutoFit/>
          </a:bodyPr>
          <a:lstStyle/>
          <a:p>
            <a:pPr marL="285750" indent="-285750" algn="l">
              <a:buFont typeface="Arial" panose="020B0604020202020204" pitchFamily="34" charset="0"/>
              <a:buChar char="•"/>
            </a:pPr>
            <a:r>
              <a:rPr lang="zh-CN" altLang="en-US" sz="1400" dirty="0">
                <a:solidFill>
                  <a:prstClr val="black">
                    <a:lumMod val="75000"/>
                    <a:lumOff val="25000"/>
                  </a:prstClr>
                </a:solidFill>
                <a:latin typeface="Roboto"/>
              </a:rPr>
              <a:t>如何划分应用构建块的逻辑边界，使其尽可能职责单一、接口规范明确，容易变更和组装？</a:t>
            </a:r>
            <a:endParaRPr lang="en-US" altLang="zh-CN" sz="1400" dirty="0">
              <a:solidFill>
                <a:prstClr val="black">
                  <a:lumMod val="75000"/>
                  <a:lumOff val="25000"/>
                </a:prstClr>
              </a:solidFill>
              <a:latin typeface="Roboto"/>
            </a:endParaRPr>
          </a:p>
          <a:p>
            <a:pPr algn="l"/>
            <a:endParaRPr lang="en-US" altLang="zh-CN" sz="1400" dirty="0">
              <a:solidFill>
                <a:prstClr val="black">
                  <a:lumMod val="75000"/>
                  <a:lumOff val="25000"/>
                </a:prstClr>
              </a:solidFill>
              <a:latin typeface="Roboto"/>
            </a:endParaRPr>
          </a:p>
          <a:p>
            <a:pPr marL="285750" indent="-285750" algn="l">
              <a:buFont typeface="Arial" panose="020B0604020202020204" pitchFamily="34" charset="0"/>
              <a:buChar char="•"/>
            </a:pPr>
            <a:r>
              <a:rPr lang="zh-CN" altLang="en-US" sz="1400" dirty="0">
                <a:solidFill>
                  <a:prstClr val="black">
                    <a:lumMod val="75000"/>
                    <a:lumOff val="25000"/>
                  </a:prstClr>
                </a:solidFill>
                <a:latin typeface="Roboto"/>
              </a:rPr>
              <a:t>如何组合应用构建块成为合适粒度的独立可部署单元，尽可能减少功能、运行层面的变更冲突？</a:t>
            </a:r>
            <a:endParaRPr lang="en-US" altLang="zh-CN" sz="1400" dirty="0">
              <a:solidFill>
                <a:prstClr val="black">
                  <a:lumMod val="75000"/>
                  <a:lumOff val="25000"/>
                </a:prstClr>
              </a:solidFill>
              <a:latin typeface="Roboto"/>
            </a:endParaRPr>
          </a:p>
          <a:p>
            <a:pPr marL="285750" indent="-285750">
              <a:buFont typeface="Arial" panose="020B0604020202020204" pitchFamily="34" charset="0"/>
              <a:buChar char="•"/>
            </a:pPr>
            <a:endParaRPr lang="en-US" altLang="zh-CN" sz="1400" dirty="0">
              <a:solidFill>
                <a:prstClr val="black">
                  <a:lumMod val="75000"/>
                  <a:lumOff val="25000"/>
                </a:prstClr>
              </a:solidFill>
              <a:latin typeface="Roboto"/>
            </a:endParaRPr>
          </a:p>
          <a:p>
            <a:pPr marL="285750" indent="-285750">
              <a:buFont typeface="Arial" panose="020B0604020202020204" pitchFamily="34" charset="0"/>
              <a:buChar char="•"/>
            </a:pPr>
            <a:r>
              <a:rPr lang="zh-CN" altLang="en-US" sz="1400" dirty="0">
                <a:solidFill>
                  <a:prstClr val="black">
                    <a:lumMod val="75000"/>
                    <a:lumOff val="25000"/>
                  </a:prstClr>
                </a:solidFill>
                <a:latin typeface="Roboto"/>
              </a:rPr>
              <a:t>如何描述、留存以上决策的结果和依据，当变化发生时，通过溯源做出优质的新应对？</a:t>
            </a:r>
          </a:p>
        </p:txBody>
      </p:sp>
      <p:grpSp>
        <p:nvGrpSpPr>
          <p:cNvPr id="6" name="组合 5">
            <a:extLst>
              <a:ext uri="{FF2B5EF4-FFF2-40B4-BE49-F238E27FC236}">
                <a16:creationId xmlns:a16="http://schemas.microsoft.com/office/drawing/2014/main" id="{4FB97EF9-F84A-485A-A00F-8DE8EFFC3874}"/>
              </a:ext>
            </a:extLst>
          </p:cNvPr>
          <p:cNvGrpSpPr/>
          <p:nvPr/>
        </p:nvGrpSpPr>
        <p:grpSpPr>
          <a:xfrm>
            <a:off x="1330378" y="3694577"/>
            <a:ext cx="11102965" cy="1403207"/>
            <a:chOff x="874713" y="3262864"/>
            <a:chExt cx="11102965" cy="1403207"/>
          </a:xfrm>
        </p:grpSpPr>
        <p:sp>
          <p:nvSpPr>
            <p:cNvPr id="7" name="矩形: 圆角 6">
              <a:extLst>
                <a:ext uri="{FF2B5EF4-FFF2-40B4-BE49-F238E27FC236}">
                  <a16:creationId xmlns:a16="http://schemas.microsoft.com/office/drawing/2014/main" id="{1D195A3F-47FA-4B6A-820B-DAFFD0D5482A}"/>
                </a:ext>
              </a:extLst>
            </p:cNvPr>
            <p:cNvSpPr/>
            <p:nvPr/>
          </p:nvSpPr>
          <p:spPr>
            <a:xfrm>
              <a:off x="874713" y="3262867"/>
              <a:ext cx="10574337" cy="1403204"/>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 name="任意多边形: 形状 7">
              <a:extLst>
                <a:ext uri="{FF2B5EF4-FFF2-40B4-BE49-F238E27FC236}">
                  <a16:creationId xmlns:a16="http://schemas.microsoft.com/office/drawing/2014/main" id="{0350FF70-2FE3-4B80-A2B5-A23ED3990FA1}"/>
                </a:ext>
              </a:extLst>
            </p:cNvPr>
            <p:cNvSpPr/>
            <p:nvPr/>
          </p:nvSpPr>
          <p:spPr>
            <a:xfrm flipH="1">
              <a:off x="877941" y="3262864"/>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flip="none" rotWithShape="1">
              <a:gsLst>
                <a:gs pos="0">
                  <a:schemeClr val="accent3">
                    <a:lumMod val="60000"/>
                    <a:lumOff val="40000"/>
                  </a:schemeClr>
                </a:gs>
                <a:gs pos="100000">
                  <a:schemeClr val="accent3"/>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9" name="文本框 8">
              <a:extLst>
                <a:ext uri="{FF2B5EF4-FFF2-40B4-BE49-F238E27FC236}">
                  <a16:creationId xmlns:a16="http://schemas.microsoft.com/office/drawing/2014/main" id="{DA50A53B-3BF8-4B01-9718-22DEFD4C5A5B}"/>
                </a:ext>
              </a:extLst>
            </p:cNvPr>
            <p:cNvSpPr txBox="1"/>
            <p:nvPr/>
          </p:nvSpPr>
          <p:spPr>
            <a:xfrm>
              <a:off x="874713" y="3440673"/>
              <a:ext cx="1620957" cy="954107"/>
            </a:xfrm>
            <a:prstGeom prst="rect">
              <a:avLst/>
            </a:prstGeom>
            <a:noFill/>
          </p:spPr>
          <p:txBody>
            <a:bodyPr wrap="none">
              <a:spAutoFit/>
            </a:bodyPr>
            <a:lstStyle/>
            <a:p>
              <a:pPr>
                <a:defRPr/>
              </a:pPr>
              <a:r>
                <a:rPr lang="zh-CN" altLang="en-US" sz="1400" dirty="0">
                  <a:solidFill>
                    <a:prstClr val="white"/>
                  </a:solidFill>
                  <a:latin typeface="思源宋体 CN Heavy"/>
                </a:rPr>
                <a:t>如何拆分分析</a:t>
              </a:r>
              <a:endParaRPr lang="en-US" altLang="zh-CN" sz="1400" dirty="0">
                <a:solidFill>
                  <a:prstClr val="white"/>
                </a:solidFill>
                <a:latin typeface="思源宋体 CN Heavy"/>
              </a:endParaRPr>
            </a:p>
            <a:p>
              <a:pPr>
                <a:defRPr/>
              </a:pPr>
              <a:r>
                <a:rPr lang="zh-CN" altLang="en-US" sz="1400" dirty="0">
                  <a:solidFill>
                    <a:prstClr val="white"/>
                  </a:solidFill>
                  <a:latin typeface="思源宋体 CN Heavy"/>
                </a:rPr>
                <a:t>类数据处理职</a:t>
              </a:r>
              <a:endParaRPr lang="en-US" altLang="zh-CN" sz="1400" dirty="0">
                <a:solidFill>
                  <a:prstClr val="white"/>
                </a:solidFill>
                <a:latin typeface="思源宋体 CN Heavy"/>
              </a:endParaRPr>
            </a:p>
            <a:p>
              <a:pPr>
                <a:defRPr/>
              </a:pPr>
              <a:r>
                <a:rPr lang="zh-CN" altLang="en-US" sz="1400" dirty="0">
                  <a:solidFill>
                    <a:prstClr val="white"/>
                  </a:solidFill>
                  <a:latin typeface="思源宋体 CN Heavy"/>
                </a:rPr>
                <a:t>责，以缓解数</a:t>
              </a:r>
              <a:endParaRPr lang="en-US" altLang="zh-CN" sz="1400" dirty="0">
                <a:solidFill>
                  <a:prstClr val="white"/>
                </a:solidFill>
                <a:latin typeface="思源宋体 CN Heavy"/>
              </a:endParaRPr>
            </a:p>
            <a:p>
              <a:pPr>
                <a:defRPr/>
              </a:pPr>
              <a:r>
                <a:rPr lang="zh-CN" altLang="en-US" sz="1400" dirty="0">
                  <a:solidFill>
                    <a:prstClr val="white"/>
                  </a:solidFill>
                  <a:latin typeface="思源宋体 CN Heavy"/>
                </a:rPr>
                <a:t>据分析处理瓶颈？</a:t>
              </a:r>
            </a:p>
          </p:txBody>
        </p:sp>
        <p:sp>
          <p:nvSpPr>
            <p:cNvPr id="10" name="文本框 9">
              <a:extLst>
                <a:ext uri="{FF2B5EF4-FFF2-40B4-BE49-F238E27FC236}">
                  <a16:creationId xmlns:a16="http://schemas.microsoft.com/office/drawing/2014/main" id="{E986314C-A62F-4A0F-9ED4-0E6FE8F97734}"/>
                </a:ext>
              </a:extLst>
            </p:cNvPr>
            <p:cNvSpPr txBox="1"/>
            <p:nvPr/>
          </p:nvSpPr>
          <p:spPr>
            <a:xfrm>
              <a:off x="2905075" y="3362201"/>
              <a:ext cx="9072603" cy="1169551"/>
            </a:xfrm>
            <a:prstGeom prst="rect">
              <a:avLst/>
            </a:prstGeom>
            <a:noFill/>
          </p:spPr>
          <p:txBody>
            <a:bodyPr wrap="square">
              <a:spAutoFit/>
            </a:bodyPr>
            <a:lstStyle/>
            <a:p>
              <a:pPr marL="285750" indent="-285750" algn="l">
                <a:buFont typeface="Arial" panose="020B0604020202020204" pitchFamily="34" charset="0"/>
                <a:buChar char="•"/>
              </a:pPr>
              <a:r>
                <a:rPr lang="zh-CN" altLang="en-US" sz="1400" dirty="0">
                  <a:solidFill>
                    <a:prstClr val="black">
                      <a:lumMod val="75000"/>
                      <a:lumOff val="25000"/>
                    </a:prstClr>
                  </a:solidFill>
                  <a:latin typeface="Roboto"/>
                </a:rPr>
                <a:t>对于运行类和分析类场景，应该使用不同的设计方法和技术支撑。</a:t>
              </a:r>
              <a:endParaRPr lang="en-US" altLang="zh-CN" sz="1400" dirty="0">
                <a:solidFill>
                  <a:prstClr val="black">
                    <a:lumMod val="75000"/>
                    <a:lumOff val="25000"/>
                  </a:prstClr>
                </a:solidFill>
                <a:latin typeface="Roboto"/>
              </a:endParaRPr>
            </a:p>
            <a:p>
              <a:pPr marL="285750" indent="-285750">
                <a:buFont typeface="Arial" panose="020B0604020202020204" pitchFamily="34" charset="0"/>
                <a:buChar char="•"/>
              </a:pPr>
              <a:r>
                <a:rPr lang="zh-CN" altLang="en-US" sz="1400" dirty="0">
                  <a:solidFill>
                    <a:prstClr val="black">
                      <a:lumMod val="75000"/>
                      <a:lumOff val="25000"/>
                    </a:prstClr>
                  </a:solidFill>
                  <a:latin typeface="Roboto"/>
                </a:rPr>
                <a:t>运行类场景以业务事务为主线，关注业务事务运作证据的完整性，一致性和可追溯性。</a:t>
              </a:r>
              <a:endParaRPr lang="en-US" altLang="zh-CN" sz="1400" dirty="0">
                <a:solidFill>
                  <a:prstClr val="black">
                    <a:lumMod val="75000"/>
                    <a:lumOff val="25000"/>
                  </a:prstClr>
                </a:solidFill>
                <a:latin typeface="Roboto"/>
              </a:endParaRPr>
            </a:p>
            <a:p>
              <a:pPr marL="285750" indent="-285750">
                <a:buFont typeface="Arial" panose="020B0604020202020204" pitchFamily="34" charset="0"/>
                <a:buChar char="•"/>
              </a:pPr>
              <a:r>
                <a:rPr lang="zh-CN" altLang="en-US" sz="1400" dirty="0">
                  <a:solidFill>
                    <a:prstClr val="black">
                      <a:lumMod val="75000"/>
                      <a:lumOff val="25000"/>
                    </a:prstClr>
                  </a:solidFill>
                  <a:latin typeface="Roboto"/>
                </a:rPr>
                <a:t>分析类场景则需要数据进行收集和加工，用来度量业务运行情况、偏差追因，结合机器学习</a:t>
              </a:r>
              <a:endParaRPr lang="en-US" altLang="zh-CN" sz="1400" dirty="0">
                <a:solidFill>
                  <a:prstClr val="black">
                    <a:lumMod val="75000"/>
                    <a:lumOff val="25000"/>
                  </a:prstClr>
                </a:solidFill>
                <a:latin typeface="Roboto"/>
              </a:endParaRPr>
            </a:p>
            <a:p>
              <a:r>
                <a:rPr lang="en-US" altLang="zh-CN" sz="1400" dirty="0">
                  <a:solidFill>
                    <a:prstClr val="black">
                      <a:lumMod val="75000"/>
                      <a:lumOff val="25000"/>
                    </a:prstClr>
                  </a:solidFill>
                  <a:latin typeface="Roboto"/>
                </a:rPr>
                <a:t>       </a:t>
              </a:r>
              <a:r>
                <a:rPr lang="zh-CN" altLang="en-US" sz="1400" dirty="0">
                  <a:solidFill>
                    <a:prstClr val="black">
                      <a:lumMod val="75000"/>
                      <a:lumOff val="25000"/>
                    </a:prstClr>
                  </a:solidFill>
                  <a:latin typeface="Roboto"/>
                </a:rPr>
                <a:t>等技术预测趋势，尝试构建数据驱动运营的企业组织。</a:t>
              </a:r>
              <a:endParaRPr lang="en-US" altLang="zh-CN" sz="1400" dirty="0">
                <a:solidFill>
                  <a:prstClr val="black">
                    <a:lumMod val="75000"/>
                    <a:lumOff val="25000"/>
                  </a:prstClr>
                </a:solidFill>
                <a:latin typeface="Roboto"/>
              </a:endParaRPr>
            </a:p>
            <a:p>
              <a:pPr marL="285750" indent="-285750" algn="l">
                <a:buFont typeface="Arial" panose="020B0604020202020204" pitchFamily="34" charset="0"/>
                <a:buChar char="•"/>
              </a:pPr>
              <a:r>
                <a:rPr lang="zh-CN" altLang="en-US" sz="1400" dirty="0">
                  <a:solidFill>
                    <a:prstClr val="black">
                      <a:lumMod val="75000"/>
                      <a:lumOff val="25000"/>
                    </a:prstClr>
                  </a:solidFill>
                  <a:latin typeface="Roboto"/>
                </a:rPr>
                <a:t>探索拆分过于集中的分析类数据处理职责，为数据团队减负，投入到高价值的分析类场景中</a:t>
              </a:r>
            </a:p>
          </p:txBody>
        </p:sp>
      </p:grpSp>
      <p:grpSp>
        <p:nvGrpSpPr>
          <p:cNvPr id="11" name="组合 10">
            <a:extLst>
              <a:ext uri="{FF2B5EF4-FFF2-40B4-BE49-F238E27FC236}">
                <a16:creationId xmlns:a16="http://schemas.microsoft.com/office/drawing/2014/main" id="{F65E7D64-4581-42B1-95B1-4445B59B2E35}"/>
              </a:ext>
            </a:extLst>
          </p:cNvPr>
          <p:cNvGrpSpPr/>
          <p:nvPr/>
        </p:nvGrpSpPr>
        <p:grpSpPr>
          <a:xfrm>
            <a:off x="1320751" y="462451"/>
            <a:ext cx="11077131" cy="1432017"/>
            <a:chOff x="874713" y="4887291"/>
            <a:chExt cx="11077131" cy="1432017"/>
          </a:xfrm>
        </p:grpSpPr>
        <p:sp>
          <p:nvSpPr>
            <p:cNvPr id="12" name="矩形: 圆角 11">
              <a:extLst>
                <a:ext uri="{FF2B5EF4-FFF2-40B4-BE49-F238E27FC236}">
                  <a16:creationId xmlns:a16="http://schemas.microsoft.com/office/drawing/2014/main" id="{7157C2B4-A521-4C0F-9C79-CE3AD0299D30}"/>
                </a:ext>
              </a:extLst>
            </p:cNvPr>
            <p:cNvSpPr/>
            <p:nvPr/>
          </p:nvSpPr>
          <p:spPr>
            <a:xfrm>
              <a:off x="874713" y="4916104"/>
              <a:ext cx="10574337" cy="1403204"/>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3" name="任意多边形: 形状 12">
              <a:extLst>
                <a:ext uri="{FF2B5EF4-FFF2-40B4-BE49-F238E27FC236}">
                  <a16:creationId xmlns:a16="http://schemas.microsoft.com/office/drawing/2014/main" id="{78F04645-6ECA-424A-97E6-9D9AD2BF8B59}"/>
                </a:ext>
              </a:extLst>
            </p:cNvPr>
            <p:cNvSpPr/>
            <p:nvPr/>
          </p:nvSpPr>
          <p:spPr>
            <a:xfrm flipH="1">
              <a:off x="877941" y="4916101"/>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flip="none" rotWithShape="1">
              <a:gsLst>
                <a:gs pos="0">
                  <a:srgbClr val="EFC49C"/>
                </a:gs>
                <a:gs pos="100000">
                  <a:schemeClr val="accent4"/>
                </a:gs>
              </a:gsLst>
              <a:lin ang="5400000" scaled="1"/>
              <a:tileRect/>
            </a:gradFill>
            <a:ln>
              <a:noFill/>
            </a:ln>
            <a:effectLst>
              <a:outerShdw blurRad="342900" dist="165100" dir="18900000" sx="96000" sy="96000" algn="bl" rotWithShape="0">
                <a:srgbClr val="EFC49C">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14" name="文本框 13">
              <a:extLst>
                <a:ext uri="{FF2B5EF4-FFF2-40B4-BE49-F238E27FC236}">
                  <a16:creationId xmlns:a16="http://schemas.microsoft.com/office/drawing/2014/main" id="{E4D5CF81-24BF-4FC7-9625-5A5B07745ADD}"/>
                </a:ext>
              </a:extLst>
            </p:cNvPr>
            <p:cNvSpPr txBox="1"/>
            <p:nvPr/>
          </p:nvSpPr>
          <p:spPr>
            <a:xfrm>
              <a:off x="1077600" y="5156039"/>
              <a:ext cx="1210588" cy="83099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prstClr val="white"/>
                  </a:solidFill>
                  <a:latin typeface="思源宋体 CN Heavy"/>
                  <a:ea typeface="思源宋体 CN Heavy"/>
                </a:rPr>
                <a:t>如何抽离</a:t>
              </a:r>
              <a:endParaRPr lang="en-US" altLang="zh-CN" sz="1600" dirty="0">
                <a:solidFill>
                  <a:prstClr val="white"/>
                </a:solidFill>
                <a:latin typeface="思源宋体 CN Heavy"/>
                <a:ea typeface="思源宋体 CN Heav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prstClr val="white"/>
                  </a:solidFill>
                  <a:latin typeface="思源宋体 CN Heavy"/>
                  <a:ea typeface="思源宋体 CN Heavy"/>
                </a:rPr>
                <a:t>多业务</a:t>
              </a:r>
              <a:endParaRPr lang="en-US" altLang="zh-CN" sz="1600" dirty="0">
                <a:solidFill>
                  <a:prstClr val="white"/>
                </a:solidFill>
                <a:latin typeface="思源宋体 CN Heavy"/>
                <a:ea typeface="思源宋体 CN Heav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prstClr val="white"/>
                  </a:solidFill>
                  <a:latin typeface="思源宋体 CN Heavy"/>
                  <a:ea typeface="思源宋体 CN Heavy"/>
                </a:rPr>
                <a:t>共享能力？</a:t>
              </a:r>
              <a:endParaRPr kumimoji="0" lang="zh-CN" altLang="en-US" sz="1600" b="0" i="0" u="none" strike="noStrike" kern="1200" cap="none" spc="0" normalizeH="0" baseline="0" noProof="0" dirty="0">
                <a:ln>
                  <a:noFill/>
                </a:ln>
                <a:solidFill>
                  <a:prstClr val="white"/>
                </a:solidFill>
                <a:effectLst/>
                <a:uLnTx/>
                <a:uFillTx/>
                <a:latin typeface="思源宋体 CN Heavy"/>
                <a:ea typeface="思源宋体 CN Heavy"/>
                <a:cs typeface="+mn-cs"/>
              </a:endParaRPr>
            </a:p>
          </p:txBody>
        </p:sp>
        <p:sp>
          <p:nvSpPr>
            <p:cNvPr id="15" name="文本框 14">
              <a:extLst>
                <a:ext uri="{FF2B5EF4-FFF2-40B4-BE49-F238E27FC236}">
                  <a16:creationId xmlns:a16="http://schemas.microsoft.com/office/drawing/2014/main" id="{1383407B-CB18-4294-9E4B-58195A0F2BA8}"/>
                </a:ext>
              </a:extLst>
            </p:cNvPr>
            <p:cNvSpPr txBox="1"/>
            <p:nvPr/>
          </p:nvSpPr>
          <p:spPr>
            <a:xfrm>
              <a:off x="2879241" y="4887291"/>
              <a:ext cx="9072603" cy="1348639"/>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400" dirty="0">
                  <a:solidFill>
                    <a:prstClr val="black">
                      <a:lumMod val="75000"/>
                      <a:lumOff val="25000"/>
                    </a:prstClr>
                  </a:solidFill>
                  <a:latin typeface="Roboto"/>
                </a:rPr>
                <a:t>如何设计“模式”与“能力”模型，以对业务进行合理的抽象，</a:t>
              </a:r>
              <a:endParaRPr lang="en-US" altLang="zh-CN" sz="1400" dirty="0">
                <a:solidFill>
                  <a:prstClr val="black">
                    <a:lumMod val="75000"/>
                    <a:lumOff val="25000"/>
                  </a:prstClr>
                </a:solidFill>
                <a:latin typeface="Roboto"/>
              </a:endParaRPr>
            </a:p>
            <a:p>
              <a:pPr>
                <a:lnSpc>
                  <a:spcPct val="150000"/>
                </a:lnSpc>
                <a:defRPr/>
              </a:pPr>
              <a:r>
                <a:rPr lang="zh-CN" altLang="en-US" sz="1400" dirty="0">
                  <a:solidFill>
                    <a:prstClr val="black">
                      <a:lumMod val="75000"/>
                      <a:lumOff val="25000"/>
                    </a:prstClr>
                  </a:solidFill>
                  <a:latin typeface="Roboto"/>
                </a:rPr>
                <a:t>       进而识别相似度，抽象与提炼可复用的业务模式</a:t>
              </a:r>
              <a:endParaRPr lang="en-US" altLang="zh-CN" sz="1400" dirty="0">
                <a:solidFill>
                  <a:prstClr val="black">
                    <a:lumMod val="75000"/>
                    <a:lumOff val="25000"/>
                  </a:prstClr>
                </a:solidFill>
                <a:latin typeface="Roboto"/>
              </a:endParaRPr>
            </a:p>
            <a:p>
              <a:pPr marL="285750" indent="-285750">
                <a:lnSpc>
                  <a:spcPct val="150000"/>
                </a:lnSpc>
                <a:buFont typeface="Arial" panose="020B0604020202020204" pitchFamily="34" charset="0"/>
                <a:buChar char="•"/>
                <a:defRPr/>
              </a:pPr>
              <a:r>
                <a:rPr lang="en-US" altLang="zh-CN" sz="1400" dirty="0">
                  <a:solidFill>
                    <a:prstClr val="black">
                      <a:lumMod val="75000"/>
                      <a:lumOff val="25000"/>
                    </a:prstClr>
                  </a:solidFill>
                  <a:latin typeface="Roboto"/>
                </a:rPr>
                <a:t> </a:t>
              </a:r>
              <a:r>
                <a:rPr lang="zh-CN" altLang="en-US" sz="1400" dirty="0">
                  <a:solidFill>
                    <a:prstClr val="black">
                      <a:lumMod val="75000"/>
                      <a:lumOff val="25000"/>
                    </a:prstClr>
                  </a:solidFill>
                  <a:latin typeface="Roboto"/>
                </a:rPr>
                <a:t>针对不同业务的差异性，如何在“模式”和“能力”基础上进行扩展？</a:t>
              </a:r>
              <a:endParaRPr lang="en-US" altLang="zh-CN" sz="1400" dirty="0">
                <a:solidFill>
                  <a:prstClr val="black">
                    <a:lumMod val="75000"/>
                    <a:lumOff val="25000"/>
                  </a:prstClr>
                </a:solidFill>
                <a:latin typeface="Roboto"/>
              </a:endParaRPr>
            </a:p>
            <a:p>
              <a:pPr marL="285750" indent="-285750">
                <a:lnSpc>
                  <a:spcPct val="150000"/>
                </a:lnSpc>
                <a:buFont typeface="Arial" panose="020B0604020202020204" pitchFamily="34" charset="0"/>
                <a:buChar char="•"/>
                <a:defRPr/>
              </a:pPr>
              <a:r>
                <a:rPr lang="zh-CN" altLang="en-US" sz="1400" dirty="0">
                  <a:solidFill>
                    <a:prstClr val="black">
                      <a:lumMod val="75000"/>
                      <a:lumOff val="25000"/>
                    </a:prstClr>
                  </a:solidFill>
                  <a:latin typeface="Roboto"/>
                </a:rPr>
                <a:t>沉淀了业务能力之后，如何在新的业务中识别、复用已有能力，应用、数据、技术及组织如何支撑？</a:t>
              </a:r>
            </a:p>
          </p:txBody>
        </p:sp>
      </p:grpSp>
      <p:grpSp>
        <p:nvGrpSpPr>
          <p:cNvPr id="16" name="组合 15">
            <a:extLst>
              <a:ext uri="{FF2B5EF4-FFF2-40B4-BE49-F238E27FC236}">
                <a16:creationId xmlns:a16="http://schemas.microsoft.com/office/drawing/2014/main" id="{33B9F028-C678-4B12-B9DA-034F27F91244}"/>
              </a:ext>
            </a:extLst>
          </p:cNvPr>
          <p:cNvGrpSpPr/>
          <p:nvPr/>
        </p:nvGrpSpPr>
        <p:grpSpPr>
          <a:xfrm>
            <a:off x="1323114" y="5373378"/>
            <a:ext cx="11139105" cy="1403207"/>
            <a:chOff x="874713" y="4916101"/>
            <a:chExt cx="11139105" cy="1403207"/>
          </a:xfrm>
        </p:grpSpPr>
        <p:sp>
          <p:nvSpPr>
            <p:cNvPr id="17" name="矩形: 圆角 16">
              <a:extLst>
                <a:ext uri="{FF2B5EF4-FFF2-40B4-BE49-F238E27FC236}">
                  <a16:creationId xmlns:a16="http://schemas.microsoft.com/office/drawing/2014/main" id="{2578813A-31DE-45B9-9E02-0E5677C67482}"/>
                </a:ext>
              </a:extLst>
            </p:cNvPr>
            <p:cNvSpPr/>
            <p:nvPr/>
          </p:nvSpPr>
          <p:spPr>
            <a:xfrm>
              <a:off x="874713" y="4916104"/>
              <a:ext cx="10574337" cy="1403204"/>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8" name="任意多边形: 形状 17">
              <a:extLst>
                <a:ext uri="{FF2B5EF4-FFF2-40B4-BE49-F238E27FC236}">
                  <a16:creationId xmlns:a16="http://schemas.microsoft.com/office/drawing/2014/main" id="{AEFBC8D3-6770-445D-A46A-53526018CDCD}"/>
                </a:ext>
              </a:extLst>
            </p:cNvPr>
            <p:cNvSpPr/>
            <p:nvPr/>
          </p:nvSpPr>
          <p:spPr>
            <a:xfrm flipH="1">
              <a:off x="877941" y="4916101"/>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flip="none" rotWithShape="1">
              <a:gsLst>
                <a:gs pos="0">
                  <a:srgbClr val="EFC49C"/>
                </a:gs>
                <a:gs pos="100000">
                  <a:schemeClr val="accent4"/>
                </a:gs>
              </a:gsLst>
              <a:lin ang="5400000" scaled="1"/>
              <a:tileRect/>
            </a:gradFill>
            <a:ln>
              <a:noFill/>
            </a:ln>
            <a:effectLst>
              <a:outerShdw blurRad="342900" dist="165100" dir="18900000" sx="96000" sy="96000" algn="bl" rotWithShape="0">
                <a:srgbClr val="EFC49C">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19" name="文本框 18">
              <a:extLst>
                <a:ext uri="{FF2B5EF4-FFF2-40B4-BE49-F238E27FC236}">
                  <a16:creationId xmlns:a16="http://schemas.microsoft.com/office/drawing/2014/main" id="{CB947DAF-1B65-4323-92A4-84C1EA955371}"/>
                </a:ext>
              </a:extLst>
            </p:cNvPr>
            <p:cNvSpPr txBox="1"/>
            <p:nvPr/>
          </p:nvSpPr>
          <p:spPr>
            <a:xfrm>
              <a:off x="908555" y="5190471"/>
              <a:ext cx="1620957" cy="738664"/>
            </a:xfrm>
            <a:prstGeom prst="rect">
              <a:avLst/>
            </a:prstGeom>
            <a:noFill/>
          </p:spPr>
          <p:txBody>
            <a:bodyPr wrap="none">
              <a:spAutoFit/>
            </a:bodyPr>
            <a:lstStyle/>
            <a:p>
              <a:pPr>
                <a:defRPr/>
              </a:pPr>
              <a:r>
                <a:rPr lang="zh-CN" altLang="en-US" sz="1400" dirty="0">
                  <a:solidFill>
                    <a:prstClr val="white"/>
                  </a:solidFill>
                  <a:latin typeface="思源宋体 CN Heavy"/>
                </a:rPr>
                <a:t>如何在富技术时代</a:t>
              </a:r>
              <a:endParaRPr lang="en-US" altLang="zh-CN" sz="1400" dirty="0">
                <a:solidFill>
                  <a:prstClr val="white"/>
                </a:solidFill>
                <a:latin typeface="思源宋体 CN Heavy"/>
              </a:endParaRPr>
            </a:p>
            <a:p>
              <a:pPr>
                <a:defRPr/>
              </a:pPr>
              <a:r>
                <a:rPr lang="zh-CN" altLang="en-US" sz="1400" dirty="0">
                  <a:solidFill>
                    <a:prstClr val="white"/>
                  </a:solidFill>
                  <a:latin typeface="思源宋体 CN Heavy"/>
                </a:rPr>
                <a:t>进行平台型技术</a:t>
              </a:r>
              <a:endParaRPr lang="en-US" altLang="zh-CN" sz="1400" dirty="0">
                <a:solidFill>
                  <a:prstClr val="white"/>
                </a:solidFill>
                <a:latin typeface="思源宋体 CN Heavy"/>
              </a:endParaRPr>
            </a:p>
            <a:p>
              <a:pPr>
                <a:defRPr/>
              </a:pPr>
              <a:r>
                <a:rPr lang="zh-CN" altLang="en-US" sz="1400" dirty="0">
                  <a:solidFill>
                    <a:prstClr val="white"/>
                  </a:solidFill>
                  <a:latin typeface="思源宋体 CN Heavy"/>
                </a:rPr>
                <a:t>架构选型及设计？</a:t>
              </a:r>
            </a:p>
          </p:txBody>
        </p:sp>
        <p:sp>
          <p:nvSpPr>
            <p:cNvPr id="20" name="文本框 19">
              <a:extLst>
                <a:ext uri="{FF2B5EF4-FFF2-40B4-BE49-F238E27FC236}">
                  <a16:creationId xmlns:a16="http://schemas.microsoft.com/office/drawing/2014/main" id="{DB77EB70-1070-42E1-8FC7-1ACEA38BC99B}"/>
                </a:ext>
              </a:extLst>
            </p:cNvPr>
            <p:cNvSpPr txBox="1"/>
            <p:nvPr/>
          </p:nvSpPr>
          <p:spPr>
            <a:xfrm>
              <a:off x="2941215" y="5082749"/>
              <a:ext cx="9072603" cy="954107"/>
            </a:xfrm>
            <a:prstGeom prst="rect">
              <a:avLst/>
            </a:prstGeom>
            <a:noFill/>
          </p:spPr>
          <p:txBody>
            <a:bodyPr wrap="square">
              <a:spAutoFit/>
            </a:bodyPr>
            <a:lstStyle/>
            <a:p>
              <a:pPr marL="285750" indent="-285750">
                <a:buFont typeface="Arial" panose="020B0604020202020204" pitchFamily="34" charset="0"/>
                <a:buChar char="•"/>
              </a:pPr>
              <a:r>
                <a:rPr lang="zh-CN" altLang="en-US" sz="1400" dirty="0">
                  <a:solidFill>
                    <a:prstClr val="black">
                      <a:lumMod val="75000"/>
                      <a:lumOff val="25000"/>
                    </a:prstClr>
                  </a:solidFill>
                  <a:latin typeface="Roboto"/>
                </a:rPr>
                <a:t>对于架构需求把握不足，过早的进入架构设计，导致系统复杂度变高甚至过度设计，为</a:t>
              </a:r>
              <a:endParaRPr lang="en-US" altLang="zh-CN" sz="1400" dirty="0">
                <a:solidFill>
                  <a:prstClr val="black">
                    <a:lumMod val="75000"/>
                    <a:lumOff val="25000"/>
                  </a:prstClr>
                </a:solidFill>
                <a:latin typeface="Roboto"/>
              </a:endParaRPr>
            </a:p>
            <a:p>
              <a:r>
                <a:rPr lang="en-US" altLang="zh-CN" sz="1400" dirty="0">
                  <a:solidFill>
                    <a:prstClr val="black">
                      <a:lumMod val="75000"/>
                      <a:lumOff val="25000"/>
                    </a:prstClr>
                  </a:solidFill>
                  <a:latin typeface="Roboto"/>
                </a:rPr>
                <a:t>       </a:t>
              </a:r>
              <a:r>
                <a:rPr lang="zh-CN" altLang="en-US" sz="1400" dirty="0">
                  <a:solidFill>
                    <a:prstClr val="black">
                      <a:lumMod val="75000"/>
                      <a:lumOff val="25000"/>
                    </a:prstClr>
                  </a:solidFill>
                  <a:latin typeface="Roboto"/>
                </a:rPr>
                <a:t>开发落地带来额外的研发成本</a:t>
              </a:r>
              <a:endParaRPr lang="en-US" altLang="zh-CN" sz="1400" dirty="0">
                <a:solidFill>
                  <a:prstClr val="black">
                    <a:lumMod val="75000"/>
                    <a:lumOff val="25000"/>
                  </a:prstClr>
                </a:solidFill>
                <a:latin typeface="Roboto"/>
              </a:endParaRPr>
            </a:p>
            <a:p>
              <a:pPr marL="285750" indent="-285750">
                <a:buFont typeface="Arial" panose="020B0604020202020204" pitchFamily="34" charset="0"/>
                <a:buChar char="•"/>
              </a:pPr>
              <a:r>
                <a:rPr lang="zh-CN" altLang="en-US" sz="1400" dirty="0">
                  <a:solidFill>
                    <a:prstClr val="black">
                      <a:lumMod val="75000"/>
                      <a:lumOff val="25000"/>
                    </a:prstClr>
                  </a:solidFill>
                  <a:latin typeface="Roboto"/>
                </a:rPr>
                <a:t>架构设计的技术和工具过于超前，超出团队成员技术水平，造成落地难度高，影响整体进度和实施效果</a:t>
              </a:r>
              <a:endParaRPr lang="en-US" altLang="zh-CN" sz="1400" dirty="0">
                <a:solidFill>
                  <a:prstClr val="black">
                    <a:lumMod val="75000"/>
                    <a:lumOff val="25000"/>
                  </a:prstClr>
                </a:solidFill>
                <a:latin typeface="Roboto"/>
              </a:endParaRPr>
            </a:p>
            <a:p>
              <a:pPr marL="285750" indent="-285750">
                <a:buFont typeface="Arial" panose="020B0604020202020204" pitchFamily="34" charset="0"/>
                <a:buChar char="•"/>
              </a:pPr>
              <a:r>
                <a:rPr lang="zh-CN" altLang="en-US" sz="1400" dirty="0">
                  <a:solidFill>
                    <a:prstClr val="black">
                      <a:lumMod val="75000"/>
                      <a:lumOff val="25000"/>
                    </a:prstClr>
                  </a:solidFill>
                  <a:latin typeface="Roboto"/>
                </a:rPr>
                <a:t>架构设计过程时间长，缺乏继续调整和迭代，技术架构方案容易进入“完成即落伍”的困局</a:t>
              </a:r>
            </a:p>
          </p:txBody>
        </p:sp>
      </p:grpSp>
      <p:sp>
        <p:nvSpPr>
          <p:cNvPr id="22" name="文本框 21">
            <a:extLst>
              <a:ext uri="{FF2B5EF4-FFF2-40B4-BE49-F238E27FC236}">
                <a16:creationId xmlns:a16="http://schemas.microsoft.com/office/drawing/2014/main" id="{70B8F9A5-0173-4919-B6E7-D2B2AC999702}"/>
              </a:ext>
            </a:extLst>
          </p:cNvPr>
          <p:cNvSpPr txBox="1"/>
          <p:nvPr/>
        </p:nvSpPr>
        <p:spPr>
          <a:xfrm>
            <a:off x="139300" y="2045624"/>
            <a:ext cx="880770" cy="2308324"/>
          </a:xfrm>
          <a:prstGeom prst="rect">
            <a:avLst/>
          </a:prstGeom>
          <a:solidFill>
            <a:schemeClr val="accent5">
              <a:lumMod val="90000"/>
            </a:schemeClr>
          </a:solidFill>
        </p:spPr>
        <p:txBody>
          <a:bodyPr wrap="square">
            <a:spAutoFit/>
          </a:bodyPr>
          <a:lstStyle/>
          <a:p>
            <a:pPr algn="l"/>
            <a:r>
              <a:rPr lang="zh-CN" altLang="en-US" sz="1800" b="1" i="0" u="none" strike="noStrike" baseline="0" dirty="0">
                <a:solidFill>
                  <a:srgbClr val="006CB7"/>
                </a:solidFill>
                <a:latin typeface="SourceHanSansCN-Bold"/>
              </a:rPr>
              <a:t>在深水区实践中，新的问题将业务平台化内涵向前演进</a:t>
            </a:r>
            <a:endParaRPr lang="zh-CN" altLang="en-US" dirty="0"/>
          </a:p>
        </p:txBody>
      </p:sp>
    </p:spTree>
    <p:extLst>
      <p:ext uri="{BB962C8B-B14F-4D97-AF65-F5344CB8AC3E}">
        <p14:creationId xmlns:p14="http://schemas.microsoft.com/office/powerpoint/2010/main" val="2162128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D88CC03-2BEB-4287-B54B-65A6F88044B9}"/>
              </a:ext>
            </a:extLst>
          </p:cNvPr>
          <p:cNvPicPr>
            <a:picLocks noChangeAspect="1"/>
          </p:cNvPicPr>
          <p:nvPr/>
        </p:nvPicPr>
        <p:blipFill>
          <a:blip r:embed="rId2"/>
          <a:stretch>
            <a:fillRect/>
          </a:stretch>
        </p:blipFill>
        <p:spPr>
          <a:xfrm>
            <a:off x="0" y="1835111"/>
            <a:ext cx="12192000" cy="3187778"/>
          </a:xfrm>
          <a:prstGeom prst="rect">
            <a:avLst/>
          </a:prstGeom>
        </p:spPr>
      </p:pic>
      <p:sp>
        <p:nvSpPr>
          <p:cNvPr id="5" name="文本框 4">
            <a:extLst>
              <a:ext uri="{FF2B5EF4-FFF2-40B4-BE49-F238E27FC236}">
                <a16:creationId xmlns:a16="http://schemas.microsoft.com/office/drawing/2014/main" id="{B94D5D2D-E98B-4717-9743-33EEF4357514}"/>
              </a:ext>
            </a:extLst>
          </p:cNvPr>
          <p:cNvSpPr txBox="1"/>
          <p:nvPr/>
        </p:nvSpPr>
        <p:spPr>
          <a:xfrm>
            <a:off x="3034364" y="1143620"/>
            <a:ext cx="6338236" cy="369332"/>
          </a:xfrm>
          <a:prstGeom prst="rect">
            <a:avLst/>
          </a:prstGeom>
          <a:noFill/>
        </p:spPr>
        <p:txBody>
          <a:bodyPr wrap="square">
            <a:spAutoFit/>
          </a:bodyPr>
          <a:lstStyle/>
          <a:p>
            <a:r>
              <a:rPr lang="zh-CN" altLang="en-US" sz="1800" b="1" i="0" u="none" strike="noStrike" baseline="0" dirty="0">
                <a:latin typeface="SourceHanSansCN-Bold"/>
              </a:rPr>
              <a:t>因此，我们认为架构师们比以往，更需要这样一个体系：</a:t>
            </a:r>
            <a:endParaRPr lang="zh-CN" altLang="en-US" dirty="0"/>
          </a:p>
        </p:txBody>
      </p:sp>
    </p:spTree>
    <p:extLst>
      <p:ext uri="{BB962C8B-B14F-4D97-AF65-F5344CB8AC3E}">
        <p14:creationId xmlns:p14="http://schemas.microsoft.com/office/powerpoint/2010/main" val="218638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9D38E7B3-6642-49EE-8E45-4D4C7567A549}"/>
              </a:ext>
            </a:extLst>
          </p:cNvPr>
          <p:cNvSpPr/>
          <p:nvPr/>
        </p:nvSpPr>
        <p:spPr>
          <a:xfrm>
            <a:off x="167640" y="-2010282"/>
            <a:ext cx="11856720" cy="11856720"/>
          </a:xfrm>
          <a:prstGeom prst="ellipse">
            <a:avLst/>
          </a:prstGeom>
          <a:gradFill flip="none" rotWithShape="1">
            <a:gsLst>
              <a:gs pos="50000">
                <a:schemeClr val="bg1">
                  <a:alpha val="26000"/>
                </a:schemeClr>
              </a:gs>
              <a:gs pos="91000">
                <a:schemeClr val="bg1">
                  <a:alpha val="0"/>
                </a:schemeClr>
              </a:gs>
              <a:gs pos="14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 空心 4">
            <a:extLst>
              <a:ext uri="{FF2B5EF4-FFF2-40B4-BE49-F238E27FC236}">
                <a16:creationId xmlns:a16="http://schemas.microsoft.com/office/drawing/2014/main" id="{28F402D5-9B9E-427C-81AC-1C5BAD4CB178}"/>
              </a:ext>
            </a:extLst>
          </p:cNvPr>
          <p:cNvSpPr/>
          <p:nvPr/>
        </p:nvSpPr>
        <p:spPr>
          <a:xfrm>
            <a:off x="3718560" y="1540638"/>
            <a:ext cx="4754880" cy="4754880"/>
          </a:xfrm>
          <a:prstGeom prst="donut">
            <a:avLst>
              <a:gd name="adj" fmla="val 13944"/>
            </a:avLst>
          </a:prstGeom>
          <a:solidFill>
            <a:schemeClr val="accent1">
              <a:alpha val="9000"/>
            </a:schemeClr>
          </a:solidFill>
          <a:ln>
            <a:noFill/>
          </a:ln>
          <a:effectLst>
            <a:innerShdw blurRad="228600">
              <a:schemeClr val="accent1">
                <a:lumMod val="75000"/>
                <a:alpha val="11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870ED8B3-EF3C-4EC2-BD66-DD1C24EEAB79}"/>
              </a:ext>
            </a:extLst>
          </p:cNvPr>
          <p:cNvSpPr/>
          <p:nvPr/>
        </p:nvSpPr>
        <p:spPr>
          <a:xfrm>
            <a:off x="4287520" y="2109598"/>
            <a:ext cx="3616960" cy="3616960"/>
          </a:xfrm>
          <a:prstGeom prst="ellipse">
            <a:avLst/>
          </a:prstGeom>
          <a:gradFill flip="none" rotWithShape="1">
            <a:gsLst>
              <a:gs pos="88000">
                <a:schemeClr val="accent1"/>
              </a:gs>
              <a:gs pos="56000">
                <a:schemeClr val="accent1">
                  <a:lumMod val="60000"/>
                  <a:lumOff val="40000"/>
                </a:schemeClr>
              </a:gs>
              <a:gs pos="16000">
                <a:schemeClr val="accent1">
                  <a:lumMod val="20000"/>
                  <a:lumOff val="80000"/>
                </a:schemeClr>
              </a:gs>
            </a:gsLst>
            <a:path path="circle">
              <a:fillToRect r="100000" b="100000"/>
            </a:path>
            <a:tileRect l="-100000" t="-100000"/>
          </a:gradFill>
          <a:ln w="12700">
            <a:noFill/>
          </a:ln>
          <a:effectLst>
            <a:outerShdw blurRad="393700" dist="304800" dir="2700000" sx="97000" sy="97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sp>
        <p:nvSpPr>
          <p:cNvPr id="8" name="文本框 7">
            <a:extLst>
              <a:ext uri="{FF2B5EF4-FFF2-40B4-BE49-F238E27FC236}">
                <a16:creationId xmlns:a16="http://schemas.microsoft.com/office/drawing/2014/main" id="{73F62BEE-3E1A-4E7C-9596-E5AFC4E068F4}"/>
              </a:ext>
            </a:extLst>
          </p:cNvPr>
          <p:cNvSpPr txBox="1"/>
          <p:nvPr/>
        </p:nvSpPr>
        <p:spPr>
          <a:xfrm>
            <a:off x="4524211" y="2829454"/>
            <a:ext cx="3005292" cy="2246769"/>
          </a:xfrm>
          <a:prstGeom prst="rect">
            <a:avLst/>
          </a:prstGeom>
          <a:noFill/>
        </p:spPr>
        <p:txBody>
          <a:bodyPr wrap="square" rtlCol="0">
            <a:spAutoFit/>
          </a:bodyPr>
          <a:lstStyle/>
          <a:p>
            <a:pPr algn="ctr"/>
            <a:r>
              <a:rPr lang="zh-CN" altLang="en-US" sz="2800" b="0" i="0" dirty="0">
                <a:solidFill>
                  <a:srgbClr val="333333"/>
                </a:solidFill>
                <a:effectLst/>
                <a:latin typeface="mp-quote"/>
              </a:rPr>
              <a:t>各类企业架构框架均是</a:t>
            </a:r>
            <a:r>
              <a:rPr lang="zh-CN" altLang="en-US" sz="2800" b="1" i="0" dirty="0">
                <a:solidFill>
                  <a:srgbClr val="333333"/>
                </a:solidFill>
                <a:effectLst/>
                <a:latin typeface="mp-quote"/>
              </a:rPr>
              <a:t>从愿景与业务目标出发</a:t>
            </a:r>
            <a:r>
              <a:rPr lang="en-US" altLang="zh-CN" sz="2800" b="1" i="0" dirty="0">
                <a:solidFill>
                  <a:srgbClr val="333333"/>
                </a:solidFill>
                <a:effectLst/>
                <a:latin typeface="mp-quote"/>
              </a:rPr>
              <a:t>,</a:t>
            </a:r>
            <a:r>
              <a:rPr lang="zh-CN" altLang="en-US" sz="2800" b="0" i="0" dirty="0">
                <a:solidFill>
                  <a:srgbClr val="333333"/>
                </a:solidFill>
                <a:effectLst/>
                <a:latin typeface="mp-quote"/>
              </a:rPr>
              <a:t>保持从业务到技术的一致性</a:t>
            </a:r>
            <a:endParaRPr lang="zh-CN" altLang="en-US" sz="2800" dirty="0">
              <a:solidFill>
                <a:schemeClr val="bg1"/>
              </a:solidFill>
              <a:latin typeface="+mj-ea"/>
              <a:ea typeface="+mj-ea"/>
            </a:endParaRPr>
          </a:p>
        </p:txBody>
      </p:sp>
      <p:grpSp>
        <p:nvGrpSpPr>
          <p:cNvPr id="28" name="组合 27">
            <a:extLst>
              <a:ext uri="{FF2B5EF4-FFF2-40B4-BE49-F238E27FC236}">
                <a16:creationId xmlns:a16="http://schemas.microsoft.com/office/drawing/2014/main" id="{D4D68AE2-D0AA-46EA-A29C-CFE2E2949A2F}"/>
              </a:ext>
            </a:extLst>
          </p:cNvPr>
          <p:cNvGrpSpPr/>
          <p:nvPr/>
        </p:nvGrpSpPr>
        <p:grpSpPr>
          <a:xfrm>
            <a:off x="1511771" y="1613050"/>
            <a:ext cx="1216404" cy="1216404"/>
            <a:chOff x="1464438" y="1740068"/>
            <a:chExt cx="1216404" cy="1216404"/>
          </a:xfrm>
        </p:grpSpPr>
        <p:grpSp>
          <p:nvGrpSpPr>
            <p:cNvPr id="11" name="组合 10">
              <a:extLst>
                <a:ext uri="{FF2B5EF4-FFF2-40B4-BE49-F238E27FC236}">
                  <a16:creationId xmlns:a16="http://schemas.microsoft.com/office/drawing/2014/main" id="{D22AB29B-9B49-46D7-B984-BED574BCB4A3}"/>
                </a:ext>
              </a:extLst>
            </p:cNvPr>
            <p:cNvGrpSpPr/>
            <p:nvPr/>
          </p:nvGrpSpPr>
          <p:grpSpPr>
            <a:xfrm>
              <a:off x="1464438" y="1740068"/>
              <a:ext cx="1216404" cy="1216404"/>
              <a:chOff x="1630500" y="2067560"/>
              <a:chExt cx="1361440" cy="1361440"/>
            </a:xfrm>
          </p:grpSpPr>
          <p:sp>
            <p:nvSpPr>
              <p:cNvPr id="7" name="椭圆 6">
                <a:extLst>
                  <a:ext uri="{FF2B5EF4-FFF2-40B4-BE49-F238E27FC236}">
                    <a16:creationId xmlns:a16="http://schemas.microsoft.com/office/drawing/2014/main" id="{0380B353-6C4C-440B-A4B1-0B4069C8DE3C}"/>
                  </a:ext>
                </a:extLst>
              </p:cNvPr>
              <p:cNvSpPr/>
              <p:nvPr/>
            </p:nvSpPr>
            <p:spPr>
              <a:xfrm>
                <a:off x="1630500" y="2067560"/>
                <a:ext cx="1361440" cy="1361440"/>
              </a:xfrm>
              <a:prstGeom prst="ellipse">
                <a:avLst/>
              </a:prstGeom>
              <a:gradFill flip="none" rotWithShape="1">
                <a:gsLst>
                  <a:gs pos="98000">
                    <a:schemeClr val="accent1">
                      <a:lumMod val="20000"/>
                      <a:lumOff val="80000"/>
                    </a:schemeClr>
                  </a:gs>
                  <a:gs pos="23000">
                    <a:schemeClr val="accent1">
                      <a:lumMod val="20000"/>
                      <a:lumOff val="80000"/>
                      <a:alpha val="0"/>
                    </a:schemeClr>
                  </a:gs>
                </a:gsLst>
                <a:path path="circle">
                  <a:fillToRect l="50000" t="50000" r="50000" b="50000"/>
                </a:path>
                <a:tileRect/>
              </a:gradFill>
              <a:ln w="12700">
                <a:solidFill>
                  <a:schemeClr val="accent1">
                    <a:lumMod val="20000"/>
                    <a:lumOff val="80000"/>
                  </a:schemeClr>
                </a:solidFill>
              </a:ln>
              <a:effectLst>
                <a:outerShdw blurRad="393700" dist="304800" dir="2700000" sx="97000" sy="97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sp>
            <p:nvSpPr>
              <p:cNvPr id="10" name="椭圆 9">
                <a:extLst>
                  <a:ext uri="{FF2B5EF4-FFF2-40B4-BE49-F238E27FC236}">
                    <a16:creationId xmlns:a16="http://schemas.microsoft.com/office/drawing/2014/main" id="{38BCFB78-600F-493B-84A6-E02F6A7DA91C}"/>
                  </a:ext>
                </a:extLst>
              </p:cNvPr>
              <p:cNvSpPr/>
              <p:nvPr/>
            </p:nvSpPr>
            <p:spPr>
              <a:xfrm>
                <a:off x="1776141" y="2213201"/>
                <a:ext cx="1070158" cy="1070158"/>
              </a:xfrm>
              <a:prstGeom prst="ellipse">
                <a:avLst/>
              </a:prstGeom>
              <a:gradFill flip="none" rotWithShape="1">
                <a:gsLst>
                  <a:gs pos="98000">
                    <a:schemeClr val="accent4"/>
                  </a:gs>
                  <a:gs pos="0">
                    <a:schemeClr val="accent4">
                      <a:lumMod val="40000"/>
                      <a:lumOff val="60000"/>
                    </a:schemeClr>
                  </a:gs>
                </a:gsLst>
                <a:lin ang="4200000" scaled="0"/>
                <a:tileRect/>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dirty="0">
                  <a:solidFill>
                    <a:schemeClr val="accent1">
                      <a:lumMod val="75000"/>
                    </a:schemeClr>
                  </a:solidFill>
                  <a:latin typeface="+mj-ea"/>
                  <a:ea typeface="+mj-ea"/>
                </a:endParaRPr>
              </a:p>
            </p:txBody>
          </p:sp>
        </p:grpSp>
        <p:sp>
          <p:nvSpPr>
            <p:cNvPr id="22" name="文本框 21">
              <a:extLst>
                <a:ext uri="{FF2B5EF4-FFF2-40B4-BE49-F238E27FC236}">
                  <a16:creationId xmlns:a16="http://schemas.microsoft.com/office/drawing/2014/main" id="{C2EB9152-A92D-4784-9880-80EFFA712E87}"/>
                </a:ext>
              </a:extLst>
            </p:cNvPr>
            <p:cNvSpPr txBox="1"/>
            <p:nvPr/>
          </p:nvSpPr>
          <p:spPr>
            <a:xfrm>
              <a:off x="1529501" y="2163604"/>
              <a:ext cx="1086278" cy="369332"/>
            </a:xfrm>
            <a:prstGeom prst="rect">
              <a:avLst/>
            </a:prstGeom>
            <a:noFill/>
          </p:spPr>
          <p:txBody>
            <a:bodyPr wrap="square" rtlCol="0">
              <a:spAutoFit/>
            </a:bodyPr>
            <a:lstStyle/>
            <a:p>
              <a:r>
                <a:rPr lang="en-US" altLang="zh-CN" b="1" i="0" dirty="0">
                  <a:solidFill>
                    <a:srgbClr val="333333"/>
                  </a:solidFill>
                  <a:effectLst/>
                  <a:latin typeface="mp-quote"/>
                </a:rPr>
                <a:t>Zachman</a:t>
              </a:r>
              <a:endParaRPr lang="zh-CN" altLang="en-US" dirty="0">
                <a:solidFill>
                  <a:schemeClr val="bg1"/>
                </a:solidFill>
                <a:latin typeface="+mj-ea"/>
                <a:ea typeface="+mj-ea"/>
              </a:endParaRPr>
            </a:p>
          </p:txBody>
        </p:sp>
      </p:grpSp>
      <p:grpSp>
        <p:nvGrpSpPr>
          <p:cNvPr id="29" name="组合 28">
            <a:extLst>
              <a:ext uri="{FF2B5EF4-FFF2-40B4-BE49-F238E27FC236}">
                <a16:creationId xmlns:a16="http://schemas.microsoft.com/office/drawing/2014/main" id="{76445350-780C-4906-98D4-8AA3DF94F341}"/>
              </a:ext>
            </a:extLst>
          </p:cNvPr>
          <p:cNvGrpSpPr/>
          <p:nvPr/>
        </p:nvGrpSpPr>
        <p:grpSpPr>
          <a:xfrm>
            <a:off x="1511771" y="4195077"/>
            <a:ext cx="1235453" cy="1216404"/>
            <a:chOff x="1464438" y="4513748"/>
            <a:chExt cx="1235453" cy="1216404"/>
          </a:xfrm>
        </p:grpSpPr>
        <p:grpSp>
          <p:nvGrpSpPr>
            <p:cNvPr id="12" name="组合 11">
              <a:extLst>
                <a:ext uri="{FF2B5EF4-FFF2-40B4-BE49-F238E27FC236}">
                  <a16:creationId xmlns:a16="http://schemas.microsoft.com/office/drawing/2014/main" id="{E397E83B-6123-4792-B9A4-5A41D68441A4}"/>
                </a:ext>
              </a:extLst>
            </p:cNvPr>
            <p:cNvGrpSpPr/>
            <p:nvPr/>
          </p:nvGrpSpPr>
          <p:grpSpPr>
            <a:xfrm>
              <a:off x="1464438" y="4513748"/>
              <a:ext cx="1216404" cy="1216404"/>
              <a:chOff x="1630500" y="2067560"/>
              <a:chExt cx="1361440" cy="1361440"/>
            </a:xfrm>
          </p:grpSpPr>
          <p:sp>
            <p:nvSpPr>
              <p:cNvPr id="13" name="椭圆 12">
                <a:extLst>
                  <a:ext uri="{FF2B5EF4-FFF2-40B4-BE49-F238E27FC236}">
                    <a16:creationId xmlns:a16="http://schemas.microsoft.com/office/drawing/2014/main" id="{4667CAF8-D6E1-4BAB-A741-EBD4E1009A05}"/>
                  </a:ext>
                </a:extLst>
              </p:cNvPr>
              <p:cNvSpPr/>
              <p:nvPr/>
            </p:nvSpPr>
            <p:spPr>
              <a:xfrm>
                <a:off x="1630500" y="2067560"/>
                <a:ext cx="1361440" cy="1361440"/>
              </a:xfrm>
              <a:prstGeom prst="ellipse">
                <a:avLst/>
              </a:prstGeom>
              <a:gradFill flip="none" rotWithShape="1">
                <a:gsLst>
                  <a:gs pos="98000">
                    <a:schemeClr val="accent1">
                      <a:lumMod val="20000"/>
                      <a:lumOff val="80000"/>
                    </a:schemeClr>
                  </a:gs>
                  <a:gs pos="23000">
                    <a:schemeClr val="accent1">
                      <a:lumMod val="20000"/>
                      <a:lumOff val="80000"/>
                      <a:alpha val="0"/>
                    </a:schemeClr>
                  </a:gs>
                </a:gsLst>
                <a:path path="circle">
                  <a:fillToRect l="50000" t="50000" r="50000" b="50000"/>
                </a:path>
                <a:tileRect/>
              </a:gradFill>
              <a:ln w="12700">
                <a:solidFill>
                  <a:schemeClr val="accent1">
                    <a:lumMod val="20000"/>
                    <a:lumOff val="80000"/>
                  </a:schemeClr>
                </a:solidFill>
              </a:ln>
              <a:effectLst>
                <a:outerShdw blurRad="393700" dist="304800" dir="2700000" sx="97000" sy="97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sp>
            <p:nvSpPr>
              <p:cNvPr id="14" name="椭圆 13">
                <a:extLst>
                  <a:ext uri="{FF2B5EF4-FFF2-40B4-BE49-F238E27FC236}">
                    <a16:creationId xmlns:a16="http://schemas.microsoft.com/office/drawing/2014/main" id="{46FE2C56-2623-44EB-A3F7-28D0CF385EB9}"/>
                  </a:ext>
                </a:extLst>
              </p:cNvPr>
              <p:cNvSpPr/>
              <p:nvPr/>
            </p:nvSpPr>
            <p:spPr>
              <a:xfrm>
                <a:off x="1776141" y="2213201"/>
                <a:ext cx="1070158" cy="1070158"/>
              </a:xfrm>
              <a:prstGeom prst="ellipse">
                <a:avLst/>
              </a:prstGeom>
              <a:gradFill flip="none" rotWithShape="1">
                <a:gsLst>
                  <a:gs pos="98000">
                    <a:schemeClr val="accent4"/>
                  </a:gs>
                  <a:gs pos="2000">
                    <a:schemeClr val="accent4">
                      <a:lumMod val="40000"/>
                      <a:lumOff val="60000"/>
                    </a:schemeClr>
                  </a:gs>
                </a:gsLst>
                <a:lin ang="4200000" scaled="0"/>
                <a:tileRect/>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grpSp>
        <p:sp>
          <p:nvSpPr>
            <p:cNvPr id="23" name="文本框 22">
              <a:extLst>
                <a:ext uri="{FF2B5EF4-FFF2-40B4-BE49-F238E27FC236}">
                  <a16:creationId xmlns:a16="http://schemas.microsoft.com/office/drawing/2014/main" id="{62A62CCA-E407-41A0-A34A-DD665B9B1214}"/>
                </a:ext>
              </a:extLst>
            </p:cNvPr>
            <p:cNvSpPr txBox="1"/>
            <p:nvPr/>
          </p:nvSpPr>
          <p:spPr>
            <a:xfrm>
              <a:off x="1613613" y="4937284"/>
              <a:ext cx="1086278" cy="646331"/>
            </a:xfrm>
            <a:prstGeom prst="rect">
              <a:avLst/>
            </a:prstGeom>
            <a:noFill/>
          </p:spPr>
          <p:txBody>
            <a:bodyPr wrap="square" rtlCol="0">
              <a:spAutoFit/>
            </a:bodyPr>
            <a:lstStyle/>
            <a:p>
              <a:r>
                <a:rPr lang="en-US" altLang="zh-CN" b="1" i="0" dirty="0" err="1">
                  <a:solidFill>
                    <a:srgbClr val="333333"/>
                  </a:solidFill>
                  <a:effectLst/>
                  <a:latin typeface="mp-quote"/>
                </a:rPr>
                <a:t>DoDAF</a:t>
              </a:r>
              <a:r>
                <a:rPr lang="en-US" altLang="zh-CN" b="1" i="0" dirty="0">
                  <a:solidFill>
                    <a:srgbClr val="333333"/>
                  </a:solidFill>
                  <a:effectLst/>
                  <a:latin typeface="mp-quote"/>
                </a:rPr>
                <a:t>/</a:t>
              </a:r>
            </a:p>
            <a:p>
              <a:r>
                <a:rPr lang="en-US" altLang="zh-CN" b="1" i="0" dirty="0">
                  <a:solidFill>
                    <a:srgbClr val="333333"/>
                  </a:solidFill>
                  <a:effectLst/>
                  <a:latin typeface="mp-quote"/>
                </a:rPr>
                <a:t>FEAF-II</a:t>
              </a:r>
              <a:endParaRPr lang="zh-CN" altLang="en-US" dirty="0">
                <a:solidFill>
                  <a:schemeClr val="bg1"/>
                </a:solidFill>
                <a:latin typeface="+mj-ea"/>
                <a:ea typeface="+mj-ea"/>
              </a:endParaRPr>
            </a:p>
          </p:txBody>
        </p:sp>
      </p:grpSp>
      <p:sp>
        <p:nvSpPr>
          <p:cNvPr id="27" name="文本框 26">
            <a:extLst>
              <a:ext uri="{FF2B5EF4-FFF2-40B4-BE49-F238E27FC236}">
                <a16:creationId xmlns:a16="http://schemas.microsoft.com/office/drawing/2014/main" id="{1E07581E-8547-408A-94DB-3764F7025294}"/>
              </a:ext>
            </a:extLst>
          </p:cNvPr>
          <p:cNvSpPr txBox="1"/>
          <p:nvPr/>
        </p:nvSpPr>
        <p:spPr>
          <a:xfrm>
            <a:off x="1059866" y="2920885"/>
            <a:ext cx="2120214" cy="591380"/>
          </a:xfrm>
          <a:prstGeom prst="rect">
            <a:avLst/>
          </a:prstGeom>
          <a:noFill/>
        </p:spPr>
        <p:txBody>
          <a:bodyPr wrap="square" rtlCol="0">
            <a:spAutoFit/>
          </a:bodyPr>
          <a:lstStyle/>
          <a:p>
            <a:pPr algn="ctr">
              <a:lnSpc>
                <a:spcPct val="120000"/>
              </a:lnSpc>
            </a:pPr>
            <a:r>
              <a:rPr lang="zh-CN" altLang="en-US" sz="1400" b="1" i="0" dirty="0">
                <a:solidFill>
                  <a:srgbClr val="333333"/>
                </a:solidFill>
                <a:effectLst/>
                <a:latin typeface="mp-quote"/>
              </a:rPr>
              <a:t>侧重从利益相关者的六个视角来描述企业</a:t>
            </a:r>
            <a:endParaRPr lang="zh-CN" altLang="en-US" sz="1400" dirty="0">
              <a:solidFill>
                <a:schemeClr val="accent2"/>
              </a:solidFill>
            </a:endParaRPr>
          </a:p>
        </p:txBody>
      </p:sp>
      <p:sp>
        <p:nvSpPr>
          <p:cNvPr id="30" name="文本框 29">
            <a:extLst>
              <a:ext uri="{FF2B5EF4-FFF2-40B4-BE49-F238E27FC236}">
                <a16:creationId xmlns:a16="http://schemas.microsoft.com/office/drawing/2014/main" id="{697A54A5-E464-48AD-B353-62C959EC9D5A}"/>
              </a:ext>
            </a:extLst>
          </p:cNvPr>
          <p:cNvSpPr txBox="1"/>
          <p:nvPr/>
        </p:nvSpPr>
        <p:spPr>
          <a:xfrm>
            <a:off x="968426" y="5531995"/>
            <a:ext cx="2303094" cy="591380"/>
          </a:xfrm>
          <a:prstGeom prst="rect">
            <a:avLst/>
          </a:prstGeom>
          <a:noFill/>
        </p:spPr>
        <p:txBody>
          <a:bodyPr wrap="square" rtlCol="0">
            <a:spAutoFit/>
          </a:bodyPr>
          <a:lstStyle/>
          <a:p>
            <a:pPr algn="ctr">
              <a:lnSpc>
                <a:spcPct val="120000"/>
              </a:lnSpc>
            </a:pPr>
            <a:r>
              <a:rPr lang="zh-CN" altLang="en-US" sz="1400" b="1" i="0" dirty="0">
                <a:solidFill>
                  <a:srgbClr val="333333"/>
                </a:solidFill>
                <a:effectLst/>
                <a:latin typeface="mp-quote"/>
              </a:rPr>
              <a:t>面向政府机构的投资组合管理，注重</a:t>
            </a:r>
            <a:r>
              <a:rPr lang="en-US" altLang="zh-CN" sz="1400" b="1" i="0" dirty="0" err="1">
                <a:solidFill>
                  <a:srgbClr val="333333"/>
                </a:solidFill>
                <a:effectLst/>
                <a:latin typeface="mp-quote"/>
              </a:rPr>
              <a:t>ViewPoint</a:t>
            </a:r>
            <a:endParaRPr lang="zh-CN" altLang="en-US" sz="1400" dirty="0">
              <a:solidFill>
                <a:schemeClr val="accent2"/>
              </a:solidFill>
            </a:endParaRPr>
          </a:p>
        </p:txBody>
      </p:sp>
      <p:grpSp>
        <p:nvGrpSpPr>
          <p:cNvPr id="31" name="组合 30">
            <a:extLst>
              <a:ext uri="{FF2B5EF4-FFF2-40B4-BE49-F238E27FC236}">
                <a16:creationId xmlns:a16="http://schemas.microsoft.com/office/drawing/2014/main" id="{BD59DCDA-8889-4F3D-9F28-58AF047A6DCF}"/>
              </a:ext>
            </a:extLst>
          </p:cNvPr>
          <p:cNvGrpSpPr/>
          <p:nvPr/>
        </p:nvGrpSpPr>
        <p:grpSpPr>
          <a:xfrm>
            <a:off x="9397544" y="1613050"/>
            <a:ext cx="1216404" cy="1216404"/>
            <a:chOff x="1464438" y="1740068"/>
            <a:chExt cx="1216404" cy="1216404"/>
          </a:xfrm>
        </p:grpSpPr>
        <p:grpSp>
          <p:nvGrpSpPr>
            <p:cNvPr id="32" name="组合 31">
              <a:extLst>
                <a:ext uri="{FF2B5EF4-FFF2-40B4-BE49-F238E27FC236}">
                  <a16:creationId xmlns:a16="http://schemas.microsoft.com/office/drawing/2014/main" id="{DAD0518F-5E3D-47DC-AA72-38B19035110C}"/>
                </a:ext>
              </a:extLst>
            </p:cNvPr>
            <p:cNvGrpSpPr/>
            <p:nvPr/>
          </p:nvGrpSpPr>
          <p:grpSpPr>
            <a:xfrm>
              <a:off x="1464438" y="1740068"/>
              <a:ext cx="1216404" cy="1216404"/>
              <a:chOff x="1630500" y="2067560"/>
              <a:chExt cx="1361440" cy="1361440"/>
            </a:xfrm>
          </p:grpSpPr>
          <p:sp>
            <p:nvSpPr>
              <p:cNvPr id="34" name="椭圆 33">
                <a:extLst>
                  <a:ext uri="{FF2B5EF4-FFF2-40B4-BE49-F238E27FC236}">
                    <a16:creationId xmlns:a16="http://schemas.microsoft.com/office/drawing/2014/main" id="{074A8C5E-6CA0-4568-A9FC-BDDD0CFC8D00}"/>
                  </a:ext>
                </a:extLst>
              </p:cNvPr>
              <p:cNvSpPr/>
              <p:nvPr/>
            </p:nvSpPr>
            <p:spPr>
              <a:xfrm>
                <a:off x="1630500" y="2067560"/>
                <a:ext cx="1361440" cy="1361440"/>
              </a:xfrm>
              <a:prstGeom prst="ellipse">
                <a:avLst/>
              </a:prstGeom>
              <a:gradFill flip="none" rotWithShape="1">
                <a:gsLst>
                  <a:gs pos="98000">
                    <a:schemeClr val="accent1">
                      <a:lumMod val="20000"/>
                      <a:lumOff val="80000"/>
                    </a:schemeClr>
                  </a:gs>
                  <a:gs pos="23000">
                    <a:schemeClr val="accent1">
                      <a:lumMod val="20000"/>
                      <a:lumOff val="80000"/>
                      <a:alpha val="0"/>
                    </a:schemeClr>
                  </a:gs>
                </a:gsLst>
                <a:path path="circle">
                  <a:fillToRect l="50000" t="50000" r="50000" b="50000"/>
                </a:path>
                <a:tileRect/>
              </a:gradFill>
              <a:ln w="12700">
                <a:solidFill>
                  <a:schemeClr val="accent1">
                    <a:lumMod val="20000"/>
                    <a:lumOff val="80000"/>
                  </a:schemeClr>
                </a:solidFill>
              </a:ln>
              <a:effectLst>
                <a:outerShdw blurRad="393700" dist="304800" dir="2700000" sx="97000" sy="97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sp>
            <p:nvSpPr>
              <p:cNvPr id="35" name="椭圆 34">
                <a:extLst>
                  <a:ext uri="{FF2B5EF4-FFF2-40B4-BE49-F238E27FC236}">
                    <a16:creationId xmlns:a16="http://schemas.microsoft.com/office/drawing/2014/main" id="{024F6378-BB5D-4489-A81B-EC7419B9AA46}"/>
                  </a:ext>
                </a:extLst>
              </p:cNvPr>
              <p:cNvSpPr/>
              <p:nvPr/>
            </p:nvSpPr>
            <p:spPr>
              <a:xfrm>
                <a:off x="1776141" y="2213201"/>
                <a:ext cx="1070158" cy="1070158"/>
              </a:xfrm>
              <a:prstGeom prst="ellipse">
                <a:avLst/>
              </a:prstGeom>
              <a:gradFill flip="none" rotWithShape="1">
                <a:gsLst>
                  <a:gs pos="98000">
                    <a:schemeClr val="accent4"/>
                  </a:gs>
                  <a:gs pos="0">
                    <a:schemeClr val="accent4">
                      <a:lumMod val="40000"/>
                      <a:lumOff val="60000"/>
                    </a:schemeClr>
                  </a:gs>
                </a:gsLst>
                <a:lin ang="4200000" scaled="0"/>
                <a:tileRect/>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dirty="0">
                  <a:solidFill>
                    <a:schemeClr val="accent1">
                      <a:lumMod val="75000"/>
                    </a:schemeClr>
                  </a:solidFill>
                  <a:latin typeface="+mj-ea"/>
                  <a:ea typeface="+mj-ea"/>
                </a:endParaRPr>
              </a:p>
            </p:txBody>
          </p:sp>
        </p:grpSp>
        <p:sp>
          <p:nvSpPr>
            <p:cNvPr id="33" name="文本框 32">
              <a:extLst>
                <a:ext uri="{FF2B5EF4-FFF2-40B4-BE49-F238E27FC236}">
                  <a16:creationId xmlns:a16="http://schemas.microsoft.com/office/drawing/2014/main" id="{87BC1331-5F30-4EF3-816C-E65C7A4F21E1}"/>
                </a:ext>
              </a:extLst>
            </p:cNvPr>
            <p:cNvSpPr txBox="1"/>
            <p:nvPr/>
          </p:nvSpPr>
          <p:spPr>
            <a:xfrm>
              <a:off x="1613613" y="2163604"/>
              <a:ext cx="918054" cy="369332"/>
            </a:xfrm>
            <a:prstGeom prst="rect">
              <a:avLst/>
            </a:prstGeom>
            <a:noFill/>
          </p:spPr>
          <p:txBody>
            <a:bodyPr wrap="square" rtlCol="0">
              <a:spAutoFit/>
            </a:bodyPr>
            <a:lstStyle/>
            <a:p>
              <a:r>
                <a:rPr lang="en-US" altLang="zh-CN" b="1" i="0" dirty="0">
                  <a:solidFill>
                    <a:srgbClr val="333333"/>
                  </a:solidFill>
                  <a:effectLst/>
                  <a:latin typeface="mp-quote"/>
                </a:rPr>
                <a:t>TOGAF</a:t>
              </a:r>
              <a:endParaRPr lang="zh-CN" altLang="en-US" dirty="0">
                <a:solidFill>
                  <a:schemeClr val="bg1"/>
                </a:solidFill>
                <a:latin typeface="+mj-ea"/>
                <a:ea typeface="+mj-ea"/>
              </a:endParaRPr>
            </a:p>
          </p:txBody>
        </p:sp>
      </p:grpSp>
      <p:grpSp>
        <p:nvGrpSpPr>
          <p:cNvPr id="36" name="组合 35">
            <a:extLst>
              <a:ext uri="{FF2B5EF4-FFF2-40B4-BE49-F238E27FC236}">
                <a16:creationId xmlns:a16="http://schemas.microsoft.com/office/drawing/2014/main" id="{88A4527A-63F6-4A83-8E40-A042235DFE2B}"/>
              </a:ext>
            </a:extLst>
          </p:cNvPr>
          <p:cNvGrpSpPr/>
          <p:nvPr/>
        </p:nvGrpSpPr>
        <p:grpSpPr>
          <a:xfrm>
            <a:off x="9397544" y="4195077"/>
            <a:ext cx="1216404" cy="1216404"/>
            <a:chOff x="1464438" y="4513748"/>
            <a:chExt cx="1216404" cy="1216404"/>
          </a:xfrm>
        </p:grpSpPr>
        <p:grpSp>
          <p:nvGrpSpPr>
            <p:cNvPr id="37" name="组合 36">
              <a:extLst>
                <a:ext uri="{FF2B5EF4-FFF2-40B4-BE49-F238E27FC236}">
                  <a16:creationId xmlns:a16="http://schemas.microsoft.com/office/drawing/2014/main" id="{85374680-A1F9-46F7-B355-418E33FE1CE9}"/>
                </a:ext>
              </a:extLst>
            </p:cNvPr>
            <p:cNvGrpSpPr/>
            <p:nvPr/>
          </p:nvGrpSpPr>
          <p:grpSpPr>
            <a:xfrm>
              <a:off x="1464438" y="4513748"/>
              <a:ext cx="1216404" cy="1216404"/>
              <a:chOff x="1630500" y="2067560"/>
              <a:chExt cx="1361440" cy="1361440"/>
            </a:xfrm>
          </p:grpSpPr>
          <p:sp>
            <p:nvSpPr>
              <p:cNvPr id="39" name="椭圆 38">
                <a:extLst>
                  <a:ext uri="{FF2B5EF4-FFF2-40B4-BE49-F238E27FC236}">
                    <a16:creationId xmlns:a16="http://schemas.microsoft.com/office/drawing/2014/main" id="{44555943-D33D-44AC-967D-C1358ABB190D}"/>
                  </a:ext>
                </a:extLst>
              </p:cNvPr>
              <p:cNvSpPr/>
              <p:nvPr/>
            </p:nvSpPr>
            <p:spPr>
              <a:xfrm>
                <a:off x="1630500" y="2067560"/>
                <a:ext cx="1361440" cy="1361440"/>
              </a:xfrm>
              <a:prstGeom prst="ellipse">
                <a:avLst/>
              </a:prstGeom>
              <a:gradFill flip="none" rotWithShape="1">
                <a:gsLst>
                  <a:gs pos="98000">
                    <a:schemeClr val="accent1">
                      <a:lumMod val="20000"/>
                      <a:lumOff val="80000"/>
                    </a:schemeClr>
                  </a:gs>
                  <a:gs pos="23000">
                    <a:schemeClr val="accent1">
                      <a:lumMod val="20000"/>
                      <a:lumOff val="80000"/>
                      <a:alpha val="0"/>
                    </a:schemeClr>
                  </a:gs>
                </a:gsLst>
                <a:path path="circle">
                  <a:fillToRect l="50000" t="50000" r="50000" b="50000"/>
                </a:path>
                <a:tileRect/>
              </a:gradFill>
              <a:ln w="12700">
                <a:solidFill>
                  <a:schemeClr val="accent1">
                    <a:lumMod val="20000"/>
                    <a:lumOff val="80000"/>
                  </a:schemeClr>
                </a:solidFill>
              </a:ln>
              <a:effectLst>
                <a:outerShdw blurRad="393700" dist="304800" dir="2700000" sx="97000" sy="97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sp>
            <p:nvSpPr>
              <p:cNvPr id="40" name="椭圆 39">
                <a:extLst>
                  <a:ext uri="{FF2B5EF4-FFF2-40B4-BE49-F238E27FC236}">
                    <a16:creationId xmlns:a16="http://schemas.microsoft.com/office/drawing/2014/main" id="{38F5390C-BD9E-4CDA-8F15-9EE2A8BCDFB1}"/>
                  </a:ext>
                </a:extLst>
              </p:cNvPr>
              <p:cNvSpPr/>
              <p:nvPr/>
            </p:nvSpPr>
            <p:spPr>
              <a:xfrm>
                <a:off x="1776141" y="2213201"/>
                <a:ext cx="1070158" cy="1070158"/>
              </a:xfrm>
              <a:prstGeom prst="ellipse">
                <a:avLst/>
              </a:prstGeom>
              <a:gradFill flip="none" rotWithShape="1">
                <a:gsLst>
                  <a:gs pos="98000">
                    <a:schemeClr val="accent4"/>
                  </a:gs>
                  <a:gs pos="2000">
                    <a:schemeClr val="accent4">
                      <a:lumMod val="40000"/>
                      <a:lumOff val="60000"/>
                    </a:schemeClr>
                  </a:gs>
                </a:gsLst>
                <a:lin ang="4200000" scaled="0"/>
                <a:tileRect/>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1400" b="1">
                  <a:solidFill>
                    <a:schemeClr val="accent1">
                      <a:lumMod val="75000"/>
                    </a:schemeClr>
                  </a:solidFill>
                  <a:latin typeface="+mj-ea"/>
                  <a:ea typeface="+mj-ea"/>
                </a:endParaRPr>
              </a:p>
            </p:txBody>
          </p:sp>
        </p:grpSp>
        <p:sp>
          <p:nvSpPr>
            <p:cNvPr id="38" name="文本框 37">
              <a:extLst>
                <a:ext uri="{FF2B5EF4-FFF2-40B4-BE49-F238E27FC236}">
                  <a16:creationId xmlns:a16="http://schemas.microsoft.com/office/drawing/2014/main" id="{38D557C4-A2A9-44A9-91FC-F40A975C53BD}"/>
                </a:ext>
              </a:extLst>
            </p:cNvPr>
            <p:cNvSpPr txBox="1"/>
            <p:nvPr/>
          </p:nvSpPr>
          <p:spPr>
            <a:xfrm>
              <a:off x="1613613" y="4937284"/>
              <a:ext cx="918054" cy="369332"/>
            </a:xfrm>
            <a:prstGeom prst="rect">
              <a:avLst/>
            </a:prstGeom>
            <a:noFill/>
          </p:spPr>
          <p:txBody>
            <a:bodyPr wrap="square" rtlCol="0">
              <a:spAutoFit/>
            </a:bodyPr>
            <a:lstStyle/>
            <a:p>
              <a:pPr algn="ctr"/>
              <a:r>
                <a:rPr lang="en-US" altLang="zh-CN" b="1" i="0" dirty="0">
                  <a:solidFill>
                    <a:srgbClr val="333333"/>
                  </a:solidFill>
                  <a:effectLst/>
                  <a:latin typeface="mp-quote"/>
                </a:rPr>
                <a:t>BIAN</a:t>
              </a:r>
              <a:endParaRPr lang="zh-CN" altLang="en-US" dirty="0">
                <a:solidFill>
                  <a:schemeClr val="bg1"/>
                </a:solidFill>
                <a:latin typeface="+mj-ea"/>
                <a:ea typeface="+mj-ea"/>
              </a:endParaRPr>
            </a:p>
          </p:txBody>
        </p:sp>
      </p:grpSp>
      <p:sp>
        <p:nvSpPr>
          <p:cNvPr id="41" name="文本框 40">
            <a:extLst>
              <a:ext uri="{FF2B5EF4-FFF2-40B4-BE49-F238E27FC236}">
                <a16:creationId xmlns:a16="http://schemas.microsoft.com/office/drawing/2014/main" id="{8D397BD6-B949-423C-BCCE-B668B858CE0E}"/>
              </a:ext>
            </a:extLst>
          </p:cNvPr>
          <p:cNvSpPr txBox="1"/>
          <p:nvPr/>
        </p:nvSpPr>
        <p:spPr>
          <a:xfrm>
            <a:off x="8879358" y="2920885"/>
            <a:ext cx="2252776" cy="591380"/>
          </a:xfrm>
          <a:prstGeom prst="rect">
            <a:avLst/>
          </a:prstGeom>
          <a:noFill/>
        </p:spPr>
        <p:txBody>
          <a:bodyPr wrap="square" rtlCol="0">
            <a:spAutoFit/>
          </a:bodyPr>
          <a:lstStyle/>
          <a:p>
            <a:pPr algn="ctr">
              <a:lnSpc>
                <a:spcPct val="120000"/>
              </a:lnSpc>
            </a:pPr>
            <a:r>
              <a:rPr lang="zh-CN" altLang="en-US" sz="1400" b="1" i="0" dirty="0">
                <a:solidFill>
                  <a:srgbClr val="333333"/>
                </a:solidFill>
                <a:effectLst/>
                <a:latin typeface="mp-quote"/>
              </a:rPr>
              <a:t>强调企业架构全生命周期治理</a:t>
            </a:r>
            <a:endParaRPr lang="zh-CN" altLang="en-US" sz="1400" dirty="0">
              <a:solidFill>
                <a:schemeClr val="accent2"/>
              </a:solidFill>
            </a:endParaRPr>
          </a:p>
        </p:txBody>
      </p:sp>
      <p:sp>
        <p:nvSpPr>
          <p:cNvPr id="42" name="文本框 41">
            <a:extLst>
              <a:ext uri="{FF2B5EF4-FFF2-40B4-BE49-F238E27FC236}">
                <a16:creationId xmlns:a16="http://schemas.microsoft.com/office/drawing/2014/main" id="{872E4751-8B24-4395-AB9C-B70C43936A84}"/>
              </a:ext>
            </a:extLst>
          </p:cNvPr>
          <p:cNvSpPr txBox="1"/>
          <p:nvPr/>
        </p:nvSpPr>
        <p:spPr>
          <a:xfrm>
            <a:off x="8854199" y="5531995"/>
            <a:ext cx="2303094" cy="523220"/>
          </a:xfrm>
          <a:prstGeom prst="rect">
            <a:avLst/>
          </a:prstGeom>
          <a:noFill/>
        </p:spPr>
        <p:txBody>
          <a:bodyPr wrap="square" rtlCol="0">
            <a:spAutoFit/>
          </a:bodyPr>
          <a:lstStyle/>
          <a:p>
            <a:pPr algn="ctr"/>
            <a:r>
              <a:rPr lang="zh-CN" altLang="en-US" sz="1400" b="1" i="0" dirty="0">
                <a:solidFill>
                  <a:srgbClr val="333333"/>
                </a:solidFill>
                <a:effectLst/>
                <a:latin typeface="mp-quote"/>
              </a:rPr>
              <a:t>面向银行业，有银行业开箱即用参考模型</a:t>
            </a:r>
            <a:endParaRPr lang="zh-CN" altLang="en-US" sz="1400" b="0" i="0" dirty="0">
              <a:solidFill>
                <a:srgbClr val="333333"/>
              </a:solidFill>
              <a:effectLst/>
              <a:latin typeface="mp-quote"/>
            </a:endParaRPr>
          </a:p>
        </p:txBody>
      </p:sp>
    </p:spTree>
    <p:extLst>
      <p:ext uri="{BB962C8B-B14F-4D97-AF65-F5344CB8AC3E}">
        <p14:creationId xmlns:p14="http://schemas.microsoft.com/office/powerpoint/2010/main" val="2950731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FBDC0C76-797B-4996-BBCF-F9E4F34E3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609600"/>
            <a:ext cx="10287000" cy="56388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C17593AE-E8D4-423C-9EB1-3B3A45421B0B}"/>
              </a:ext>
            </a:extLst>
          </p:cNvPr>
          <p:cNvSpPr txBox="1"/>
          <p:nvPr/>
        </p:nvSpPr>
        <p:spPr>
          <a:xfrm>
            <a:off x="488482" y="240268"/>
            <a:ext cx="6290108" cy="461665"/>
          </a:xfrm>
          <a:prstGeom prst="rect">
            <a:avLst/>
          </a:prstGeom>
          <a:noFill/>
        </p:spPr>
        <p:txBody>
          <a:bodyPr wrap="square">
            <a:spAutoFit/>
          </a:bodyPr>
          <a:lstStyle/>
          <a:p>
            <a:r>
              <a:rPr lang="zh-CN" altLang="en-US" sz="2400" b="1" i="0" dirty="0">
                <a:effectLst/>
                <a:latin typeface="-apple-system"/>
              </a:rPr>
              <a:t>企业架构框架对比</a:t>
            </a:r>
            <a:endParaRPr lang="zh-CN" altLang="en-US" sz="2400" dirty="0"/>
          </a:p>
        </p:txBody>
      </p:sp>
    </p:spTree>
    <p:extLst>
      <p:ext uri="{BB962C8B-B14F-4D97-AF65-F5344CB8AC3E}">
        <p14:creationId xmlns:p14="http://schemas.microsoft.com/office/powerpoint/2010/main" val="3246217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C8313CF6-9EA3-476E-A02C-CE646275E58B}"/>
              </a:ext>
            </a:extLst>
          </p:cNvPr>
          <p:cNvGraphicFramePr/>
          <p:nvPr>
            <p:extLst>
              <p:ext uri="{D42A27DB-BD31-4B8C-83A1-F6EECF244321}">
                <p14:modId xmlns:p14="http://schemas.microsoft.com/office/powerpoint/2010/main" val="2701081790"/>
              </p:ext>
            </p:extLst>
          </p:nvPr>
        </p:nvGraphicFramePr>
        <p:xfrm>
          <a:off x="3288444" y="100594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CA9B68C6-DA2F-4D2C-A33A-D140D4EE2EBE}"/>
              </a:ext>
            </a:extLst>
          </p:cNvPr>
          <p:cNvSpPr txBox="1"/>
          <p:nvPr/>
        </p:nvSpPr>
        <p:spPr>
          <a:xfrm>
            <a:off x="163632" y="1725849"/>
            <a:ext cx="2897204" cy="1200329"/>
          </a:xfrm>
          <a:prstGeom prst="rect">
            <a:avLst/>
          </a:prstGeom>
          <a:solidFill>
            <a:schemeClr val="accent5">
              <a:lumMod val="90000"/>
            </a:schemeClr>
          </a:solidFill>
          <a:ln>
            <a:solidFill>
              <a:schemeClr val="accent2">
                <a:lumMod val="20000"/>
                <a:lumOff val="80000"/>
              </a:schemeClr>
            </a:solidFill>
          </a:ln>
        </p:spPr>
        <p:txBody>
          <a:bodyPr wrap="square">
            <a:spAutoFit/>
          </a:bodyPr>
          <a:lstStyle/>
          <a:p>
            <a:r>
              <a:rPr lang="zh-CN" altLang="en-US" dirty="0">
                <a:effectLst/>
              </a:rPr>
              <a:t>在实际的跟进研究和项目经验来看，各经典框架</a:t>
            </a:r>
            <a:r>
              <a:rPr lang="zh-CN" altLang="en-US" b="1" dirty="0">
                <a:effectLst/>
              </a:rPr>
              <a:t>在项目工程实操性中仍显不足</a:t>
            </a:r>
            <a:r>
              <a:rPr lang="zh-CN" altLang="en-US" dirty="0">
                <a:effectLst/>
              </a:rPr>
              <a:t>。</a:t>
            </a:r>
          </a:p>
        </p:txBody>
      </p:sp>
      <p:sp>
        <p:nvSpPr>
          <p:cNvPr id="5" name="文本框 4">
            <a:extLst>
              <a:ext uri="{FF2B5EF4-FFF2-40B4-BE49-F238E27FC236}">
                <a16:creationId xmlns:a16="http://schemas.microsoft.com/office/drawing/2014/main" id="{50797BC3-6729-49EF-87B8-DC94B02908D2}"/>
              </a:ext>
            </a:extLst>
          </p:cNvPr>
          <p:cNvSpPr txBox="1"/>
          <p:nvPr/>
        </p:nvSpPr>
        <p:spPr>
          <a:xfrm>
            <a:off x="163632" y="3591546"/>
            <a:ext cx="2897204" cy="1477328"/>
          </a:xfrm>
          <a:prstGeom prst="rect">
            <a:avLst/>
          </a:prstGeom>
          <a:solidFill>
            <a:schemeClr val="accent5">
              <a:lumMod val="90000"/>
            </a:schemeClr>
          </a:solidFill>
          <a:ln>
            <a:solidFill>
              <a:schemeClr val="accent2">
                <a:lumMod val="20000"/>
                <a:lumOff val="80000"/>
              </a:schemeClr>
            </a:solidFill>
          </a:ln>
        </p:spPr>
        <p:txBody>
          <a:bodyPr wrap="square">
            <a:spAutoFit/>
          </a:bodyPr>
          <a:lstStyle/>
          <a:p>
            <a:r>
              <a:rPr lang="zh-CN" altLang="en-US" b="0" i="0" dirty="0">
                <a:solidFill>
                  <a:srgbClr val="333333"/>
                </a:solidFill>
                <a:effectLst/>
                <a:latin typeface="mp-quote"/>
              </a:rPr>
              <a:t>企业级架构框架</a:t>
            </a:r>
            <a:r>
              <a:rPr lang="zh-CN" altLang="en-US" b="1" i="0" dirty="0">
                <a:solidFill>
                  <a:srgbClr val="333333"/>
                </a:solidFill>
                <a:effectLst/>
                <a:latin typeface="mp-quote"/>
              </a:rPr>
              <a:t>定位都偏向于战略规划和组织级管理与治理</a:t>
            </a:r>
            <a:r>
              <a:rPr lang="zh-CN" altLang="en-US" b="0" i="0" dirty="0">
                <a:solidFill>
                  <a:srgbClr val="333333"/>
                </a:solidFill>
                <a:effectLst/>
                <a:latin typeface="mp-quote"/>
              </a:rPr>
              <a:t>，对于架构在具体设计和建模层面都没有进行细粒度展开</a:t>
            </a:r>
            <a:endParaRPr lang="zh-CN" altLang="en-US" dirty="0">
              <a:effectLst/>
            </a:endParaRPr>
          </a:p>
        </p:txBody>
      </p:sp>
      <p:sp>
        <p:nvSpPr>
          <p:cNvPr id="7" name="文本框 6">
            <a:extLst>
              <a:ext uri="{FF2B5EF4-FFF2-40B4-BE49-F238E27FC236}">
                <a16:creationId xmlns:a16="http://schemas.microsoft.com/office/drawing/2014/main" id="{B11BB4C7-0F38-4930-981A-CAE038B63E04}"/>
              </a:ext>
            </a:extLst>
          </p:cNvPr>
          <p:cNvSpPr txBox="1"/>
          <p:nvPr/>
        </p:nvSpPr>
        <p:spPr>
          <a:xfrm>
            <a:off x="163632" y="340575"/>
            <a:ext cx="6290108" cy="461665"/>
          </a:xfrm>
          <a:prstGeom prst="rect">
            <a:avLst/>
          </a:prstGeom>
          <a:noFill/>
        </p:spPr>
        <p:txBody>
          <a:bodyPr wrap="square">
            <a:spAutoFit/>
          </a:bodyPr>
          <a:lstStyle/>
          <a:p>
            <a:r>
              <a:rPr lang="zh-CN" altLang="en-US" sz="2400" b="1" dirty="0">
                <a:latin typeface="mp-quote"/>
              </a:rPr>
              <a:t>业务平台化背景下</a:t>
            </a:r>
            <a:r>
              <a:rPr lang="zh-CN" altLang="en-US" sz="2400" b="1" i="0" dirty="0">
                <a:effectLst/>
                <a:latin typeface="mp-quote"/>
              </a:rPr>
              <a:t>企业架构框架</a:t>
            </a:r>
            <a:r>
              <a:rPr lang="zh-CN" altLang="en-US" sz="2400" b="1" dirty="0">
                <a:latin typeface="mp-quote"/>
              </a:rPr>
              <a:t>四层次的问题</a:t>
            </a:r>
            <a:endParaRPr lang="zh-CN" altLang="en-US" sz="2400" b="1" dirty="0"/>
          </a:p>
        </p:txBody>
      </p:sp>
    </p:spTree>
    <p:extLst>
      <p:ext uri="{BB962C8B-B14F-4D97-AF65-F5344CB8AC3E}">
        <p14:creationId xmlns:p14="http://schemas.microsoft.com/office/powerpoint/2010/main" val="1429305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02" name="think-cell Slide" r:id="rId4" imgW="360" imgH="360" progId="">
                  <p:embed/>
                </p:oleObj>
              </mc:Choice>
              <mc:Fallback>
                <p:oleObj name="think-cell Slide" r:id="rId4" imgW="360" imgH="36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13" name="标题 1">
            <a:extLst>
              <a:ext uri="{FF2B5EF4-FFF2-40B4-BE49-F238E27FC236}">
                <a16:creationId xmlns:a16="http://schemas.microsoft.com/office/drawing/2014/main" id="{9ACBF575-E248-48D5-AFE8-C19D34E35804}"/>
              </a:ext>
            </a:extLst>
          </p:cNvPr>
          <p:cNvSpPr txBox="1">
            <a:spLocks/>
          </p:cNvSpPr>
          <p:nvPr/>
        </p:nvSpPr>
        <p:spPr>
          <a:xfrm>
            <a:off x="669924" y="1"/>
            <a:ext cx="10850563" cy="1028699"/>
          </a:xfrm>
          <a:prstGeom prst="rect">
            <a:avLst/>
          </a:prstGeom>
        </p:spPr>
        <p:txBody>
          <a:bodyPr vert="horz" lIns="91440" tIns="45720" rIns="91440" bIns="45720" rtlCol="0" anchor="b">
            <a:normAutofit/>
          </a:bodyPr>
          <a:lstStyle>
            <a:lvl1pPr marL="0" indent="0" algn="ctr" defTabSz="914354" rtl="0" eaLnBrk="1" latinLnBrk="0" hangingPunct="1">
              <a:lnSpc>
                <a:spcPct val="90000"/>
              </a:lnSpc>
              <a:spcBef>
                <a:spcPct val="0"/>
              </a:spcBef>
              <a:buFont typeface="Arial" panose="020B0604020202020204" pitchFamily="34" charset="0"/>
              <a:buNone/>
              <a:defRPr sz="3600" b="1" kern="1200">
                <a:solidFill>
                  <a:schemeClr val="accent5"/>
                </a:solidFill>
                <a:latin typeface="+mj-lt"/>
                <a:ea typeface="+mj-ea"/>
                <a:cs typeface="+mj-cs"/>
              </a:defRPr>
            </a:lvl1pPr>
          </a:lstStyle>
          <a:p>
            <a:pPr algn="l"/>
            <a:r>
              <a:rPr lang="zh-CN" altLang="en-US" dirty="0"/>
              <a:t>总结</a:t>
            </a:r>
          </a:p>
        </p:txBody>
      </p:sp>
      <p:sp>
        <p:nvSpPr>
          <p:cNvPr id="19" name="文本框 18">
            <a:extLst>
              <a:ext uri="{FF2B5EF4-FFF2-40B4-BE49-F238E27FC236}">
                <a16:creationId xmlns:a16="http://schemas.microsoft.com/office/drawing/2014/main" id="{4FBDBD7D-DD2B-4F97-A464-EC0C630190AB}"/>
              </a:ext>
            </a:extLst>
          </p:cNvPr>
          <p:cNvSpPr txBox="1"/>
          <p:nvPr/>
        </p:nvSpPr>
        <p:spPr>
          <a:xfrm>
            <a:off x="-163773" y="6558170"/>
            <a:ext cx="2920621" cy="369332"/>
          </a:xfrm>
          <a:prstGeom prst="rect">
            <a:avLst/>
          </a:prstGeom>
          <a:noFill/>
        </p:spPr>
        <p:txBody>
          <a:bodyPr wrap="square" rtlCol="0">
            <a:spAutoFit/>
          </a:bodyPr>
          <a:lstStyle/>
          <a:p>
            <a:r>
              <a:rPr lang="zh-CN" altLang="en-US" dirty="0">
                <a:solidFill>
                  <a:schemeClr val="bg1"/>
                </a:solidFill>
                <a:latin typeface="华文楷体" panose="02010600040101010101" pitchFamily="2" charset="-122"/>
                <a:ea typeface="华文楷体" panose="02010600040101010101" pitchFamily="2" charset="-122"/>
              </a:rPr>
              <a:t>“球迷</a:t>
            </a:r>
            <a:r>
              <a:rPr lang="en-US" altLang="zh-CN" dirty="0">
                <a:solidFill>
                  <a:schemeClr val="bg1"/>
                </a:solidFill>
                <a:latin typeface="华文楷体" panose="02010600040101010101" pitchFamily="2" charset="-122"/>
                <a:ea typeface="华文楷体" panose="02010600040101010101" pitchFamily="2" charset="-122"/>
              </a:rPr>
              <a:t>Long</a:t>
            </a:r>
            <a:r>
              <a:rPr lang="zh-CN" altLang="en-US" dirty="0">
                <a:solidFill>
                  <a:schemeClr val="bg1"/>
                </a:solidFill>
                <a:latin typeface="华文楷体" panose="02010600040101010101" pitchFamily="2" charset="-122"/>
                <a:ea typeface="华文楷体" panose="02010600040101010101" pitchFamily="2" charset="-122"/>
              </a:rPr>
              <a:t>笔记” 组织</a:t>
            </a:r>
          </a:p>
        </p:txBody>
      </p:sp>
    </p:spTree>
    <p:custDataLst>
      <p:tags r:id="rId2"/>
    </p:custDataLst>
    <p:extLst>
      <p:ext uri="{BB962C8B-B14F-4D97-AF65-F5344CB8AC3E}">
        <p14:creationId xmlns:p14="http://schemas.microsoft.com/office/powerpoint/2010/main" val="1930099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15"/>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76FE"/>
      </a:accent1>
      <a:accent2>
        <a:srgbClr val="023CBE"/>
      </a:accent2>
      <a:accent3>
        <a:srgbClr val="24365B"/>
      </a:accent3>
      <a:accent4>
        <a:srgbClr val="5998CC"/>
      </a:accent4>
      <a:accent5>
        <a:srgbClr val="F1F1D8"/>
      </a:accent5>
      <a:accent6>
        <a:srgbClr val="5A4E8C"/>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1176FE"/>
    </a:accent1>
    <a:accent2>
      <a:srgbClr val="023CBE"/>
    </a:accent2>
    <a:accent3>
      <a:srgbClr val="24365B"/>
    </a:accent3>
    <a:accent4>
      <a:srgbClr val="5998CC"/>
    </a:accent4>
    <a:accent5>
      <a:srgbClr val="F1F1D8"/>
    </a:accent5>
    <a:accent6>
      <a:srgbClr val="5A4E8C"/>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3817</TotalTime>
  <Words>1496</Words>
  <Application>Microsoft Office PowerPoint</Application>
  <PresentationFormat>宽屏</PresentationFormat>
  <Paragraphs>126</Paragraphs>
  <Slides>13</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29" baseType="lpstr">
      <vt:lpstr>-apple-system</vt:lpstr>
      <vt:lpstr>mp-quote</vt:lpstr>
      <vt:lpstr>OpenSans-Light</vt:lpstr>
      <vt:lpstr>Roboto Regular</vt:lpstr>
      <vt:lpstr>SourceHanSansCN-Bold</vt:lpstr>
      <vt:lpstr>SourceHanSansCN-Light</vt:lpstr>
      <vt:lpstr>STKaiti</vt:lpstr>
      <vt:lpstr>STKaiti</vt:lpstr>
      <vt:lpstr>思源宋体 CN Heavy</vt:lpstr>
      <vt:lpstr>微软雅黑</vt:lpstr>
      <vt:lpstr>Arial</vt:lpstr>
      <vt:lpstr>Calibri</vt:lpstr>
      <vt:lpstr>Roboto</vt:lpstr>
      <vt:lpstr>Wingdings</vt:lpstr>
      <vt:lpstr>主题5</vt:lpstr>
      <vt:lpstr>think-cell Slide</vt:lpstr>
      <vt:lpstr>                   进步同行  读书笔记挑战30天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zhao town</cp:lastModifiedBy>
  <cp:revision>58</cp:revision>
  <cp:lastPrinted>2018-09-20T16:00:00Z</cp:lastPrinted>
  <dcterms:created xsi:type="dcterms:W3CDTF">2018-09-20T16:00:00Z</dcterms:created>
  <dcterms:modified xsi:type="dcterms:W3CDTF">2021-12-26T07:56:26Z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