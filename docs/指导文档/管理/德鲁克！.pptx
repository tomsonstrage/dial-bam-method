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336" r:id="rId2"/>
    <p:sldId id="994" r:id="rId3"/>
    <p:sldId id="497" r:id="rId4"/>
    <p:sldId id="993" r:id="rId5"/>
    <p:sldId id="990" r:id="rId6"/>
    <p:sldId id="987" r:id="rId7"/>
    <p:sldId id="989" r:id="rId8"/>
    <p:sldId id="995" r:id="rId9"/>
    <p:sldId id="996" r:id="rId10"/>
    <p:sldId id="1193" r:id="rId11"/>
    <p:sldId id="1578" r:id="rId12"/>
    <p:sldId id="1579" r:id="rId13"/>
    <p:sldId id="975" r:id="rId14"/>
    <p:sldId id="1199" r:id="rId15"/>
    <p:sldId id="1194" r:id="rId16"/>
    <p:sldId id="976" r:id="rId17"/>
    <p:sldId id="982" r:id="rId18"/>
    <p:sldId id="984" r:id="rId19"/>
    <p:sldId id="1169" r:id="rId20"/>
    <p:sldId id="384" r:id="rId21"/>
    <p:sldId id="1187" r:id="rId22"/>
    <p:sldId id="1556" r:id="rId23"/>
    <p:sldId id="1566" r:id="rId24"/>
    <p:sldId id="1567" r:id="rId25"/>
    <p:sldId id="1580" r:id="rId26"/>
    <p:sldId id="956" r:id="rId27"/>
    <p:sldId id="1581" r:id="rId28"/>
    <p:sldId id="504" r:id="rId29"/>
  </p:sldIdLst>
  <p:sldSz cx="12192000" cy="6858000"/>
  <p:notesSz cx="6858000" cy="9945688"/>
  <p:defaultTextStyle>
    <a:defPPr>
      <a:defRPr lang="zh-CN"/>
    </a:defPPr>
    <a:lvl1pPr marL="0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E73A1C"/>
    <a:srgbClr val="AC6672"/>
    <a:srgbClr val="D28C79"/>
    <a:srgbClr val="FFFFFF"/>
    <a:srgbClr val="534544"/>
    <a:srgbClr val="FDDAB8"/>
    <a:srgbClr val="121212"/>
    <a:srgbClr val="141D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中度样式 3 - 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46F890A9-2807-4EBB-B81D-B2AA78EC7F39}" styleName="深色样式 2 - 强调 5/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中度样式 3 - 强调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651" autoAdjust="0"/>
  </p:normalViewPr>
  <p:slideViewPr>
    <p:cSldViewPr snapToGrid="0">
      <p:cViewPr varScale="1">
        <p:scale>
          <a:sx n="59" d="100"/>
          <a:sy n="59" d="100"/>
        </p:scale>
        <p:origin x="940" y="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E8FE07-7FCA-47E0-89ED-D3DF9A9CCD80}" type="datetimeFigureOut">
              <a:rPr lang="zh-CN" altLang="en-US" smtClean="0"/>
              <a:pPr/>
              <a:t>2022/01/15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6678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9446678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955209-7C7A-4871-A4D9-4B43CF6768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6959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955209-7C7A-4871-A4D9-4B43CF676883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2160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955209-7C7A-4871-A4D9-4B43CF676883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382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955209-7C7A-4871-A4D9-4B43CF676883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98630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955209-7C7A-4871-A4D9-4B43CF676883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00274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955209-7C7A-4871-A4D9-4B43CF676883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65280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955209-7C7A-4871-A4D9-4B43CF676883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602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955209-7C7A-4871-A4D9-4B43CF676883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72523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955209-7C7A-4871-A4D9-4B43CF676883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6834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4788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38"/>
          <a:stretch/>
        </p:blipFill>
        <p:spPr>
          <a:xfrm>
            <a:off x="0" y="-1"/>
            <a:ext cx="12223464" cy="6872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907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CB603F-BA80-4210-B69F-83D00B298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72305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1006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24605-D6E9-4D39-9A11-F82B4D60F848}" type="datetimeFigureOut">
              <a:rPr lang="zh-CN" altLang="en-US" smtClean="0"/>
              <a:t>2022/01/15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C3BB2-2131-4C0A-BDF2-8D9AFBAC85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123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-13123" y="1009651"/>
            <a:ext cx="12204000" cy="0"/>
            <a:chOff x="2552702" y="1009651"/>
            <a:chExt cx="8236056" cy="0"/>
          </a:xfrm>
        </p:grpSpPr>
        <p:cxnSp>
          <p:nvCxnSpPr>
            <p:cNvPr id="6" name="直接连接符 5"/>
            <p:cNvCxnSpPr/>
            <p:nvPr userDrawn="1"/>
          </p:nvCxnSpPr>
          <p:spPr>
            <a:xfrm>
              <a:off x="2552702" y="1009651"/>
              <a:ext cx="1638300" cy="0"/>
            </a:xfrm>
            <a:prstGeom prst="line">
              <a:avLst/>
            </a:prstGeom>
            <a:ln w="127000">
              <a:solidFill>
                <a:srgbClr val="FDDA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 userDrawn="1"/>
          </p:nvCxnSpPr>
          <p:spPr>
            <a:xfrm>
              <a:off x="4191002" y="1009651"/>
              <a:ext cx="2196000" cy="0"/>
            </a:xfrm>
            <a:prstGeom prst="line">
              <a:avLst/>
            </a:prstGeom>
            <a:ln w="127000">
              <a:solidFill>
                <a:srgbClr val="D28C7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 userDrawn="1"/>
          </p:nvCxnSpPr>
          <p:spPr>
            <a:xfrm>
              <a:off x="5829302" y="1009651"/>
              <a:ext cx="1638300" cy="0"/>
            </a:xfrm>
            <a:prstGeom prst="line">
              <a:avLst/>
            </a:prstGeom>
            <a:ln w="127000">
              <a:solidFill>
                <a:srgbClr val="53454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 userDrawn="1"/>
          </p:nvCxnSpPr>
          <p:spPr>
            <a:xfrm>
              <a:off x="7448542" y="1009651"/>
              <a:ext cx="3340216" cy="0"/>
            </a:xfrm>
            <a:prstGeom prst="line">
              <a:avLst/>
            </a:prstGeom>
            <a:ln w="127000">
              <a:solidFill>
                <a:srgbClr val="12121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79643"/>
            <a:ext cx="12190877" cy="346078"/>
          </a:xfrm>
          <a:prstGeom prst="rect">
            <a:avLst/>
          </a:prstGeom>
        </p:spPr>
        <p:txBody>
          <a:bodyPr lIns="91436" tIns="45718" rIns="91436" bIns="45718"/>
          <a:lstStyle>
            <a:lvl1pPr marL="0" indent="0" algn="ctr">
              <a:buNone/>
              <a:defRPr sz="2400" b="1" baseline="0"/>
            </a:lvl1pPr>
          </a:lstStyle>
          <a:p>
            <a:pPr lvl="0"/>
            <a:r>
              <a:rPr lang="zh-CN" altLang="en-US" dirty="0"/>
              <a:t>点击此处添加标题 </a:t>
            </a:r>
            <a:r>
              <a:rPr lang="en-US" altLang="zh-CN" dirty="0"/>
              <a:t>TITLE HERE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0423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-13123" y="1009651"/>
            <a:ext cx="12204000" cy="0"/>
            <a:chOff x="2552702" y="1009651"/>
            <a:chExt cx="8236056" cy="0"/>
          </a:xfrm>
        </p:grpSpPr>
        <p:cxnSp>
          <p:nvCxnSpPr>
            <p:cNvPr id="6" name="直接连接符 5"/>
            <p:cNvCxnSpPr/>
            <p:nvPr userDrawn="1"/>
          </p:nvCxnSpPr>
          <p:spPr>
            <a:xfrm>
              <a:off x="2552702" y="1009651"/>
              <a:ext cx="1638300" cy="0"/>
            </a:xfrm>
            <a:prstGeom prst="line">
              <a:avLst/>
            </a:prstGeom>
            <a:ln w="127000">
              <a:solidFill>
                <a:srgbClr val="FDDA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 userDrawn="1"/>
          </p:nvCxnSpPr>
          <p:spPr>
            <a:xfrm>
              <a:off x="4191002" y="1009651"/>
              <a:ext cx="2196000" cy="0"/>
            </a:xfrm>
            <a:prstGeom prst="line">
              <a:avLst/>
            </a:prstGeom>
            <a:ln w="127000">
              <a:solidFill>
                <a:srgbClr val="D28C7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 userDrawn="1"/>
          </p:nvCxnSpPr>
          <p:spPr>
            <a:xfrm>
              <a:off x="5829302" y="1009651"/>
              <a:ext cx="1638300" cy="0"/>
            </a:xfrm>
            <a:prstGeom prst="line">
              <a:avLst/>
            </a:prstGeom>
            <a:ln w="127000">
              <a:solidFill>
                <a:srgbClr val="53454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 userDrawn="1"/>
          </p:nvCxnSpPr>
          <p:spPr>
            <a:xfrm>
              <a:off x="7448542" y="1009651"/>
              <a:ext cx="3340216" cy="0"/>
            </a:xfrm>
            <a:prstGeom prst="line">
              <a:avLst/>
            </a:prstGeom>
            <a:ln w="127000">
              <a:solidFill>
                <a:srgbClr val="12121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79641"/>
            <a:ext cx="12190877" cy="438175"/>
          </a:xfrm>
          <a:prstGeom prst="rect">
            <a:avLst/>
          </a:prstGeom>
        </p:spPr>
        <p:txBody>
          <a:bodyPr lIns="91436" tIns="45718" rIns="91436" bIns="45718"/>
          <a:lstStyle>
            <a:lvl1pPr marL="0" indent="0" algn="ctr">
              <a:buNone/>
              <a:defRPr sz="2400" b="1" baseline="0"/>
            </a:lvl1pPr>
          </a:lstStyle>
          <a:p>
            <a:pPr lvl="0"/>
            <a:r>
              <a:rPr lang="zh-CN" altLang="en-US" dirty="0"/>
              <a:t>点击此处添加标题 </a:t>
            </a:r>
            <a:r>
              <a:rPr lang="en-US" altLang="zh-CN" dirty="0"/>
              <a:t>TITLE HERE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1759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2643" y="1009651"/>
            <a:ext cx="12182400" cy="0"/>
            <a:chOff x="2552702" y="1009651"/>
            <a:chExt cx="8236056" cy="0"/>
          </a:xfrm>
        </p:grpSpPr>
        <p:cxnSp>
          <p:nvCxnSpPr>
            <p:cNvPr id="3" name="直接连接符 2"/>
            <p:cNvCxnSpPr/>
            <p:nvPr userDrawn="1"/>
          </p:nvCxnSpPr>
          <p:spPr>
            <a:xfrm>
              <a:off x="2552702" y="1009651"/>
              <a:ext cx="1638300" cy="0"/>
            </a:xfrm>
            <a:prstGeom prst="line">
              <a:avLst/>
            </a:prstGeom>
            <a:ln w="127000">
              <a:solidFill>
                <a:srgbClr val="FDDA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/>
            <p:cNvCxnSpPr/>
            <p:nvPr userDrawn="1"/>
          </p:nvCxnSpPr>
          <p:spPr>
            <a:xfrm>
              <a:off x="4191002" y="1009651"/>
              <a:ext cx="2196000" cy="0"/>
            </a:xfrm>
            <a:prstGeom prst="line">
              <a:avLst/>
            </a:prstGeom>
            <a:ln w="127000">
              <a:solidFill>
                <a:srgbClr val="D28C7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 userDrawn="1"/>
          </p:nvCxnSpPr>
          <p:spPr>
            <a:xfrm>
              <a:off x="5829302" y="1009651"/>
              <a:ext cx="1638300" cy="0"/>
            </a:xfrm>
            <a:prstGeom prst="line">
              <a:avLst/>
            </a:prstGeom>
            <a:ln w="127000">
              <a:solidFill>
                <a:srgbClr val="53454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 userDrawn="1"/>
          </p:nvCxnSpPr>
          <p:spPr>
            <a:xfrm>
              <a:off x="7448542" y="1009651"/>
              <a:ext cx="3340216" cy="0"/>
            </a:xfrm>
            <a:prstGeom prst="line">
              <a:avLst/>
            </a:prstGeom>
            <a:ln w="127000">
              <a:solidFill>
                <a:srgbClr val="12121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占位符 2"/>
          <p:cNvSpPr txBox="1">
            <a:spLocks/>
          </p:cNvSpPr>
          <p:nvPr userDrawn="1"/>
        </p:nvSpPr>
        <p:spPr>
          <a:xfrm>
            <a:off x="3805633" y="379642"/>
            <a:ext cx="4136571" cy="362404"/>
          </a:xfrm>
          <a:prstGeom prst="rect">
            <a:avLst/>
          </a:prstGeom>
        </p:spPr>
        <p:txBody>
          <a:bodyPr lIns="91436" tIns="45718" rIns="91436" bIns="45718"/>
          <a:lstStyle>
            <a:lvl1pPr marL="0" indent="0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2624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6" r:id="rId6"/>
    <p:sldLayoutId id="2147483657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9" Type="http://schemas.openxmlformats.org/officeDocument/2006/relationships/image" Target="../media/image40.png"/><Relationship Id="rId21" Type="http://schemas.openxmlformats.org/officeDocument/2006/relationships/image" Target="../media/image22.png"/><Relationship Id="rId34" Type="http://schemas.openxmlformats.org/officeDocument/2006/relationships/image" Target="../media/image35.png"/><Relationship Id="rId7" Type="http://schemas.openxmlformats.org/officeDocument/2006/relationships/image" Target="../media/image8.jpeg"/><Relationship Id="rId12" Type="http://schemas.openxmlformats.org/officeDocument/2006/relationships/image" Target="../media/image13.jpe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33" Type="http://schemas.openxmlformats.org/officeDocument/2006/relationships/image" Target="../media/image34.png"/><Relationship Id="rId38" Type="http://schemas.openxmlformats.org/officeDocument/2006/relationships/image" Target="../media/image3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11" Type="http://schemas.openxmlformats.org/officeDocument/2006/relationships/image" Target="../media/image12.jpeg"/><Relationship Id="rId24" Type="http://schemas.openxmlformats.org/officeDocument/2006/relationships/image" Target="../media/image25.png"/><Relationship Id="rId32" Type="http://schemas.openxmlformats.org/officeDocument/2006/relationships/image" Target="../media/image33.png"/><Relationship Id="rId37" Type="http://schemas.openxmlformats.org/officeDocument/2006/relationships/image" Target="../media/image38.png"/><Relationship Id="rId40" Type="http://schemas.openxmlformats.org/officeDocument/2006/relationships/image" Target="../media/image41.png"/><Relationship Id="rId5" Type="http://schemas.openxmlformats.org/officeDocument/2006/relationships/image" Target="../media/image6.jpe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9.png"/><Relationship Id="rId36" Type="http://schemas.openxmlformats.org/officeDocument/2006/relationships/image" Target="../media/image37.png"/><Relationship Id="rId10" Type="http://schemas.openxmlformats.org/officeDocument/2006/relationships/image" Target="../media/image11.jpeg"/><Relationship Id="rId19" Type="http://schemas.openxmlformats.org/officeDocument/2006/relationships/image" Target="../media/image20.png"/><Relationship Id="rId31" Type="http://schemas.openxmlformats.org/officeDocument/2006/relationships/image" Target="../media/image32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png"/><Relationship Id="rId30" Type="http://schemas.openxmlformats.org/officeDocument/2006/relationships/image" Target="../media/image31.png"/><Relationship Id="rId35" Type="http://schemas.openxmlformats.org/officeDocument/2006/relationships/image" Target="../media/image36.png"/><Relationship Id="rId8" Type="http://schemas.openxmlformats.org/officeDocument/2006/relationships/image" Target="../media/image9.jpeg"/><Relationship Id="rId3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2.png"/><Relationship Id="rId18" Type="http://schemas.openxmlformats.org/officeDocument/2006/relationships/image" Target="../media/image56.jpeg"/><Relationship Id="rId26" Type="http://schemas.openxmlformats.org/officeDocument/2006/relationships/image" Target="../media/image64.jpeg"/><Relationship Id="rId39" Type="http://schemas.openxmlformats.org/officeDocument/2006/relationships/image" Target="../media/image74.jpeg"/><Relationship Id="rId21" Type="http://schemas.openxmlformats.org/officeDocument/2006/relationships/image" Target="../media/image59.jpeg"/><Relationship Id="rId34" Type="http://schemas.openxmlformats.org/officeDocument/2006/relationships/image" Target="../media/image35.png"/><Relationship Id="rId7" Type="http://schemas.openxmlformats.org/officeDocument/2006/relationships/image" Target="../media/image8.jpeg"/><Relationship Id="rId12" Type="http://schemas.openxmlformats.org/officeDocument/2006/relationships/image" Target="../media/image51.jpeg"/><Relationship Id="rId17" Type="http://schemas.openxmlformats.org/officeDocument/2006/relationships/image" Target="../media/image18.png"/><Relationship Id="rId25" Type="http://schemas.openxmlformats.org/officeDocument/2006/relationships/image" Target="../media/image63.jpeg"/><Relationship Id="rId33" Type="http://schemas.openxmlformats.org/officeDocument/2006/relationships/image" Target="../media/image71.png"/><Relationship Id="rId38" Type="http://schemas.openxmlformats.org/officeDocument/2006/relationships/image" Target="../media/image73.jpeg"/><Relationship Id="rId2" Type="http://schemas.openxmlformats.org/officeDocument/2006/relationships/image" Target="../media/image43.jpg"/><Relationship Id="rId16" Type="http://schemas.openxmlformats.org/officeDocument/2006/relationships/image" Target="../media/image55.png"/><Relationship Id="rId20" Type="http://schemas.openxmlformats.org/officeDocument/2006/relationships/image" Target="../media/image58.jpeg"/><Relationship Id="rId29" Type="http://schemas.openxmlformats.org/officeDocument/2006/relationships/image" Target="../media/image6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jpeg"/><Relationship Id="rId11" Type="http://schemas.openxmlformats.org/officeDocument/2006/relationships/image" Target="../media/image50.jpeg"/><Relationship Id="rId24" Type="http://schemas.openxmlformats.org/officeDocument/2006/relationships/image" Target="../media/image62.jpeg"/><Relationship Id="rId32" Type="http://schemas.openxmlformats.org/officeDocument/2006/relationships/image" Target="../media/image70.jpeg"/><Relationship Id="rId37" Type="http://schemas.openxmlformats.org/officeDocument/2006/relationships/image" Target="../media/image38.png"/><Relationship Id="rId40" Type="http://schemas.openxmlformats.org/officeDocument/2006/relationships/image" Target="../media/image75.jpeg"/><Relationship Id="rId5" Type="http://schemas.openxmlformats.org/officeDocument/2006/relationships/image" Target="../media/image6.jpeg"/><Relationship Id="rId15" Type="http://schemas.openxmlformats.org/officeDocument/2006/relationships/image" Target="../media/image54.jpeg"/><Relationship Id="rId23" Type="http://schemas.openxmlformats.org/officeDocument/2006/relationships/image" Target="../media/image61.jpeg"/><Relationship Id="rId28" Type="http://schemas.openxmlformats.org/officeDocument/2006/relationships/image" Target="../media/image66.jpeg"/><Relationship Id="rId36" Type="http://schemas.openxmlformats.org/officeDocument/2006/relationships/image" Target="../media/image37.png"/><Relationship Id="rId10" Type="http://schemas.openxmlformats.org/officeDocument/2006/relationships/image" Target="../media/image49.jpeg"/><Relationship Id="rId19" Type="http://schemas.openxmlformats.org/officeDocument/2006/relationships/image" Target="../media/image57.jpeg"/><Relationship Id="rId31" Type="http://schemas.openxmlformats.org/officeDocument/2006/relationships/image" Target="../media/image69.jpeg"/><Relationship Id="rId4" Type="http://schemas.openxmlformats.org/officeDocument/2006/relationships/image" Target="../media/image45.jpeg"/><Relationship Id="rId9" Type="http://schemas.openxmlformats.org/officeDocument/2006/relationships/image" Target="../media/image48.jpeg"/><Relationship Id="rId14" Type="http://schemas.openxmlformats.org/officeDocument/2006/relationships/image" Target="../media/image53.png"/><Relationship Id="rId22" Type="http://schemas.openxmlformats.org/officeDocument/2006/relationships/image" Target="../media/image60.jpeg"/><Relationship Id="rId27" Type="http://schemas.openxmlformats.org/officeDocument/2006/relationships/image" Target="../media/image65.jpeg"/><Relationship Id="rId30" Type="http://schemas.openxmlformats.org/officeDocument/2006/relationships/image" Target="../media/image68.jpeg"/><Relationship Id="rId35" Type="http://schemas.openxmlformats.org/officeDocument/2006/relationships/image" Target="../media/image72.jpeg"/><Relationship Id="rId8" Type="http://schemas.openxmlformats.org/officeDocument/2006/relationships/image" Target="../media/image47.jpeg"/><Relationship Id="rId3" Type="http://schemas.openxmlformats.org/officeDocument/2006/relationships/image" Target="../media/image4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1.jpeg"/><Relationship Id="rId4" Type="http://schemas.openxmlformats.org/officeDocument/2006/relationships/image" Target="../media/image80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8.jpe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5" Type="http://schemas.openxmlformats.org/officeDocument/2006/relationships/image" Target="../media/image90.png"/><Relationship Id="rId10" Type="http://schemas.openxmlformats.org/officeDocument/2006/relationships/image" Target="../media/image95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 rot="2694152">
            <a:off x="4115695" y="1440335"/>
            <a:ext cx="3992076" cy="3992076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0" y="2150084"/>
            <a:ext cx="12192000" cy="1107992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ctr"/>
            <a:r>
              <a:rPr kumimoji="1" lang="zh-CN" altLang="en-US" sz="6600" b="1" dirty="0">
                <a:solidFill>
                  <a:schemeClr val="bg1"/>
                </a:solidFill>
              </a:rPr>
              <a:t>德鲁克！</a:t>
            </a:r>
            <a:endParaRPr kumimoji="1" lang="en-US" altLang="zh-CN" sz="6600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733" y="5144636"/>
            <a:ext cx="12191999" cy="523216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</a:rPr>
              <a:t>蔡华法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647" y="363738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</a:rPr>
              <a:t>德鲁克管理专栏</a:t>
            </a:r>
          </a:p>
        </p:txBody>
      </p:sp>
    </p:spTree>
    <p:extLst>
      <p:ext uri="{BB962C8B-B14F-4D97-AF65-F5344CB8AC3E}">
        <p14:creationId xmlns:p14="http://schemas.microsoft.com/office/powerpoint/2010/main" val="3407771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占位符 1"/>
          <p:cNvSpPr txBox="1">
            <a:spLocks/>
          </p:cNvSpPr>
          <p:nvPr/>
        </p:nvSpPr>
        <p:spPr>
          <a:xfrm>
            <a:off x="0" y="379642"/>
            <a:ext cx="12191999" cy="362404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蔡华法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53A5E48-C833-4CB9-8250-8883C9226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50" y="1867535"/>
            <a:ext cx="5380280" cy="397446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20F2F2C-153F-4FF4-B17A-3B3ED94D4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1861" y="1867535"/>
            <a:ext cx="6081529" cy="3974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73935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C6045E34-2EE9-4E5E-BD81-A45A45FCA7BE}"/>
              </a:ext>
            </a:extLst>
          </p:cNvPr>
          <p:cNvGrpSpPr/>
          <p:nvPr/>
        </p:nvGrpSpPr>
        <p:grpSpPr>
          <a:xfrm>
            <a:off x="-1" y="1121252"/>
            <a:ext cx="12149217" cy="5825110"/>
            <a:chOff x="-1" y="1121252"/>
            <a:chExt cx="12149217" cy="5825110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034745E1-8E6D-4ABB-BA29-937B56CF099D}"/>
                </a:ext>
              </a:extLst>
            </p:cNvPr>
            <p:cNvSpPr txBox="1"/>
            <p:nvPr/>
          </p:nvSpPr>
          <p:spPr>
            <a:xfrm>
              <a:off x="0" y="1121252"/>
              <a:ext cx="12149216" cy="573674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7F05AEC1-3BB0-408C-9B36-649A373E51B1}"/>
                </a:ext>
              </a:extLst>
            </p:cNvPr>
            <p:cNvGrpSpPr/>
            <p:nvPr/>
          </p:nvGrpSpPr>
          <p:grpSpPr>
            <a:xfrm>
              <a:off x="-1" y="1121252"/>
              <a:ext cx="12149217" cy="5825110"/>
              <a:chOff x="-1" y="1121252"/>
              <a:chExt cx="12149217" cy="5825110"/>
            </a:xfrm>
          </p:grpSpPr>
          <p:sp>
            <p:nvSpPr>
              <p:cNvPr id="19" name="TextBox 18"/>
              <p:cNvSpPr txBox="1"/>
              <p:nvPr/>
            </p:nvSpPr>
            <p:spPr>
              <a:xfrm>
                <a:off x="-1" y="1124968"/>
                <a:ext cx="2991747" cy="38472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黄金期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:1939-1969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3027747" y="1121252"/>
                <a:ext cx="3024000" cy="41549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滞涨期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:1970-1981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6089918" y="1134566"/>
                <a:ext cx="2988000" cy="41549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复苏期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:1982-1993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9125216" y="1124968"/>
                <a:ext cx="3024000" cy="41549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繁荣期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:1994-2005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23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4694" y="1555905"/>
                <a:ext cx="822708" cy="12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" name="Picture 4" descr="https://timgsa.baidu.com/timg?image&amp;quality=80&amp;size=b9999_10000&amp;sec=1496125483&amp;di=0e8dd1046101490432dba590eb686cf3&amp;imgtype=jpg&amp;er=1&amp;src=http%3A%2F%2Fimages.bookuu.com%2Fbook%2FC%2F00857%2F97871112807741606665-fm.jp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474" y="2861991"/>
                <a:ext cx="902147" cy="12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5" name="Picture 6" descr="https://timgsa.baidu.com/timg?image&amp;quality=80&amp;size=b10000_10000&amp;sec=1495520715&amp;di=5b9347e4b25e615089038723b8492218&amp;src=http://www.sikaoli.com/upfiles/70fd5d25-fd69-4245-9490-42e213dca811.jpg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80883" y="4257165"/>
                <a:ext cx="923076" cy="12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6" name="Picture 8" descr="https://timgsa.baidu.com/timg?image&amp;quality=80&amp;size=b10000_10000&amp;sec=1495520732&amp;di=476c076a324e6d133ac987ef27cbac77&amp;src=http://images.zxhsd.com/photo/book_b/C/00857/97871112807811606674-fm-b.jpg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3942" y="5560494"/>
                <a:ext cx="884211" cy="12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7" name="Picture 10" descr="https://ss1.bdstatic.com/70cFvXSh_Q1YnxGkpoWK1HF6hhy/it/u=210470339,2490809660&amp;fm=23&amp;gp=0.jpg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38759" y="5573165"/>
                <a:ext cx="865200" cy="12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8" name="Picture 12" descr="https://timgsa.baidu.com/timg?image&amp;quality=80&amp;size=b10000_10000&amp;sec=1495520779&amp;di=c46519024d8e8648aa52efd6dce1e8be&amp;src=http://imgsrc.baidu.com/baike/pic/item/1f569482529249d3f703a67c.jpg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4694" y="4256585"/>
                <a:ext cx="901073" cy="12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9" name="Picture 14" descr="https://timgsa.baidu.com/timg?image&amp;quality=80&amp;size=b10000_10000&amp;sec=1495520801&amp;di=fc655be9c4d7a949972bf682c3ce27c5&amp;src=http://www.golden-book.com/ProductImage/090801-090815/711128065.jpg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96852" y="3717165"/>
                <a:ext cx="750000" cy="108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" name="Picture 21" descr="https://img3.doubanio.com/lpic/s4409243.jpg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292882" y="2713401"/>
                <a:ext cx="587755" cy="864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2" name="Picture 23" descr="https://img3.doubanio.com/lpic/s4409246.jpg"/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307459" y="3835085"/>
                <a:ext cx="597698" cy="864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3" name="Picture 25" descr="https://img1.doubanio.com/lpic/s4616857.jpg"/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45664" y="1565830"/>
                <a:ext cx="857143" cy="12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4" name="Picture 28"/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384560" y="3463905"/>
                <a:ext cx="605766" cy="864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5" name="Picture 29"/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356954" y="2573754"/>
                <a:ext cx="623455" cy="864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6" name="Picture 30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375715" y="5493132"/>
                <a:ext cx="585931" cy="864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7" name="Picture 31"/>
              <p:cNvPicPr>
                <a:picLocks noChangeAspect="1" noChangeArrowheads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199790" y="1558260"/>
                <a:ext cx="635428" cy="864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8" name="Picture 32"/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17527" y="1562038"/>
                <a:ext cx="886432" cy="12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9" name="Picture 35"/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301295" y="4454585"/>
                <a:ext cx="606908" cy="864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0" name="Picture 36"/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334816" y="4500965"/>
                <a:ext cx="604800" cy="864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" name="Picture 37"/>
              <p:cNvPicPr>
                <a:picLocks noChangeAspect="1" noChangeArrowheads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15779" y="4233132"/>
                <a:ext cx="870883" cy="12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2" name="Picture 38"/>
              <p:cNvPicPr>
                <a:picLocks noChangeAspect="1" noChangeArrowheads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21896" y="1570917"/>
                <a:ext cx="888697" cy="12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3" name="Picture 39"/>
              <p:cNvPicPr>
                <a:picLocks noChangeAspect="1" noChangeArrowheads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317237" y="3536114"/>
                <a:ext cx="601044" cy="864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4" name="Picture 42"/>
              <p:cNvPicPr>
                <a:picLocks noChangeAspect="1" noChangeArrowheads="1"/>
              </p:cNvPicPr>
              <p:nvPr/>
            </p:nvPicPr>
            <p:blipFill>
              <a:blip r:embed="rId2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79494" y="2815905"/>
                <a:ext cx="732292" cy="108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5" name="Picture 43"/>
              <p:cNvPicPr>
                <a:picLocks noChangeAspect="1" noChangeArrowheads="1"/>
              </p:cNvPicPr>
              <p:nvPr/>
            </p:nvPicPr>
            <p:blipFill>
              <a:blip r:embed="rId2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39586" y="1612594"/>
                <a:ext cx="772200" cy="108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6" name="Picture 44"/>
              <p:cNvPicPr>
                <a:picLocks noChangeAspect="1" noChangeArrowheads="1"/>
              </p:cNvPicPr>
              <p:nvPr/>
            </p:nvPicPr>
            <p:blipFill>
              <a:blip r:embed="rId2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332930" y="2573754"/>
                <a:ext cx="611122" cy="864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7" name="Picture 45"/>
              <p:cNvPicPr>
                <a:picLocks noChangeAspect="1" noChangeArrowheads="1"/>
              </p:cNvPicPr>
              <p:nvPr/>
            </p:nvPicPr>
            <p:blipFill>
              <a:blip r:embed="rId2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301295" y="5482438"/>
                <a:ext cx="594535" cy="864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8" name="Picture 46"/>
              <p:cNvPicPr>
                <a:picLocks noChangeAspect="1" noChangeArrowheads="1"/>
              </p:cNvPicPr>
              <p:nvPr/>
            </p:nvPicPr>
            <p:blipFill>
              <a:blip r:embed="rId2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48137" y="2674048"/>
                <a:ext cx="714627" cy="108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9" name="Picture 49"/>
              <p:cNvPicPr>
                <a:picLocks noChangeAspect="1" noChangeArrowheads="1"/>
              </p:cNvPicPr>
              <p:nvPr/>
            </p:nvPicPr>
            <p:blipFill>
              <a:blip r:embed="rId2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63456" y="2879610"/>
                <a:ext cx="899127" cy="12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0" name="Picture 50"/>
              <p:cNvPicPr>
                <a:picLocks noChangeAspect="1" noChangeArrowheads="1"/>
              </p:cNvPicPr>
              <p:nvPr/>
            </p:nvPicPr>
            <p:blipFill>
              <a:blip r:embed="rId2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01369" y="4834606"/>
                <a:ext cx="775247" cy="108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1" name="Picture 51"/>
              <p:cNvPicPr>
                <a:picLocks noChangeAspect="1" noChangeArrowheads="1"/>
              </p:cNvPicPr>
              <p:nvPr/>
            </p:nvPicPr>
            <p:blipFill>
              <a:blip r:embed="rId3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336947" y="1570917"/>
                <a:ext cx="603089" cy="864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2" name="Picture 54"/>
              <p:cNvPicPr>
                <a:picLocks noChangeAspect="1" noChangeArrowheads="1"/>
              </p:cNvPicPr>
              <p:nvPr/>
            </p:nvPicPr>
            <p:blipFill>
              <a:blip r:embed="rId3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39084" y="1580433"/>
                <a:ext cx="707768" cy="108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3" name="Picture 55"/>
              <p:cNvPicPr>
                <a:picLocks noChangeAspect="1" noChangeArrowheads="1"/>
              </p:cNvPicPr>
              <p:nvPr/>
            </p:nvPicPr>
            <p:blipFill>
              <a:blip r:embed="rId3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48136" y="5969138"/>
                <a:ext cx="698715" cy="977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4" name="Picture 56"/>
              <p:cNvPicPr>
                <a:picLocks noChangeAspect="1" noChangeArrowheads="1"/>
              </p:cNvPicPr>
              <p:nvPr/>
            </p:nvPicPr>
            <p:blipFill>
              <a:blip r:embed="rId3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45664" y="4247087"/>
                <a:ext cx="843907" cy="12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5" name="Picture 57"/>
              <p:cNvPicPr>
                <a:picLocks noChangeAspect="1" noChangeArrowheads="1"/>
              </p:cNvPicPr>
              <p:nvPr/>
            </p:nvPicPr>
            <p:blipFill>
              <a:blip r:embed="rId3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67340" y="2900034"/>
                <a:ext cx="873769" cy="12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6" name="Picture 58"/>
              <p:cNvPicPr>
                <a:picLocks noChangeAspect="1" noChangeArrowheads="1"/>
              </p:cNvPicPr>
              <p:nvPr/>
            </p:nvPicPr>
            <p:blipFill>
              <a:blip r:embed="rId3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4125" y="5575640"/>
                <a:ext cx="879505" cy="12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7" name="Picture 59"/>
              <p:cNvPicPr>
                <a:picLocks noChangeAspect="1" noChangeArrowheads="1"/>
              </p:cNvPicPr>
              <p:nvPr/>
            </p:nvPicPr>
            <p:blipFill>
              <a:blip r:embed="rId3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53527" y="2906114"/>
                <a:ext cx="871819" cy="12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8" name="Picture 60"/>
              <p:cNvPicPr>
                <a:picLocks noChangeAspect="1" noChangeArrowheads="1"/>
              </p:cNvPicPr>
              <p:nvPr/>
            </p:nvPicPr>
            <p:blipFill>
              <a:blip r:embed="rId3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11427" y="5507087"/>
                <a:ext cx="971642" cy="12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9" name="Picture 61"/>
              <p:cNvPicPr>
                <a:picLocks noChangeAspect="1" noChangeArrowheads="1"/>
              </p:cNvPicPr>
              <p:nvPr/>
            </p:nvPicPr>
            <p:blipFill>
              <a:blip r:embed="rId3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56775" y="4070630"/>
                <a:ext cx="737822" cy="108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0" name="Picture 62"/>
              <p:cNvPicPr>
                <a:picLocks noChangeAspect="1" noChangeArrowheads="1"/>
              </p:cNvPicPr>
              <p:nvPr/>
            </p:nvPicPr>
            <p:blipFill>
              <a:blip r:embed="rId3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45875" y="5318585"/>
                <a:ext cx="741492" cy="108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1" name="Picture 63"/>
              <p:cNvPicPr>
                <a:picLocks noChangeAspect="1" noChangeArrowheads="1"/>
              </p:cNvPicPr>
              <p:nvPr/>
            </p:nvPicPr>
            <p:blipFill>
              <a:blip r:embed="rId4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394478" y="1570917"/>
                <a:ext cx="655423" cy="957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4" name="直接连接符 3"/>
              <p:cNvCxnSpPr/>
              <p:nvPr/>
            </p:nvCxnSpPr>
            <p:spPr>
              <a:xfrm>
                <a:off x="2991746" y="1134566"/>
                <a:ext cx="0" cy="57234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>
                <a:off x="6051747" y="1134566"/>
                <a:ext cx="0" cy="57234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>
              <a:xfrm>
                <a:off x="9101984" y="1124968"/>
                <a:ext cx="0" cy="57234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文本占位符 1">
            <a:extLst>
              <a:ext uri="{FF2B5EF4-FFF2-40B4-BE49-F238E27FC236}">
                <a16:creationId xmlns:a16="http://schemas.microsoft.com/office/drawing/2014/main" id="{6366D1D9-5E1D-4A85-BC08-265B0608BB3F}"/>
              </a:ext>
            </a:extLst>
          </p:cNvPr>
          <p:cNvSpPr txBox="1">
            <a:spLocks/>
          </p:cNvSpPr>
          <p:nvPr/>
        </p:nvSpPr>
        <p:spPr>
          <a:xfrm>
            <a:off x="0" y="379642"/>
            <a:ext cx="12191999" cy="36240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latin typeface="+mj-ea"/>
                <a:ea typeface="+mj-ea"/>
              </a:defRPr>
            </a:lvl1pPr>
            <a:lvl2pPr marL="685766" indent="-228589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2942" indent="-228589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120" indent="-228589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298" indent="-228589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474" indent="-228589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652" indent="-228589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8829" indent="-228589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006" indent="-228589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德鲁克管理专栏：德鲁克著作清单</a:t>
            </a:r>
          </a:p>
        </p:txBody>
      </p:sp>
    </p:spTree>
    <p:extLst>
      <p:ext uri="{BB962C8B-B14F-4D97-AF65-F5344CB8AC3E}">
        <p14:creationId xmlns:p14="http://schemas.microsoft.com/office/powerpoint/2010/main" val="2641664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文本占位符 1">
            <a:extLst>
              <a:ext uri="{FF2B5EF4-FFF2-40B4-BE49-F238E27FC236}">
                <a16:creationId xmlns:a16="http://schemas.microsoft.com/office/drawing/2014/main" id="{B998C069-E647-4048-AADD-83498D093A33}"/>
              </a:ext>
            </a:extLst>
          </p:cNvPr>
          <p:cNvSpPr txBox="1">
            <a:spLocks/>
          </p:cNvSpPr>
          <p:nvPr/>
        </p:nvSpPr>
        <p:spPr>
          <a:xfrm>
            <a:off x="0" y="379642"/>
            <a:ext cx="12191999" cy="362404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latin typeface="+mn-ea"/>
              </a:rPr>
              <a:t>德鲁克管理专栏：德鲁克，流动的灯塔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845121E-0E10-46A7-A933-5F0411C29E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33" y="1193587"/>
            <a:ext cx="11878734" cy="551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553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占位符 1">
            <a:extLst>
              <a:ext uri="{FF2B5EF4-FFF2-40B4-BE49-F238E27FC236}">
                <a16:creationId xmlns:a16="http://schemas.microsoft.com/office/drawing/2014/main" id="{6366D1D9-5E1D-4A85-BC08-265B0608BB3F}"/>
              </a:ext>
            </a:extLst>
          </p:cNvPr>
          <p:cNvSpPr txBox="1">
            <a:spLocks/>
          </p:cNvSpPr>
          <p:nvPr/>
        </p:nvSpPr>
        <p:spPr>
          <a:xfrm>
            <a:off x="0" y="379642"/>
            <a:ext cx="12191999" cy="36240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latin typeface="+mj-ea"/>
                <a:ea typeface="+mj-ea"/>
              </a:defRPr>
            </a:lvl1pPr>
            <a:lvl2pPr marL="685766" indent="-228589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2942" indent="-228589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120" indent="-228589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298" indent="-228589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474" indent="-228589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652" indent="-228589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8829" indent="-228589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006" indent="-228589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sz="2400" dirty="0"/>
              <a:t>德鲁克管理专栏：“帝国”的大生命周期告诉你为什么要学习德鲁克？</a:t>
            </a:r>
            <a:r>
              <a:rPr lang="en-US" altLang="zh-CN" sz="2400" dirty="0"/>
              <a:t>Why Now</a:t>
            </a:r>
            <a:r>
              <a:rPr lang="zh-CN" altLang="en-US" sz="2400" dirty="0"/>
              <a:t>？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F3BB688-7BEE-4154-B11D-6D12476147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9" y="1167769"/>
            <a:ext cx="12005140" cy="5488783"/>
          </a:xfrm>
          <a:prstGeom prst="rect">
            <a:avLst/>
          </a:prstGeom>
        </p:spPr>
      </p:pic>
      <p:sp>
        <p:nvSpPr>
          <p:cNvPr id="112" name="文本框 111">
            <a:extLst>
              <a:ext uri="{FF2B5EF4-FFF2-40B4-BE49-F238E27FC236}">
                <a16:creationId xmlns:a16="http://schemas.microsoft.com/office/drawing/2014/main" id="{EF89069E-DAF3-4B8D-BE56-BF54A69E3A31}"/>
              </a:ext>
            </a:extLst>
          </p:cNvPr>
          <p:cNvSpPr txBox="1"/>
          <p:nvPr/>
        </p:nvSpPr>
        <p:spPr>
          <a:xfrm>
            <a:off x="596901" y="2384564"/>
            <a:ext cx="7645399" cy="3077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sz="1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A4F5A2B-356D-43DA-98DF-1B2CB3F8C0D7}"/>
              </a:ext>
            </a:extLst>
          </p:cNvPr>
          <p:cNvSpPr txBox="1"/>
          <p:nvPr/>
        </p:nvSpPr>
        <p:spPr>
          <a:xfrm>
            <a:off x="596900" y="2384564"/>
            <a:ext cx="7746993" cy="388026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EC167563-AD3F-4E0D-B169-90C2915A865C}"/>
              </a:ext>
            </a:extLst>
          </p:cNvPr>
          <p:cNvGrpSpPr/>
          <p:nvPr/>
        </p:nvGrpSpPr>
        <p:grpSpPr>
          <a:xfrm>
            <a:off x="596900" y="2384565"/>
            <a:ext cx="7645400" cy="3880268"/>
            <a:chOff x="-1" y="1121252"/>
            <a:chExt cx="12149217" cy="5825110"/>
          </a:xfrm>
          <a:solidFill>
            <a:schemeClr val="bg2"/>
          </a:solidFill>
        </p:grpSpPr>
        <p:sp>
          <p:nvSpPr>
            <p:cNvPr id="114" name="TextBox 18">
              <a:extLst>
                <a:ext uri="{FF2B5EF4-FFF2-40B4-BE49-F238E27FC236}">
                  <a16:creationId xmlns:a16="http://schemas.microsoft.com/office/drawing/2014/main" id="{CBB12EEF-68C9-44D8-97FC-9676FD18B8C2}"/>
                </a:ext>
              </a:extLst>
            </p:cNvPr>
            <p:cNvSpPr txBox="1"/>
            <p:nvPr/>
          </p:nvSpPr>
          <p:spPr>
            <a:xfrm>
              <a:off x="-1" y="1124967"/>
              <a:ext cx="2991747" cy="45503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黄金期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:1939-1969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TextBox 19">
              <a:extLst>
                <a:ext uri="{FF2B5EF4-FFF2-40B4-BE49-F238E27FC236}">
                  <a16:creationId xmlns:a16="http://schemas.microsoft.com/office/drawing/2014/main" id="{5F0B1410-8B0E-46B8-B081-EA2E04CE3A1B}"/>
                </a:ext>
              </a:extLst>
            </p:cNvPr>
            <p:cNvSpPr txBox="1"/>
            <p:nvPr/>
          </p:nvSpPr>
          <p:spPr>
            <a:xfrm>
              <a:off x="3027746" y="1121252"/>
              <a:ext cx="3024000" cy="45503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滞涨期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:1970-1981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TextBox 20">
              <a:extLst>
                <a:ext uri="{FF2B5EF4-FFF2-40B4-BE49-F238E27FC236}">
                  <a16:creationId xmlns:a16="http://schemas.microsoft.com/office/drawing/2014/main" id="{E6BB0AB6-ACA1-4759-9ECE-3EB9145C7FC2}"/>
                </a:ext>
              </a:extLst>
            </p:cNvPr>
            <p:cNvSpPr txBox="1"/>
            <p:nvPr/>
          </p:nvSpPr>
          <p:spPr>
            <a:xfrm>
              <a:off x="6089918" y="1134565"/>
              <a:ext cx="2988000" cy="45503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复苏期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:1982-1993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TextBox 21">
              <a:extLst>
                <a:ext uri="{FF2B5EF4-FFF2-40B4-BE49-F238E27FC236}">
                  <a16:creationId xmlns:a16="http://schemas.microsoft.com/office/drawing/2014/main" id="{2E7C87FE-ACFF-4102-B989-D32378905481}"/>
                </a:ext>
              </a:extLst>
            </p:cNvPr>
            <p:cNvSpPr txBox="1"/>
            <p:nvPr/>
          </p:nvSpPr>
          <p:spPr>
            <a:xfrm>
              <a:off x="9125216" y="1124967"/>
              <a:ext cx="3024000" cy="45503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繁荣期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:1994-2005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18" name="Picture 2">
              <a:extLst>
                <a:ext uri="{FF2B5EF4-FFF2-40B4-BE49-F238E27FC236}">
                  <a16:creationId xmlns:a16="http://schemas.microsoft.com/office/drawing/2014/main" id="{F80F9228-302A-4E39-97B3-856A4FC08C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694" y="1555905"/>
              <a:ext cx="822708" cy="12600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9" name="Picture 4" descr="https://timgsa.baidu.com/timg?image&amp;quality=80&amp;size=b9999_10000&amp;sec=1496125483&amp;di=0e8dd1046101490432dba590eb686cf3&amp;imgtype=jpg&amp;er=1&amp;src=http%3A%2F%2Fimages.bookuu.com%2Fbook%2FC%2F00857%2F97871112807741606665-fm.jpg">
              <a:extLst>
                <a:ext uri="{FF2B5EF4-FFF2-40B4-BE49-F238E27FC236}">
                  <a16:creationId xmlns:a16="http://schemas.microsoft.com/office/drawing/2014/main" id="{A9249FD4-07C7-4540-A1DD-67727F97FC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474" y="2861991"/>
              <a:ext cx="902147" cy="1260000"/>
            </a:xfrm>
            <a:prstGeom prst="rect">
              <a:avLst/>
            </a:prstGeom>
            <a:grpFill/>
          </p:spPr>
        </p:pic>
        <p:pic>
          <p:nvPicPr>
            <p:cNvPr id="120" name="Picture 6" descr="https://timgsa.baidu.com/timg?image&amp;quality=80&amp;size=b10000_10000&amp;sec=1495520715&amp;di=5b9347e4b25e615089038723b8492218&amp;src=http://www.sikaoli.com/upfiles/70fd5d25-fd69-4245-9490-42e213dca811.jpg">
              <a:extLst>
                <a:ext uri="{FF2B5EF4-FFF2-40B4-BE49-F238E27FC236}">
                  <a16:creationId xmlns:a16="http://schemas.microsoft.com/office/drawing/2014/main" id="{B5AF61D6-FA06-4705-B30B-D83E41DA45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0883" y="4257165"/>
              <a:ext cx="923076" cy="1260000"/>
            </a:xfrm>
            <a:prstGeom prst="rect">
              <a:avLst/>
            </a:prstGeom>
            <a:grpFill/>
          </p:spPr>
        </p:pic>
        <p:pic>
          <p:nvPicPr>
            <p:cNvPr id="121" name="Picture 8" descr="https://timgsa.baidu.com/timg?image&amp;quality=80&amp;size=b10000_10000&amp;sec=1495520732&amp;di=476c076a324e6d133ac987ef27cbac77&amp;src=http://images.zxhsd.com/photo/book_b/C/00857/97871112807811606674-fm-b.jpg">
              <a:extLst>
                <a:ext uri="{FF2B5EF4-FFF2-40B4-BE49-F238E27FC236}">
                  <a16:creationId xmlns:a16="http://schemas.microsoft.com/office/drawing/2014/main" id="{1F86B6A2-F05B-475B-9240-DD8064D3A2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3942" y="5560494"/>
              <a:ext cx="884211" cy="1260000"/>
            </a:xfrm>
            <a:prstGeom prst="rect">
              <a:avLst/>
            </a:prstGeom>
            <a:grpFill/>
          </p:spPr>
        </p:pic>
        <p:pic>
          <p:nvPicPr>
            <p:cNvPr id="122" name="Picture 10" descr="https://ss1.bdstatic.com/70cFvXSh_Q1YnxGkpoWK1HF6hhy/it/u=210470339,2490809660&amp;fm=23&amp;gp=0.jpg">
              <a:extLst>
                <a:ext uri="{FF2B5EF4-FFF2-40B4-BE49-F238E27FC236}">
                  <a16:creationId xmlns:a16="http://schemas.microsoft.com/office/drawing/2014/main" id="{6F057A93-A43A-4F5B-A78C-2938FB5BCE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8759" y="5573165"/>
              <a:ext cx="865200" cy="1260000"/>
            </a:xfrm>
            <a:prstGeom prst="rect">
              <a:avLst/>
            </a:prstGeom>
            <a:grpFill/>
          </p:spPr>
        </p:pic>
        <p:pic>
          <p:nvPicPr>
            <p:cNvPr id="123" name="Picture 12" descr="https://timgsa.baidu.com/timg?image&amp;quality=80&amp;size=b10000_10000&amp;sec=1495520779&amp;di=c46519024d8e8648aa52efd6dce1e8be&amp;src=http://imgsrc.baidu.com/baike/pic/item/1f569482529249d3f703a67c.jpg">
              <a:extLst>
                <a:ext uri="{FF2B5EF4-FFF2-40B4-BE49-F238E27FC236}">
                  <a16:creationId xmlns:a16="http://schemas.microsoft.com/office/drawing/2014/main" id="{5CC64AB6-7E0D-436C-AE68-DDEF49F969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694" y="4256585"/>
              <a:ext cx="901073" cy="1260000"/>
            </a:xfrm>
            <a:prstGeom prst="rect">
              <a:avLst/>
            </a:prstGeom>
            <a:grpFill/>
          </p:spPr>
        </p:pic>
        <p:pic>
          <p:nvPicPr>
            <p:cNvPr id="124" name="Picture 14" descr="https://timgsa.baidu.com/timg?image&amp;quality=80&amp;size=b10000_10000&amp;sec=1495520801&amp;di=fc655be9c4d7a949972bf682c3ce27c5&amp;src=http://www.golden-book.com/ProductImage/090801-090815/711128065.jpg">
              <a:extLst>
                <a:ext uri="{FF2B5EF4-FFF2-40B4-BE49-F238E27FC236}">
                  <a16:creationId xmlns:a16="http://schemas.microsoft.com/office/drawing/2014/main" id="{3B673D58-46F6-4E4E-93EF-B9A0247915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96852" y="3717165"/>
              <a:ext cx="750000" cy="1080000"/>
            </a:xfrm>
            <a:prstGeom prst="rect">
              <a:avLst/>
            </a:prstGeom>
            <a:grpFill/>
          </p:spPr>
        </p:pic>
        <p:pic>
          <p:nvPicPr>
            <p:cNvPr id="125" name="Picture 21" descr="https://img3.doubanio.com/lpic/s4409243.jpg">
              <a:extLst>
                <a:ext uri="{FF2B5EF4-FFF2-40B4-BE49-F238E27FC236}">
                  <a16:creationId xmlns:a16="http://schemas.microsoft.com/office/drawing/2014/main" id="{DB2EF08F-98C9-40F8-B43E-8F42043DE1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92882" y="2713401"/>
              <a:ext cx="587755" cy="864000"/>
            </a:xfrm>
            <a:prstGeom prst="rect">
              <a:avLst/>
            </a:prstGeom>
            <a:grpFill/>
          </p:spPr>
        </p:pic>
        <p:pic>
          <p:nvPicPr>
            <p:cNvPr id="126" name="Picture 23" descr="https://img3.doubanio.com/lpic/s4409246.jpg">
              <a:extLst>
                <a:ext uri="{FF2B5EF4-FFF2-40B4-BE49-F238E27FC236}">
                  <a16:creationId xmlns:a16="http://schemas.microsoft.com/office/drawing/2014/main" id="{A91D73BF-7BA6-4748-9411-5EA908A211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07459" y="3835085"/>
              <a:ext cx="597698" cy="864000"/>
            </a:xfrm>
            <a:prstGeom prst="rect">
              <a:avLst/>
            </a:prstGeom>
            <a:grpFill/>
          </p:spPr>
        </p:pic>
        <p:pic>
          <p:nvPicPr>
            <p:cNvPr id="127" name="Picture 25" descr="https://img1.doubanio.com/lpic/s4616857.jpg">
              <a:extLst>
                <a:ext uri="{FF2B5EF4-FFF2-40B4-BE49-F238E27FC236}">
                  <a16:creationId xmlns:a16="http://schemas.microsoft.com/office/drawing/2014/main" id="{1D422EFE-F91D-4644-A41D-812EE2697C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5664" y="1565830"/>
              <a:ext cx="857143" cy="1260000"/>
            </a:xfrm>
            <a:prstGeom prst="rect">
              <a:avLst/>
            </a:prstGeom>
            <a:grpFill/>
          </p:spPr>
        </p:pic>
        <p:pic>
          <p:nvPicPr>
            <p:cNvPr id="128" name="Picture 28">
              <a:extLst>
                <a:ext uri="{FF2B5EF4-FFF2-40B4-BE49-F238E27FC236}">
                  <a16:creationId xmlns:a16="http://schemas.microsoft.com/office/drawing/2014/main" id="{860F7AC6-EB74-4A20-9948-3B65AD8945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84560" y="3463905"/>
              <a:ext cx="605766" cy="8640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9" name="Picture 29">
              <a:extLst>
                <a:ext uri="{FF2B5EF4-FFF2-40B4-BE49-F238E27FC236}">
                  <a16:creationId xmlns:a16="http://schemas.microsoft.com/office/drawing/2014/main" id="{D825E585-E1F8-4D96-9888-2491F77297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56954" y="2573754"/>
              <a:ext cx="623455" cy="8640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0" name="Picture 30">
              <a:extLst>
                <a:ext uri="{FF2B5EF4-FFF2-40B4-BE49-F238E27FC236}">
                  <a16:creationId xmlns:a16="http://schemas.microsoft.com/office/drawing/2014/main" id="{F6591CDE-8D09-4271-9F00-9E13E7A6BB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75715" y="5493132"/>
              <a:ext cx="585931" cy="8640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1" name="Picture 31">
              <a:extLst>
                <a:ext uri="{FF2B5EF4-FFF2-40B4-BE49-F238E27FC236}">
                  <a16:creationId xmlns:a16="http://schemas.microsoft.com/office/drawing/2014/main" id="{0E5F2935-DFA5-4F7E-952D-B310570986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99790" y="1558260"/>
              <a:ext cx="635428" cy="8640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2" name="Picture 32">
              <a:extLst>
                <a:ext uri="{FF2B5EF4-FFF2-40B4-BE49-F238E27FC236}">
                  <a16:creationId xmlns:a16="http://schemas.microsoft.com/office/drawing/2014/main" id="{6437F514-DD43-442C-9D1B-B1D0EDFF32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17527" y="1562038"/>
              <a:ext cx="886432" cy="12600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" name="Picture 35">
              <a:extLst>
                <a:ext uri="{FF2B5EF4-FFF2-40B4-BE49-F238E27FC236}">
                  <a16:creationId xmlns:a16="http://schemas.microsoft.com/office/drawing/2014/main" id="{C35363F0-7015-40AD-B54E-D5A2AB0D81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01295" y="4454585"/>
              <a:ext cx="606908" cy="8640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4" name="Picture 36">
              <a:extLst>
                <a:ext uri="{FF2B5EF4-FFF2-40B4-BE49-F238E27FC236}">
                  <a16:creationId xmlns:a16="http://schemas.microsoft.com/office/drawing/2014/main" id="{E26550EC-8EB4-41F1-AA6B-48EA482E3A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34816" y="4500965"/>
              <a:ext cx="604800" cy="8640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5" name="Picture 37">
              <a:extLst>
                <a:ext uri="{FF2B5EF4-FFF2-40B4-BE49-F238E27FC236}">
                  <a16:creationId xmlns:a16="http://schemas.microsoft.com/office/drawing/2014/main" id="{F3799523-EBA5-4099-9881-AF5B451D1E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5779" y="4233132"/>
              <a:ext cx="870883" cy="12600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6" name="Picture 38">
              <a:extLst>
                <a:ext uri="{FF2B5EF4-FFF2-40B4-BE49-F238E27FC236}">
                  <a16:creationId xmlns:a16="http://schemas.microsoft.com/office/drawing/2014/main" id="{41BE94B7-E07C-4A83-A155-FD97888082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21896" y="1570917"/>
              <a:ext cx="888697" cy="12600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7" name="Picture 39">
              <a:extLst>
                <a:ext uri="{FF2B5EF4-FFF2-40B4-BE49-F238E27FC236}">
                  <a16:creationId xmlns:a16="http://schemas.microsoft.com/office/drawing/2014/main" id="{FF27CF5E-2F39-426A-8841-0663593B57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17237" y="3536114"/>
              <a:ext cx="601044" cy="8640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8" name="Picture 42">
              <a:extLst>
                <a:ext uri="{FF2B5EF4-FFF2-40B4-BE49-F238E27FC236}">
                  <a16:creationId xmlns:a16="http://schemas.microsoft.com/office/drawing/2014/main" id="{E109224F-8C10-4A6A-9B95-3A89A6B19D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79494" y="2815905"/>
              <a:ext cx="732292" cy="10800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9" name="Picture 43">
              <a:extLst>
                <a:ext uri="{FF2B5EF4-FFF2-40B4-BE49-F238E27FC236}">
                  <a16:creationId xmlns:a16="http://schemas.microsoft.com/office/drawing/2014/main" id="{A3CBB4C7-A52C-4BD1-9C4F-DE294C9879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39586" y="1612594"/>
              <a:ext cx="772200" cy="10800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0" name="Picture 44">
              <a:extLst>
                <a:ext uri="{FF2B5EF4-FFF2-40B4-BE49-F238E27FC236}">
                  <a16:creationId xmlns:a16="http://schemas.microsoft.com/office/drawing/2014/main" id="{2F3D6BD6-C73C-4739-89A5-1B76E9B172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32930" y="2573754"/>
              <a:ext cx="611122" cy="8640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1" name="Picture 45">
              <a:extLst>
                <a:ext uri="{FF2B5EF4-FFF2-40B4-BE49-F238E27FC236}">
                  <a16:creationId xmlns:a16="http://schemas.microsoft.com/office/drawing/2014/main" id="{448A8018-427E-4C31-8F05-A9A912069B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01295" y="5482438"/>
              <a:ext cx="594535" cy="8640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2" name="Picture 46">
              <a:extLst>
                <a:ext uri="{FF2B5EF4-FFF2-40B4-BE49-F238E27FC236}">
                  <a16:creationId xmlns:a16="http://schemas.microsoft.com/office/drawing/2014/main" id="{E415EB93-23A7-4741-BA79-67E159328E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48137" y="2674048"/>
              <a:ext cx="714627" cy="10800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" name="Picture 49">
              <a:extLst>
                <a:ext uri="{FF2B5EF4-FFF2-40B4-BE49-F238E27FC236}">
                  <a16:creationId xmlns:a16="http://schemas.microsoft.com/office/drawing/2014/main" id="{474FF011-9C0C-423F-956D-E926CC2122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3456" y="2879610"/>
              <a:ext cx="899127" cy="12600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4" name="Picture 50">
              <a:extLst>
                <a:ext uri="{FF2B5EF4-FFF2-40B4-BE49-F238E27FC236}">
                  <a16:creationId xmlns:a16="http://schemas.microsoft.com/office/drawing/2014/main" id="{D74A88D9-C893-4F41-978B-E87C7EA7E6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1369" y="4834606"/>
              <a:ext cx="775247" cy="10800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5" name="Picture 51">
              <a:extLst>
                <a:ext uri="{FF2B5EF4-FFF2-40B4-BE49-F238E27FC236}">
                  <a16:creationId xmlns:a16="http://schemas.microsoft.com/office/drawing/2014/main" id="{ACCF59DD-4301-42EC-8090-8DFBCEF70D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36947" y="1570917"/>
              <a:ext cx="603089" cy="8640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6" name="Picture 54">
              <a:extLst>
                <a:ext uri="{FF2B5EF4-FFF2-40B4-BE49-F238E27FC236}">
                  <a16:creationId xmlns:a16="http://schemas.microsoft.com/office/drawing/2014/main" id="{1609D25C-8D5C-4C4F-9A48-D9938EE414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9084" y="1580433"/>
              <a:ext cx="707768" cy="10800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7" name="Picture 55">
              <a:extLst>
                <a:ext uri="{FF2B5EF4-FFF2-40B4-BE49-F238E27FC236}">
                  <a16:creationId xmlns:a16="http://schemas.microsoft.com/office/drawing/2014/main" id="{7866CB10-40E9-47B1-A79E-90A9DC7121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48136" y="5969138"/>
              <a:ext cx="698715" cy="97722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8" name="Picture 56">
              <a:extLst>
                <a:ext uri="{FF2B5EF4-FFF2-40B4-BE49-F238E27FC236}">
                  <a16:creationId xmlns:a16="http://schemas.microsoft.com/office/drawing/2014/main" id="{821EAAEF-7272-4714-99CB-EC77A4B89E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5664" y="4247087"/>
              <a:ext cx="843907" cy="12600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9" name="Picture 57">
              <a:extLst>
                <a:ext uri="{FF2B5EF4-FFF2-40B4-BE49-F238E27FC236}">
                  <a16:creationId xmlns:a16="http://schemas.microsoft.com/office/drawing/2014/main" id="{7F1C7E7C-D631-4590-8005-3682B24A77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7340" y="2900034"/>
              <a:ext cx="873769" cy="12600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0" name="Picture 58">
              <a:extLst>
                <a:ext uri="{FF2B5EF4-FFF2-40B4-BE49-F238E27FC236}">
                  <a16:creationId xmlns:a16="http://schemas.microsoft.com/office/drawing/2014/main" id="{C1AFFDBE-3875-4CC7-99DB-700D38CD63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4125" y="5575640"/>
              <a:ext cx="879505" cy="12600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1" name="Picture 59">
              <a:extLst>
                <a:ext uri="{FF2B5EF4-FFF2-40B4-BE49-F238E27FC236}">
                  <a16:creationId xmlns:a16="http://schemas.microsoft.com/office/drawing/2014/main" id="{18DC7159-2F4E-407F-B341-0B7305C0A4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53527" y="2906114"/>
              <a:ext cx="871819" cy="12600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2" name="Picture 60">
              <a:extLst>
                <a:ext uri="{FF2B5EF4-FFF2-40B4-BE49-F238E27FC236}">
                  <a16:creationId xmlns:a16="http://schemas.microsoft.com/office/drawing/2014/main" id="{81E08042-BC7C-4612-B927-84B3DD9906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11427" y="5507087"/>
              <a:ext cx="971642" cy="12600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" name="Picture 61">
              <a:extLst>
                <a:ext uri="{FF2B5EF4-FFF2-40B4-BE49-F238E27FC236}">
                  <a16:creationId xmlns:a16="http://schemas.microsoft.com/office/drawing/2014/main" id="{3118570B-FC57-4022-9C3D-E7D81C771A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56775" y="4070630"/>
              <a:ext cx="737822" cy="10800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4" name="Picture 62">
              <a:extLst>
                <a:ext uri="{FF2B5EF4-FFF2-40B4-BE49-F238E27FC236}">
                  <a16:creationId xmlns:a16="http://schemas.microsoft.com/office/drawing/2014/main" id="{BA906815-0292-4FA6-A487-24967656BC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45875" y="5318585"/>
              <a:ext cx="741492" cy="10800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5" name="Picture 63">
              <a:extLst>
                <a:ext uri="{FF2B5EF4-FFF2-40B4-BE49-F238E27FC236}">
                  <a16:creationId xmlns:a16="http://schemas.microsoft.com/office/drawing/2014/main" id="{73BD7499-9909-40ED-8163-3933F24EBE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94478" y="1570917"/>
              <a:ext cx="655423" cy="9572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56" name="直接连接符 155">
              <a:extLst>
                <a:ext uri="{FF2B5EF4-FFF2-40B4-BE49-F238E27FC236}">
                  <a16:creationId xmlns:a16="http://schemas.microsoft.com/office/drawing/2014/main" id="{3B9196AE-F925-46ED-B1A7-68233F332699}"/>
                </a:ext>
              </a:extLst>
            </p:cNvPr>
            <p:cNvCxnSpPr/>
            <p:nvPr/>
          </p:nvCxnSpPr>
          <p:spPr>
            <a:xfrm>
              <a:off x="2991746" y="1134566"/>
              <a:ext cx="0" cy="5723434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>
              <a:extLst>
                <a:ext uri="{FF2B5EF4-FFF2-40B4-BE49-F238E27FC236}">
                  <a16:creationId xmlns:a16="http://schemas.microsoft.com/office/drawing/2014/main" id="{67BB25F1-20DA-4550-9EDA-D2A93F8DF49D}"/>
                </a:ext>
              </a:extLst>
            </p:cNvPr>
            <p:cNvCxnSpPr/>
            <p:nvPr/>
          </p:nvCxnSpPr>
          <p:spPr>
            <a:xfrm>
              <a:off x="6051747" y="1134566"/>
              <a:ext cx="0" cy="5723434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接连接符 157">
              <a:extLst>
                <a:ext uri="{FF2B5EF4-FFF2-40B4-BE49-F238E27FC236}">
                  <a16:creationId xmlns:a16="http://schemas.microsoft.com/office/drawing/2014/main" id="{45D047D2-3CC1-4D4F-8E9D-0165E9D18564}"/>
                </a:ext>
              </a:extLst>
            </p:cNvPr>
            <p:cNvCxnSpPr/>
            <p:nvPr/>
          </p:nvCxnSpPr>
          <p:spPr>
            <a:xfrm>
              <a:off x="9101984" y="1124968"/>
              <a:ext cx="0" cy="5723434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9F80F9F-C1E2-4970-A1EE-87221363BC96}"/>
              </a:ext>
            </a:extLst>
          </p:cNvPr>
          <p:cNvCxnSpPr>
            <a:cxnSpLocks/>
          </p:cNvCxnSpPr>
          <p:nvPr/>
        </p:nvCxnSpPr>
        <p:spPr>
          <a:xfrm>
            <a:off x="10464800" y="2053889"/>
            <a:ext cx="0" cy="4195734"/>
          </a:xfrm>
          <a:prstGeom prst="line">
            <a:avLst/>
          </a:prstGeom>
          <a:ln w="38100">
            <a:solidFill>
              <a:schemeClr val="accent2">
                <a:lumMod val="50000"/>
                <a:lumOff val="50000"/>
              </a:schemeClr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1EEE888C-48CB-4388-B384-AECCBD8759B2}"/>
              </a:ext>
            </a:extLst>
          </p:cNvPr>
          <p:cNvCxnSpPr>
            <a:cxnSpLocks/>
          </p:cNvCxnSpPr>
          <p:nvPr/>
        </p:nvCxnSpPr>
        <p:spPr>
          <a:xfrm>
            <a:off x="9103360" y="2008989"/>
            <a:ext cx="0" cy="4255843"/>
          </a:xfrm>
          <a:prstGeom prst="line">
            <a:avLst/>
          </a:prstGeom>
          <a:ln w="38100">
            <a:solidFill>
              <a:srgbClr val="92D050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50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">
            <a:extLst>
              <a:ext uri="{FF2B5EF4-FFF2-40B4-BE49-F238E27FC236}">
                <a16:creationId xmlns:a16="http://schemas.microsoft.com/office/drawing/2014/main" id="{4BDFA29F-9D8A-4B45-A45A-887D7C0B72AD}"/>
              </a:ext>
            </a:extLst>
          </p:cNvPr>
          <p:cNvSpPr txBox="1">
            <a:spLocks/>
          </p:cNvSpPr>
          <p:nvPr/>
        </p:nvSpPr>
        <p:spPr>
          <a:xfrm>
            <a:off x="0" y="379642"/>
            <a:ext cx="12191999" cy="362404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latin typeface="+mn-ea"/>
              </a:rPr>
              <a:t>德鲁克管理专栏：德鲁克核心思想精髓</a:t>
            </a:r>
            <a:r>
              <a:rPr lang="en-US" altLang="zh-CN" b="1" dirty="0">
                <a:latin typeface="+mn-ea"/>
              </a:rPr>
              <a:t>(1358)</a:t>
            </a:r>
            <a:endParaRPr lang="zh-CN" altLang="en-US" b="1" dirty="0">
              <a:latin typeface="+mn-ea"/>
            </a:endParaRPr>
          </a:p>
        </p:txBody>
      </p:sp>
      <p:sp>
        <p:nvSpPr>
          <p:cNvPr id="121" name="Freeform 3">
            <a:extLst>
              <a:ext uri="{FF2B5EF4-FFF2-40B4-BE49-F238E27FC236}">
                <a16:creationId xmlns:a16="http://schemas.microsoft.com/office/drawing/2014/main" id="{D01CB6FD-5686-4EC9-AD3C-2DE98E611DFE}"/>
              </a:ext>
            </a:extLst>
          </p:cNvPr>
          <p:cNvSpPr/>
          <p:nvPr/>
        </p:nvSpPr>
        <p:spPr>
          <a:xfrm>
            <a:off x="7308471" y="2693102"/>
            <a:ext cx="1171562" cy="60956"/>
          </a:xfrm>
          <a:custGeom>
            <a:avLst/>
            <a:gdLst>
              <a:gd name="connsiteX0" fmla="*/ 14287 w 1171562"/>
              <a:gd name="connsiteY0" fmla="*/ 14287 h 57150"/>
              <a:gd name="connsiteX1" fmla="*/ 1157274 w 1171562"/>
              <a:gd name="connsiteY1" fmla="*/ 14287 h 5715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1171562" h="57150">
                <a:moveTo>
                  <a:pt x="14287" y="14287"/>
                </a:moveTo>
                <a:lnTo>
                  <a:pt x="1157274" y="14287"/>
                </a:lnTo>
              </a:path>
            </a:pathLst>
          </a:custGeom>
          <a:ln w="25400">
            <a:solidFill>
              <a:srgbClr val="FFFFCC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Freeform 3">
            <a:extLst>
              <a:ext uri="{FF2B5EF4-FFF2-40B4-BE49-F238E27FC236}">
                <a16:creationId xmlns:a16="http://schemas.microsoft.com/office/drawing/2014/main" id="{4ADA4E9C-AB57-4DAC-A1D4-348A8ADCD91B}"/>
              </a:ext>
            </a:extLst>
          </p:cNvPr>
          <p:cNvSpPr/>
          <p:nvPr/>
        </p:nvSpPr>
        <p:spPr>
          <a:xfrm>
            <a:off x="6884799" y="3830938"/>
            <a:ext cx="2009762" cy="60956"/>
          </a:xfrm>
          <a:custGeom>
            <a:avLst/>
            <a:gdLst>
              <a:gd name="connsiteX0" fmla="*/ 14287 w 2009762"/>
              <a:gd name="connsiteY0" fmla="*/ 14287 h 57150"/>
              <a:gd name="connsiteX1" fmla="*/ 1995474 w 2009762"/>
              <a:gd name="connsiteY1" fmla="*/ 14287 h 5715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009762" h="57150">
                <a:moveTo>
                  <a:pt x="14287" y="14287"/>
                </a:moveTo>
                <a:lnTo>
                  <a:pt x="1995474" y="14287"/>
                </a:lnTo>
              </a:path>
            </a:pathLst>
          </a:custGeom>
          <a:ln w="25400">
            <a:solidFill>
              <a:srgbClr val="FFFFCC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Freeform 3">
            <a:extLst>
              <a:ext uri="{FF2B5EF4-FFF2-40B4-BE49-F238E27FC236}">
                <a16:creationId xmlns:a16="http://schemas.microsoft.com/office/drawing/2014/main" id="{9D5E7BE7-3B85-4873-83E9-E2F6C4AF874E}"/>
              </a:ext>
            </a:extLst>
          </p:cNvPr>
          <p:cNvSpPr/>
          <p:nvPr/>
        </p:nvSpPr>
        <p:spPr>
          <a:xfrm>
            <a:off x="6423027" y="5050049"/>
            <a:ext cx="2924175" cy="60956"/>
          </a:xfrm>
          <a:custGeom>
            <a:avLst/>
            <a:gdLst>
              <a:gd name="connsiteX0" fmla="*/ 14287 w 2924175"/>
              <a:gd name="connsiteY0" fmla="*/ 14287 h 57150"/>
              <a:gd name="connsiteX1" fmla="*/ 2909887 w 2924175"/>
              <a:gd name="connsiteY1" fmla="*/ 14287 h 5715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924175" h="57150">
                <a:moveTo>
                  <a:pt x="14287" y="14287"/>
                </a:moveTo>
                <a:lnTo>
                  <a:pt x="2909887" y="14287"/>
                </a:lnTo>
              </a:path>
            </a:pathLst>
          </a:custGeom>
          <a:ln w="25400">
            <a:solidFill>
              <a:srgbClr val="FFFFCC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Freeform 3">
            <a:extLst>
              <a:ext uri="{FF2B5EF4-FFF2-40B4-BE49-F238E27FC236}">
                <a16:creationId xmlns:a16="http://schemas.microsoft.com/office/drawing/2014/main" id="{D60BACE0-99E0-421D-817D-A90656FE5F4C}"/>
              </a:ext>
            </a:extLst>
          </p:cNvPr>
          <p:cNvSpPr/>
          <p:nvPr/>
        </p:nvSpPr>
        <p:spPr>
          <a:xfrm>
            <a:off x="5808855" y="6655211"/>
            <a:ext cx="4143375" cy="60956"/>
          </a:xfrm>
          <a:custGeom>
            <a:avLst/>
            <a:gdLst>
              <a:gd name="connsiteX0" fmla="*/ 14287 w 4143375"/>
              <a:gd name="connsiteY0" fmla="*/ 14287 h 57150"/>
              <a:gd name="connsiteX1" fmla="*/ 4129087 w 4143375"/>
              <a:gd name="connsiteY1" fmla="*/ 14287 h 5715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4143375" h="57150">
                <a:moveTo>
                  <a:pt x="14287" y="14287"/>
                </a:moveTo>
                <a:lnTo>
                  <a:pt x="4129087" y="14287"/>
                </a:lnTo>
              </a:path>
            </a:pathLst>
          </a:custGeom>
          <a:ln w="25400">
            <a:solidFill>
              <a:srgbClr val="FFFFCC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5" name="Picture 3">
            <a:extLst>
              <a:ext uri="{FF2B5EF4-FFF2-40B4-BE49-F238E27FC236}">
                <a16:creationId xmlns:a16="http://schemas.microsoft.com/office/drawing/2014/main" id="{C30B7C96-0B75-4077-A04F-04793C3DA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08855" y="1175986"/>
            <a:ext cx="5772593" cy="55401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</p:pic>
      <p:sp>
        <p:nvSpPr>
          <p:cNvPr id="126" name="TextBox 1">
            <a:extLst>
              <a:ext uri="{FF2B5EF4-FFF2-40B4-BE49-F238E27FC236}">
                <a16:creationId xmlns:a16="http://schemas.microsoft.com/office/drawing/2014/main" id="{43522D7F-398B-4BCE-AD4F-38B0CF58B85B}"/>
              </a:ext>
            </a:extLst>
          </p:cNvPr>
          <p:cNvSpPr txBox="1"/>
          <p:nvPr/>
        </p:nvSpPr>
        <p:spPr>
          <a:xfrm>
            <a:off x="7758932" y="2076282"/>
            <a:ext cx="1846659" cy="3947458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700"/>
              </a:lnSpc>
              <a:tabLst>
                <a:tab pos="152400" algn="l"/>
                <a:tab pos="165100" algn="l"/>
                <a:tab pos="571500" algn="l"/>
                <a:tab pos="685800" algn="l"/>
              </a:tabLst>
            </a:pPr>
            <a:r>
              <a:rPr lang="en-US" altLang="zh-CN" dirty="0">
                <a:solidFill>
                  <a:srgbClr val="0033CC"/>
                </a:solidFill>
              </a:rPr>
              <a:t>		</a:t>
            </a:r>
            <a:r>
              <a:rPr lang="en-US" altLang="zh-CN" dirty="0">
                <a:solidFill>
                  <a:schemeClr val="bg1"/>
                </a:solidFill>
              </a:rPr>
              <a:t>	</a:t>
            </a:r>
            <a:r>
              <a:rPr lang="en-US" altLang="zh-CN" sz="1800" dirty="0">
                <a:solidFill>
                  <a:schemeClr val="bg1"/>
                </a:solidFill>
                <a:latin typeface="黑体" pitchFamily="18" charset="0"/>
                <a:cs typeface="黑体" pitchFamily="18" charset="0"/>
              </a:rPr>
              <a:t>管理的</a:t>
            </a:r>
          </a:p>
          <a:p>
            <a:pPr>
              <a:lnSpc>
                <a:spcPts val="2100"/>
              </a:lnSpc>
              <a:tabLst>
                <a:tab pos="152400" algn="l"/>
                <a:tab pos="165100" algn="l"/>
                <a:tab pos="571500" algn="l"/>
                <a:tab pos="685800" algn="l"/>
              </a:tabLst>
            </a:pPr>
            <a:r>
              <a:rPr lang="en-US" altLang="zh-CN" dirty="0">
                <a:solidFill>
                  <a:schemeClr val="bg1"/>
                </a:solidFill>
              </a:rPr>
              <a:t>				</a:t>
            </a:r>
            <a:r>
              <a:rPr lang="en-US" altLang="zh-CN" sz="1800" dirty="0">
                <a:solidFill>
                  <a:schemeClr val="bg1"/>
                </a:solidFill>
                <a:latin typeface="黑体" pitchFamily="18" charset="0"/>
                <a:cs typeface="黑体" pitchFamily="18" charset="0"/>
              </a:rPr>
              <a:t>定义</a:t>
            </a:r>
          </a:p>
          <a:p>
            <a:pPr>
              <a:lnSpc>
                <a:spcPts val="1000"/>
              </a:lnSpc>
            </a:pPr>
            <a:endParaRPr lang="en-US" altLang="zh-CN" dirty="0">
              <a:solidFill>
                <a:srgbClr val="0033CC"/>
              </a:solidFill>
            </a:endParaRPr>
          </a:p>
          <a:p>
            <a:pPr>
              <a:lnSpc>
                <a:spcPts val="1000"/>
              </a:lnSpc>
            </a:pPr>
            <a:endParaRPr lang="en-US" altLang="zh-CN" dirty="0">
              <a:solidFill>
                <a:srgbClr val="0033CC"/>
              </a:solidFill>
            </a:endParaRPr>
          </a:p>
          <a:p>
            <a:pPr>
              <a:lnSpc>
                <a:spcPts val="1000"/>
              </a:lnSpc>
            </a:pPr>
            <a:endParaRPr lang="en-US" altLang="zh-CN" dirty="0">
              <a:solidFill>
                <a:srgbClr val="0033CC"/>
              </a:solidFill>
            </a:endParaRPr>
          </a:p>
          <a:p>
            <a:pPr>
              <a:lnSpc>
                <a:spcPts val="1000"/>
              </a:lnSpc>
            </a:pPr>
            <a:endParaRPr lang="en-US" altLang="zh-CN" dirty="0">
              <a:solidFill>
                <a:srgbClr val="0033CC"/>
              </a:solidFill>
            </a:endParaRPr>
          </a:p>
          <a:p>
            <a:pPr>
              <a:lnSpc>
                <a:spcPts val="2400"/>
              </a:lnSpc>
              <a:tabLst>
                <a:tab pos="152400" algn="l"/>
                <a:tab pos="165100" algn="l"/>
                <a:tab pos="571500" algn="l"/>
                <a:tab pos="685800" algn="l"/>
              </a:tabLst>
            </a:pPr>
            <a:r>
              <a:rPr lang="en-US" altLang="zh-CN" dirty="0">
                <a:solidFill>
                  <a:srgbClr val="0033CC"/>
                </a:solidFill>
              </a:rPr>
              <a:t>	</a:t>
            </a:r>
            <a:r>
              <a:rPr lang="en-US" altLang="zh-CN" sz="1800" dirty="0">
                <a:solidFill>
                  <a:srgbClr val="0033CC"/>
                </a:solidFill>
                <a:latin typeface="黑体" pitchFamily="18" charset="0"/>
                <a:cs typeface="黑体" pitchFamily="18" charset="0"/>
              </a:rPr>
              <a:t>管理的三大任务</a:t>
            </a:r>
          </a:p>
          <a:p>
            <a:pPr>
              <a:lnSpc>
                <a:spcPts val="1000"/>
              </a:lnSpc>
            </a:pPr>
            <a:endParaRPr lang="en-US" altLang="zh-CN" dirty="0">
              <a:solidFill>
                <a:srgbClr val="0033CC"/>
              </a:solidFill>
            </a:endParaRPr>
          </a:p>
          <a:p>
            <a:pPr>
              <a:lnSpc>
                <a:spcPts val="1000"/>
              </a:lnSpc>
            </a:pPr>
            <a:endParaRPr lang="en-US" altLang="zh-CN" dirty="0">
              <a:solidFill>
                <a:srgbClr val="0033CC"/>
              </a:solidFill>
            </a:endParaRPr>
          </a:p>
          <a:p>
            <a:pPr>
              <a:lnSpc>
                <a:spcPts val="1000"/>
              </a:lnSpc>
            </a:pPr>
            <a:endParaRPr lang="en-US" altLang="zh-CN" dirty="0">
              <a:solidFill>
                <a:srgbClr val="0033CC"/>
              </a:solidFill>
            </a:endParaRPr>
          </a:p>
          <a:p>
            <a:pPr>
              <a:lnSpc>
                <a:spcPts val="1000"/>
              </a:lnSpc>
            </a:pPr>
            <a:endParaRPr lang="en-US" altLang="zh-CN" dirty="0">
              <a:solidFill>
                <a:srgbClr val="0033CC"/>
              </a:solidFill>
            </a:endParaRPr>
          </a:p>
          <a:p>
            <a:pPr>
              <a:lnSpc>
                <a:spcPts val="1000"/>
              </a:lnSpc>
            </a:pPr>
            <a:endParaRPr lang="en-US" altLang="zh-CN" dirty="0">
              <a:solidFill>
                <a:srgbClr val="0033CC"/>
              </a:solidFill>
            </a:endParaRPr>
          </a:p>
          <a:p>
            <a:pPr>
              <a:lnSpc>
                <a:spcPts val="1000"/>
              </a:lnSpc>
            </a:pPr>
            <a:endParaRPr lang="en-US" altLang="zh-CN" dirty="0">
              <a:solidFill>
                <a:srgbClr val="0033CC"/>
              </a:solidFill>
            </a:endParaRPr>
          </a:p>
          <a:p>
            <a:pPr>
              <a:lnSpc>
                <a:spcPts val="1000"/>
              </a:lnSpc>
            </a:pPr>
            <a:endParaRPr lang="en-US" altLang="zh-CN" dirty="0">
              <a:solidFill>
                <a:srgbClr val="0033CC"/>
              </a:solidFill>
            </a:endParaRPr>
          </a:p>
          <a:p>
            <a:pPr>
              <a:lnSpc>
                <a:spcPts val="2100"/>
              </a:lnSpc>
              <a:tabLst>
                <a:tab pos="152400" algn="l"/>
                <a:tab pos="165100" algn="l"/>
                <a:tab pos="571500" algn="l"/>
                <a:tab pos="685800" algn="l"/>
              </a:tabLst>
            </a:pPr>
            <a:r>
              <a:rPr lang="en-US" altLang="zh-CN" sz="1800" dirty="0">
                <a:solidFill>
                  <a:srgbClr val="0033CC"/>
                </a:solidFill>
                <a:latin typeface="黑体" pitchFamily="18" charset="0"/>
                <a:cs typeface="黑体" pitchFamily="18" charset="0"/>
              </a:rPr>
              <a:t>管理者的五项工作</a:t>
            </a:r>
          </a:p>
          <a:p>
            <a:pPr>
              <a:lnSpc>
                <a:spcPts val="1000"/>
              </a:lnSpc>
            </a:pPr>
            <a:endParaRPr lang="en-US" altLang="zh-CN" dirty="0">
              <a:solidFill>
                <a:srgbClr val="0033CC"/>
              </a:solidFill>
            </a:endParaRPr>
          </a:p>
          <a:p>
            <a:pPr>
              <a:lnSpc>
                <a:spcPts val="1000"/>
              </a:lnSpc>
            </a:pPr>
            <a:endParaRPr lang="en-US" altLang="zh-CN" dirty="0">
              <a:solidFill>
                <a:srgbClr val="0033CC"/>
              </a:solidFill>
            </a:endParaRPr>
          </a:p>
          <a:p>
            <a:pPr>
              <a:lnSpc>
                <a:spcPts val="1000"/>
              </a:lnSpc>
            </a:pPr>
            <a:endParaRPr lang="en-US" altLang="zh-CN" dirty="0">
              <a:solidFill>
                <a:srgbClr val="0033CC"/>
              </a:solidFill>
            </a:endParaRPr>
          </a:p>
          <a:p>
            <a:pPr>
              <a:lnSpc>
                <a:spcPts val="1000"/>
              </a:lnSpc>
            </a:pPr>
            <a:endParaRPr lang="en-US" altLang="zh-CN" dirty="0">
              <a:solidFill>
                <a:srgbClr val="0033CC"/>
              </a:solidFill>
            </a:endParaRPr>
          </a:p>
          <a:p>
            <a:pPr>
              <a:lnSpc>
                <a:spcPts val="1000"/>
              </a:lnSpc>
            </a:pPr>
            <a:endParaRPr lang="en-US" altLang="zh-CN" dirty="0">
              <a:solidFill>
                <a:srgbClr val="0033CC"/>
              </a:solidFill>
            </a:endParaRPr>
          </a:p>
          <a:p>
            <a:pPr>
              <a:lnSpc>
                <a:spcPts val="1000"/>
              </a:lnSpc>
            </a:pPr>
            <a:endParaRPr lang="en-US" altLang="zh-CN" dirty="0">
              <a:solidFill>
                <a:srgbClr val="0033CC"/>
              </a:solidFill>
            </a:endParaRPr>
          </a:p>
          <a:p>
            <a:pPr>
              <a:lnSpc>
                <a:spcPts val="1000"/>
              </a:lnSpc>
            </a:pPr>
            <a:endParaRPr lang="en-US" altLang="zh-CN" dirty="0">
              <a:solidFill>
                <a:srgbClr val="0033CC"/>
              </a:solidFill>
            </a:endParaRPr>
          </a:p>
          <a:p>
            <a:pPr>
              <a:lnSpc>
                <a:spcPts val="2200"/>
              </a:lnSpc>
              <a:tabLst>
                <a:tab pos="152400" algn="l"/>
                <a:tab pos="165100" algn="l"/>
                <a:tab pos="571500" algn="l"/>
                <a:tab pos="685800" algn="l"/>
              </a:tabLst>
            </a:pPr>
            <a:r>
              <a:rPr lang="en-US" altLang="zh-CN" dirty="0">
                <a:solidFill>
                  <a:srgbClr val="0033CC"/>
                </a:solidFill>
              </a:rPr>
              <a:t>		</a:t>
            </a:r>
            <a:r>
              <a:rPr lang="en-US" altLang="zh-CN" sz="1800" dirty="0">
                <a:solidFill>
                  <a:srgbClr val="0033CC"/>
                </a:solidFill>
                <a:latin typeface="黑体" pitchFamily="18" charset="0"/>
                <a:cs typeface="黑体" pitchFamily="18" charset="0"/>
              </a:rPr>
              <a:t>企业的八大目标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1C3CAB-2851-4451-BAAD-5A8F5CFE4533}"/>
              </a:ext>
            </a:extLst>
          </p:cNvPr>
          <p:cNvSpPr/>
          <p:nvPr/>
        </p:nvSpPr>
        <p:spPr>
          <a:xfrm>
            <a:off x="1684994" y="1164134"/>
            <a:ext cx="6680427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0033CC"/>
                </a:solidFill>
              </a:rPr>
              <a:t>管理</a:t>
            </a:r>
            <a:r>
              <a:rPr lang="zh-CN" altLang="en-US" sz="1400" b="1" dirty="0">
                <a:solidFill>
                  <a:srgbClr val="FF0000"/>
                </a:solidFill>
              </a:rPr>
              <a:t>一</a:t>
            </a:r>
            <a:r>
              <a:rPr lang="zh-CN" altLang="en-US" sz="1400" b="1" dirty="0">
                <a:solidFill>
                  <a:srgbClr val="0033CC"/>
                </a:solidFill>
              </a:rPr>
              <a:t>项定义</a:t>
            </a:r>
          </a:p>
          <a:p>
            <a:endParaRPr lang="zh-CN" altLang="en-US" sz="1400" b="1" dirty="0"/>
          </a:p>
          <a:p>
            <a:r>
              <a:rPr lang="zh-CN" altLang="en-US" sz="1400" b="1" dirty="0"/>
              <a:t>管理就是界定企业的使命，并激励和组织人力资源去实现这个使命。界定使命是企业家的任务，而激励与组织人力资源是领导力的范畴，二者的结合就是管理。</a:t>
            </a:r>
          </a:p>
          <a:p>
            <a:endParaRPr lang="zh-CN" altLang="en-US" sz="1400" b="1" dirty="0"/>
          </a:p>
          <a:p>
            <a:r>
              <a:rPr lang="zh-CN" altLang="en-US" sz="1400" b="1" dirty="0">
                <a:solidFill>
                  <a:srgbClr val="0033CC"/>
                </a:solidFill>
              </a:rPr>
              <a:t>管理的</a:t>
            </a:r>
            <a:r>
              <a:rPr lang="zh-CN" altLang="en-US" sz="1400" b="1" dirty="0">
                <a:solidFill>
                  <a:srgbClr val="FF0000"/>
                </a:solidFill>
              </a:rPr>
              <a:t>三</a:t>
            </a:r>
            <a:r>
              <a:rPr lang="zh-CN" altLang="en-US" sz="1400" b="1" dirty="0">
                <a:solidFill>
                  <a:srgbClr val="0033CC"/>
                </a:solidFill>
              </a:rPr>
              <a:t>大任务</a:t>
            </a:r>
          </a:p>
          <a:p>
            <a:r>
              <a:rPr lang="en-US" altLang="zh-CN" sz="1400" b="1" dirty="0"/>
              <a:t>1</a:t>
            </a:r>
            <a:r>
              <a:rPr lang="zh-CN" altLang="en-US" sz="1400" b="1" dirty="0"/>
              <a:t>．实现组织的特定目的和使命；</a:t>
            </a:r>
          </a:p>
          <a:p>
            <a:r>
              <a:rPr lang="en-US" altLang="zh-CN" sz="1400" b="1" dirty="0"/>
              <a:t>2</a:t>
            </a:r>
            <a:r>
              <a:rPr lang="zh-CN" altLang="en-US" sz="1400" b="1" dirty="0"/>
              <a:t>．使工作富有成效，员工具有成就感；</a:t>
            </a:r>
          </a:p>
          <a:p>
            <a:r>
              <a:rPr lang="en-US" altLang="zh-CN" sz="1400" b="1" dirty="0"/>
              <a:t>3</a:t>
            </a:r>
            <a:r>
              <a:rPr lang="zh-CN" altLang="en-US" sz="1400" b="1" dirty="0"/>
              <a:t>．处理对社会的影响与承担社会责任。</a:t>
            </a:r>
          </a:p>
          <a:p>
            <a:endParaRPr lang="zh-CN" altLang="en-US" sz="1400" b="1" dirty="0">
              <a:solidFill>
                <a:srgbClr val="0033CC"/>
              </a:solidFill>
            </a:endParaRPr>
          </a:p>
          <a:p>
            <a:r>
              <a:rPr lang="zh-CN" altLang="en-US" sz="1400" b="1" dirty="0">
                <a:solidFill>
                  <a:srgbClr val="0033CC"/>
                </a:solidFill>
              </a:rPr>
              <a:t>管理者的</a:t>
            </a:r>
            <a:r>
              <a:rPr lang="zh-CN" altLang="en-US" sz="1400" b="1" dirty="0">
                <a:solidFill>
                  <a:srgbClr val="FF0000"/>
                </a:solidFill>
              </a:rPr>
              <a:t>五</a:t>
            </a:r>
            <a:r>
              <a:rPr lang="zh-CN" altLang="en-US" sz="1400" b="1" dirty="0">
                <a:solidFill>
                  <a:srgbClr val="0033CC"/>
                </a:solidFill>
              </a:rPr>
              <a:t>项工作</a:t>
            </a:r>
          </a:p>
          <a:p>
            <a:r>
              <a:rPr lang="en-US" altLang="zh-CN" sz="1400" b="1" dirty="0"/>
              <a:t>1</a:t>
            </a:r>
            <a:r>
              <a:rPr lang="zh-CN" altLang="en-US" sz="1400" b="1" dirty="0"/>
              <a:t>．设定目标</a:t>
            </a:r>
          </a:p>
          <a:p>
            <a:r>
              <a:rPr lang="en-US" altLang="zh-CN" sz="1400" b="1" dirty="0"/>
              <a:t>2</a:t>
            </a:r>
            <a:r>
              <a:rPr lang="zh-CN" altLang="en-US" sz="1400" b="1" dirty="0"/>
              <a:t>．组织</a:t>
            </a:r>
          </a:p>
          <a:p>
            <a:r>
              <a:rPr lang="en-US" altLang="zh-CN" sz="1400" b="1" dirty="0"/>
              <a:t>3</a:t>
            </a:r>
            <a:r>
              <a:rPr lang="zh-CN" altLang="en-US" sz="1400" b="1" dirty="0"/>
              <a:t>．激励与沟通</a:t>
            </a:r>
          </a:p>
          <a:p>
            <a:r>
              <a:rPr lang="en-US" altLang="zh-CN" sz="1400" b="1" dirty="0"/>
              <a:t>4</a:t>
            </a:r>
            <a:r>
              <a:rPr lang="zh-CN" altLang="en-US" sz="1400" b="1" dirty="0"/>
              <a:t>．评估绩效</a:t>
            </a:r>
          </a:p>
          <a:p>
            <a:r>
              <a:rPr lang="en-US" altLang="zh-CN" sz="1400" b="1" dirty="0"/>
              <a:t>5</a:t>
            </a:r>
            <a:r>
              <a:rPr lang="zh-CN" altLang="en-US" sz="1400" b="1" dirty="0"/>
              <a:t>．培养人才（包括自己）</a:t>
            </a:r>
          </a:p>
          <a:p>
            <a:endParaRPr lang="zh-CN" altLang="en-US" sz="1400" b="1" dirty="0">
              <a:solidFill>
                <a:srgbClr val="0033CC"/>
              </a:solidFill>
            </a:endParaRPr>
          </a:p>
          <a:p>
            <a:r>
              <a:rPr lang="zh-CN" altLang="en-US" sz="1400" b="1" dirty="0">
                <a:solidFill>
                  <a:srgbClr val="0033CC"/>
                </a:solidFill>
              </a:rPr>
              <a:t>企业的</a:t>
            </a:r>
            <a:r>
              <a:rPr lang="zh-CN" altLang="en-US" sz="1400" b="1" dirty="0">
                <a:solidFill>
                  <a:srgbClr val="FF0000"/>
                </a:solidFill>
              </a:rPr>
              <a:t>八</a:t>
            </a:r>
            <a:r>
              <a:rPr lang="zh-CN" altLang="en-US" sz="1400" b="1" dirty="0">
                <a:solidFill>
                  <a:srgbClr val="0033CC"/>
                </a:solidFill>
              </a:rPr>
              <a:t>大目标</a:t>
            </a:r>
          </a:p>
          <a:p>
            <a:r>
              <a:rPr lang="en-US" altLang="zh-CN" sz="1400" b="1" dirty="0"/>
              <a:t>1</a:t>
            </a:r>
            <a:r>
              <a:rPr lang="zh-CN" altLang="en-US" sz="1400" b="1" dirty="0"/>
              <a:t>．营销</a:t>
            </a:r>
          </a:p>
          <a:p>
            <a:r>
              <a:rPr lang="en-US" altLang="zh-CN" sz="1400" b="1" dirty="0"/>
              <a:t>2</a:t>
            </a:r>
            <a:r>
              <a:rPr lang="zh-CN" altLang="en-US" sz="1400" b="1" dirty="0"/>
              <a:t>．创新</a:t>
            </a:r>
          </a:p>
          <a:p>
            <a:r>
              <a:rPr lang="en-US" altLang="zh-CN" sz="1400" b="1" dirty="0"/>
              <a:t>3</a:t>
            </a:r>
            <a:r>
              <a:rPr lang="zh-CN" altLang="en-US" sz="1400" b="1" dirty="0"/>
              <a:t>．人力资源</a:t>
            </a:r>
          </a:p>
          <a:p>
            <a:r>
              <a:rPr lang="en-US" altLang="zh-CN" sz="1400" b="1" dirty="0"/>
              <a:t>4</a:t>
            </a:r>
            <a:r>
              <a:rPr lang="zh-CN" altLang="en-US" sz="1400" b="1" dirty="0"/>
              <a:t>．财力资源</a:t>
            </a:r>
          </a:p>
          <a:p>
            <a:r>
              <a:rPr lang="en-US" altLang="zh-CN" sz="1400" b="1" dirty="0"/>
              <a:t>5</a:t>
            </a:r>
            <a:r>
              <a:rPr lang="zh-CN" altLang="en-US" sz="1400" b="1" dirty="0"/>
              <a:t>．物力资源</a:t>
            </a:r>
          </a:p>
          <a:p>
            <a:r>
              <a:rPr lang="en-US" altLang="zh-CN" sz="1400" b="1" dirty="0"/>
              <a:t>6</a:t>
            </a:r>
            <a:r>
              <a:rPr lang="zh-CN" altLang="en-US" sz="1400" b="1" dirty="0"/>
              <a:t>．生产力</a:t>
            </a:r>
          </a:p>
          <a:p>
            <a:r>
              <a:rPr lang="en-US" altLang="zh-CN" sz="1400" b="1" dirty="0"/>
              <a:t>7</a:t>
            </a:r>
            <a:r>
              <a:rPr lang="zh-CN" altLang="en-US" sz="1400" b="1" dirty="0"/>
              <a:t>．社会责任</a:t>
            </a:r>
          </a:p>
          <a:p>
            <a:r>
              <a:rPr lang="en-US" altLang="zh-CN" sz="1400" b="1" dirty="0"/>
              <a:t>8</a:t>
            </a:r>
            <a:r>
              <a:rPr lang="zh-CN" altLang="en-US" sz="1400" b="1" dirty="0"/>
              <a:t>．利润需求</a:t>
            </a:r>
          </a:p>
        </p:txBody>
      </p:sp>
    </p:spTree>
    <p:extLst>
      <p:ext uri="{BB962C8B-B14F-4D97-AF65-F5344CB8AC3E}">
        <p14:creationId xmlns:p14="http://schemas.microsoft.com/office/powerpoint/2010/main" val="318702521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文本占位符 1">
            <a:extLst>
              <a:ext uri="{FF2B5EF4-FFF2-40B4-BE49-F238E27FC236}">
                <a16:creationId xmlns:a16="http://schemas.microsoft.com/office/drawing/2014/main" id="{B998C069-E647-4048-AADD-83498D093A33}"/>
              </a:ext>
            </a:extLst>
          </p:cNvPr>
          <p:cNvSpPr txBox="1">
            <a:spLocks/>
          </p:cNvSpPr>
          <p:nvPr/>
        </p:nvSpPr>
        <p:spPr>
          <a:xfrm>
            <a:off x="0" y="379642"/>
            <a:ext cx="12191999" cy="362404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latin typeface="+mn-ea"/>
              </a:rPr>
              <a:t>德鲁克管理专栏：德鲁克核心思想理论体系框架</a:t>
            </a:r>
          </a:p>
        </p:txBody>
      </p:sp>
      <p:sp>
        <p:nvSpPr>
          <p:cNvPr id="222" name="文本框 221">
            <a:extLst>
              <a:ext uri="{FF2B5EF4-FFF2-40B4-BE49-F238E27FC236}">
                <a16:creationId xmlns:a16="http://schemas.microsoft.com/office/drawing/2014/main" id="{4B603DD9-861F-4F2A-B2DE-0E8CDD56BD0F}"/>
              </a:ext>
            </a:extLst>
          </p:cNvPr>
          <p:cNvSpPr txBox="1"/>
          <p:nvPr/>
        </p:nvSpPr>
        <p:spPr>
          <a:xfrm>
            <a:off x="4566223" y="2282254"/>
            <a:ext cx="2400761" cy="36012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0" dirty="0">
                <a:solidFill>
                  <a:schemeClr val="bg2"/>
                </a:solidFill>
                <a:latin typeface="+mn-ea"/>
              </a:rPr>
              <a:t>人</a:t>
            </a:r>
          </a:p>
        </p:txBody>
      </p:sp>
      <p:sp>
        <p:nvSpPr>
          <p:cNvPr id="138" name="椭圆 137">
            <a:extLst>
              <a:ext uri="{FF2B5EF4-FFF2-40B4-BE49-F238E27FC236}">
                <a16:creationId xmlns:a16="http://schemas.microsoft.com/office/drawing/2014/main" id="{9EE678C8-9BC5-4A31-B64B-9F6E822E15A1}"/>
              </a:ext>
            </a:extLst>
          </p:cNvPr>
          <p:cNvSpPr/>
          <p:nvPr/>
        </p:nvSpPr>
        <p:spPr>
          <a:xfrm>
            <a:off x="1381132" y="1199328"/>
            <a:ext cx="9160097" cy="545309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ea"/>
            </a:endParaRPr>
          </a:p>
        </p:txBody>
      </p:sp>
      <p:sp>
        <p:nvSpPr>
          <p:cNvPr id="139" name="椭圆 138">
            <a:extLst>
              <a:ext uri="{FF2B5EF4-FFF2-40B4-BE49-F238E27FC236}">
                <a16:creationId xmlns:a16="http://schemas.microsoft.com/office/drawing/2014/main" id="{7786E0A9-E45A-4494-A453-81DD1F3454D2}"/>
              </a:ext>
            </a:extLst>
          </p:cNvPr>
          <p:cNvSpPr/>
          <p:nvPr/>
        </p:nvSpPr>
        <p:spPr>
          <a:xfrm>
            <a:off x="2446548" y="1933008"/>
            <a:ext cx="6989143" cy="4144134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0" dirty="0">
              <a:latin typeface="+mn-ea"/>
            </a:endParaRPr>
          </a:p>
        </p:txBody>
      </p:sp>
      <p:sp>
        <p:nvSpPr>
          <p:cNvPr id="140" name="椭圆 139">
            <a:extLst>
              <a:ext uri="{FF2B5EF4-FFF2-40B4-BE49-F238E27FC236}">
                <a16:creationId xmlns:a16="http://schemas.microsoft.com/office/drawing/2014/main" id="{6F9AB1CE-9B82-461A-A102-0EDA7B9F709F}"/>
              </a:ext>
            </a:extLst>
          </p:cNvPr>
          <p:cNvSpPr/>
          <p:nvPr/>
        </p:nvSpPr>
        <p:spPr>
          <a:xfrm>
            <a:off x="3417853" y="2446860"/>
            <a:ext cx="5047557" cy="305061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141" name="椭圆 140">
            <a:extLst>
              <a:ext uri="{FF2B5EF4-FFF2-40B4-BE49-F238E27FC236}">
                <a16:creationId xmlns:a16="http://schemas.microsoft.com/office/drawing/2014/main" id="{9FF194ED-56B9-4763-9869-2F1345E42376}"/>
              </a:ext>
            </a:extLst>
          </p:cNvPr>
          <p:cNvSpPr/>
          <p:nvPr/>
        </p:nvSpPr>
        <p:spPr>
          <a:xfrm>
            <a:off x="4032230" y="2854310"/>
            <a:ext cx="3857898" cy="230152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D2A9A9C9-C4F1-4E3E-936C-C3F988133A2D}"/>
              </a:ext>
            </a:extLst>
          </p:cNvPr>
          <p:cNvSpPr txBox="1"/>
          <p:nvPr/>
        </p:nvSpPr>
        <p:spPr>
          <a:xfrm>
            <a:off x="5624126" y="2849608"/>
            <a:ext cx="598242" cy="3845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>
                <a:latin typeface="+mn-ea"/>
              </a:rPr>
              <a:t>使命</a:t>
            </a:r>
          </a:p>
        </p:txBody>
      </p: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0D1EB0FF-2183-498F-88BE-0D0D60350FBB}"/>
              </a:ext>
            </a:extLst>
          </p:cNvPr>
          <p:cNvCxnSpPr/>
          <p:nvPr/>
        </p:nvCxnSpPr>
        <p:spPr>
          <a:xfrm>
            <a:off x="5943847" y="3151939"/>
            <a:ext cx="0" cy="23544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下弧形箭头 13">
            <a:extLst>
              <a:ext uri="{FF2B5EF4-FFF2-40B4-BE49-F238E27FC236}">
                <a16:creationId xmlns:a16="http://schemas.microsoft.com/office/drawing/2014/main" id="{8C6FC5C1-7B31-4798-8C9A-78A09FD90A5F}"/>
              </a:ext>
            </a:extLst>
          </p:cNvPr>
          <p:cNvSpPr/>
          <p:nvPr/>
        </p:nvSpPr>
        <p:spPr>
          <a:xfrm>
            <a:off x="5180534" y="4759924"/>
            <a:ext cx="1566429" cy="350301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2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3E5B50DB-CCD5-4D5B-ACDB-1B02C8709D4A}"/>
              </a:ext>
            </a:extLst>
          </p:cNvPr>
          <p:cNvSpPr txBox="1"/>
          <p:nvPr/>
        </p:nvSpPr>
        <p:spPr>
          <a:xfrm>
            <a:off x="5559987" y="513519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+mn-ea"/>
              </a:rPr>
              <a:t>工作成效</a:t>
            </a:r>
          </a:p>
        </p:txBody>
      </p:sp>
      <p:sp>
        <p:nvSpPr>
          <p:cNvPr id="147" name="右大括号 146">
            <a:extLst>
              <a:ext uri="{FF2B5EF4-FFF2-40B4-BE49-F238E27FC236}">
                <a16:creationId xmlns:a16="http://schemas.microsoft.com/office/drawing/2014/main" id="{E3B50A31-598D-4253-A827-C57F37FB5FBE}"/>
              </a:ext>
            </a:extLst>
          </p:cNvPr>
          <p:cNvSpPr/>
          <p:nvPr/>
        </p:nvSpPr>
        <p:spPr>
          <a:xfrm>
            <a:off x="6603265" y="2975073"/>
            <a:ext cx="325278" cy="99832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3E08B509-6D3F-40A7-8449-6826F496B81C}"/>
              </a:ext>
            </a:extLst>
          </p:cNvPr>
          <p:cNvSpPr txBox="1"/>
          <p:nvPr/>
        </p:nvSpPr>
        <p:spPr>
          <a:xfrm>
            <a:off x="6896276" y="3151939"/>
            <a:ext cx="389850" cy="6643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n-ea"/>
              </a:rPr>
              <a:t>长</a:t>
            </a:r>
            <a:endParaRPr lang="en-US" altLang="zh-CN" sz="1600" dirty="0">
              <a:latin typeface="+mn-ea"/>
            </a:endParaRPr>
          </a:p>
          <a:p>
            <a:r>
              <a:rPr lang="zh-CN" altLang="en-US" sz="1600" dirty="0">
                <a:latin typeface="+mn-ea"/>
              </a:rPr>
              <a:t>期</a:t>
            </a:r>
          </a:p>
        </p:txBody>
      </p:sp>
      <p:sp>
        <p:nvSpPr>
          <p:cNvPr id="149" name="右大括号 148">
            <a:extLst>
              <a:ext uri="{FF2B5EF4-FFF2-40B4-BE49-F238E27FC236}">
                <a16:creationId xmlns:a16="http://schemas.microsoft.com/office/drawing/2014/main" id="{DDA0BC81-53BD-41A6-A771-4569D1218551}"/>
              </a:ext>
            </a:extLst>
          </p:cNvPr>
          <p:cNvSpPr/>
          <p:nvPr/>
        </p:nvSpPr>
        <p:spPr>
          <a:xfrm>
            <a:off x="6603265" y="4030504"/>
            <a:ext cx="325278" cy="69098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A76394EC-6588-4863-84C1-587814D4544C}"/>
              </a:ext>
            </a:extLst>
          </p:cNvPr>
          <p:cNvSpPr txBox="1"/>
          <p:nvPr/>
        </p:nvSpPr>
        <p:spPr>
          <a:xfrm>
            <a:off x="6896010" y="4070512"/>
            <a:ext cx="389850" cy="6643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n-ea"/>
              </a:rPr>
              <a:t>短</a:t>
            </a:r>
            <a:endParaRPr lang="en-US" altLang="zh-CN" sz="1600" dirty="0">
              <a:latin typeface="+mn-ea"/>
            </a:endParaRPr>
          </a:p>
          <a:p>
            <a:r>
              <a:rPr lang="zh-CN" altLang="en-US" sz="1600" dirty="0">
                <a:latin typeface="+mn-ea"/>
              </a:rPr>
              <a:t>期</a:t>
            </a:r>
          </a:p>
        </p:txBody>
      </p: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F361FBB7-4B15-4133-8990-DE95B66B4897}"/>
              </a:ext>
            </a:extLst>
          </p:cNvPr>
          <p:cNvCxnSpPr/>
          <p:nvPr/>
        </p:nvCxnSpPr>
        <p:spPr>
          <a:xfrm>
            <a:off x="5694374" y="4136748"/>
            <a:ext cx="0" cy="23544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箭头连接符 151">
            <a:extLst>
              <a:ext uri="{FF2B5EF4-FFF2-40B4-BE49-F238E27FC236}">
                <a16:creationId xmlns:a16="http://schemas.microsoft.com/office/drawing/2014/main" id="{9189EDB6-B895-4A52-AC05-907DE190A974}"/>
              </a:ext>
            </a:extLst>
          </p:cNvPr>
          <p:cNvCxnSpPr/>
          <p:nvPr/>
        </p:nvCxnSpPr>
        <p:spPr>
          <a:xfrm flipV="1">
            <a:off x="6224057" y="3618759"/>
            <a:ext cx="0" cy="250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077DA12F-3B88-4CA4-8FFF-20CA33725BC7}"/>
              </a:ext>
            </a:extLst>
          </p:cNvPr>
          <p:cNvCxnSpPr/>
          <p:nvPr/>
        </p:nvCxnSpPr>
        <p:spPr>
          <a:xfrm flipV="1">
            <a:off x="6224057" y="4132945"/>
            <a:ext cx="0" cy="220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左大括号 153">
            <a:extLst>
              <a:ext uri="{FF2B5EF4-FFF2-40B4-BE49-F238E27FC236}">
                <a16:creationId xmlns:a16="http://schemas.microsoft.com/office/drawing/2014/main" id="{CEEBF91E-D14D-4DB5-A649-FAEEDE5F7E54}"/>
              </a:ext>
            </a:extLst>
          </p:cNvPr>
          <p:cNvSpPr/>
          <p:nvPr/>
        </p:nvSpPr>
        <p:spPr>
          <a:xfrm>
            <a:off x="4914657" y="2928903"/>
            <a:ext cx="462718" cy="174441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0">
              <a:latin typeface="+mn-ea"/>
            </a:endParaRPr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5DB4D310-65FB-4F8D-9F35-871E1C6EABE6}"/>
              </a:ext>
            </a:extLst>
          </p:cNvPr>
          <p:cNvSpPr txBox="1"/>
          <p:nvPr/>
        </p:nvSpPr>
        <p:spPr>
          <a:xfrm>
            <a:off x="4555120" y="3260297"/>
            <a:ext cx="389850" cy="15034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n-ea"/>
              </a:rPr>
              <a:t>组</a:t>
            </a:r>
            <a:endParaRPr lang="en-US" altLang="zh-CN" sz="1600" dirty="0">
              <a:latin typeface="+mn-ea"/>
            </a:endParaRPr>
          </a:p>
          <a:p>
            <a:r>
              <a:rPr lang="zh-CN" altLang="en-US" sz="1600" dirty="0">
                <a:latin typeface="+mn-ea"/>
              </a:rPr>
              <a:t>织</a:t>
            </a:r>
            <a:endParaRPr lang="en-US" altLang="zh-CN" sz="1600" dirty="0">
              <a:latin typeface="+mn-ea"/>
            </a:endParaRPr>
          </a:p>
          <a:p>
            <a:endParaRPr lang="en-US" altLang="zh-CN" sz="1600" dirty="0">
              <a:latin typeface="+mn-ea"/>
            </a:endParaRPr>
          </a:p>
          <a:p>
            <a:r>
              <a:rPr lang="zh-CN" altLang="en-US" sz="1600" dirty="0">
                <a:latin typeface="+mn-ea"/>
              </a:rPr>
              <a:t>个</a:t>
            </a:r>
            <a:endParaRPr lang="en-US" altLang="zh-CN" sz="1600" dirty="0">
              <a:latin typeface="+mn-ea"/>
            </a:endParaRPr>
          </a:p>
          <a:p>
            <a:r>
              <a:rPr lang="zh-CN" altLang="en-US" sz="1600" dirty="0">
                <a:latin typeface="+mn-ea"/>
              </a:rPr>
              <a:t>人</a:t>
            </a: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01F6286D-40B6-4628-8731-8EAA0BDDB31F}"/>
              </a:ext>
            </a:extLst>
          </p:cNvPr>
          <p:cNvSpPr txBox="1"/>
          <p:nvPr/>
        </p:nvSpPr>
        <p:spPr>
          <a:xfrm>
            <a:off x="5267275" y="5584076"/>
            <a:ext cx="1415772" cy="5244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C00000"/>
                </a:solidFill>
                <a:latin typeface="+mn-ea"/>
              </a:rPr>
              <a:t>经济绩效</a:t>
            </a:r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DDB43A33-7ED1-4578-91CB-95A45041A980}"/>
              </a:ext>
            </a:extLst>
          </p:cNvPr>
          <p:cNvSpPr txBox="1"/>
          <p:nvPr/>
        </p:nvSpPr>
        <p:spPr>
          <a:xfrm rot="21432446">
            <a:off x="3599209" y="3113751"/>
            <a:ext cx="595035" cy="9440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  <a:latin typeface="+mn-ea"/>
              </a:rPr>
              <a:t>工作</a:t>
            </a:r>
            <a:endParaRPr lang="en-US" altLang="zh-CN" sz="1600" b="1" dirty="0">
              <a:solidFill>
                <a:srgbClr val="C00000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C00000"/>
                </a:solidFill>
                <a:latin typeface="+mn-ea"/>
              </a:rPr>
              <a:t>卓有</a:t>
            </a:r>
            <a:endParaRPr lang="en-US" altLang="zh-CN" sz="1600" b="1" dirty="0">
              <a:solidFill>
                <a:srgbClr val="C00000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C00000"/>
                </a:solidFill>
                <a:latin typeface="+mn-ea"/>
              </a:rPr>
              <a:t>成效</a:t>
            </a:r>
            <a:endParaRPr lang="en-US" altLang="zh-CN" sz="1600" b="1" dirty="0">
              <a:solidFill>
                <a:srgbClr val="C00000"/>
              </a:solidFill>
              <a:latin typeface="+mn-ea"/>
            </a:endParaRPr>
          </a:p>
        </p:txBody>
      </p:sp>
      <p:pic>
        <p:nvPicPr>
          <p:cNvPr id="159" name="Picture 31">
            <a:extLst>
              <a:ext uri="{FF2B5EF4-FFF2-40B4-BE49-F238E27FC236}">
                <a16:creationId xmlns:a16="http://schemas.microsoft.com/office/drawing/2014/main" id="{D3729B7A-A23A-4C11-81DB-85ACA6B26A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97905" y="3675358"/>
            <a:ext cx="749045" cy="4613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0" name="矩形 159">
            <a:extLst>
              <a:ext uri="{FF2B5EF4-FFF2-40B4-BE49-F238E27FC236}">
                <a16:creationId xmlns:a16="http://schemas.microsoft.com/office/drawing/2014/main" id="{E4275D36-0DE4-4767-85EB-C426D852421E}"/>
              </a:ext>
            </a:extLst>
          </p:cNvPr>
          <p:cNvSpPr/>
          <p:nvPr/>
        </p:nvSpPr>
        <p:spPr>
          <a:xfrm>
            <a:off x="4317618" y="6087829"/>
            <a:ext cx="3370153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zh-CN" altLang="en-US" sz="28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5"/>
                </a:solidFill>
                <a:latin typeface="+mn-ea"/>
              </a:rPr>
              <a:t>社会影响与社会责任</a:t>
            </a:r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D9895236-4AEC-4D44-A33F-E70FEA3CA2D8}"/>
              </a:ext>
            </a:extLst>
          </p:cNvPr>
          <p:cNvSpPr/>
          <p:nvPr/>
        </p:nvSpPr>
        <p:spPr>
          <a:xfrm>
            <a:off x="4809623" y="1301610"/>
            <a:ext cx="2190343" cy="684803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zh-CN" altLang="en-US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+mn-ea"/>
              </a:rPr>
              <a:t>创造顾客</a:t>
            </a:r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7527258A-AB05-4ABD-B3BF-CDEE7CD4DC66}"/>
              </a:ext>
            </a:extLst>
          </p:cNvPr>
          <p:cNvSpPr/>
          <p:nvPr/>
        </p:nvSpPr>
        <p:spPr>
          <a:xfrm>
            <a:off x="6208969" y="2076262"/>
            <a:ext cx="1164421" cy="777935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zh-CN" alt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+mn-ea"/>
              </a:rPr>
              <a:t>创新</a:t>
            </a: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1E98B77E-5F19-4847-8B23-454BEF9B5A0B}"/>
              </a:ext>
            </a:extLst>
          </p:cNvPr>
          <p:cNvSpPr/>
          <p:nvPr/>
        </p:nvSpPr>
        <p:spPr>
          <a:xfrm>
            <a:off x="4419946" y="2096300"/>
            <a:ext cx="1164421" cy="777935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zh-CN" alt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+mn-ea"/>
              </a:rPr>
              <a:t>营销</a:t>
            </a:r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A326B26F-D542-4465-80D3-8B5A9A940ABF}"/>
              </a:ext>
            </a:extLst>
          </p:cNvPr>
          <p:cNvSpPr txBox="1"/>
          <p:nvPr/>
        </p:nvSpPr>
        <p:spPr>
          <a:xfrm>
            <a:off x="9136967" y="2579363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+mn-ea"/>
              </a:rPr>
              <a:t>社</a:t>
            </a:r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AF2215EF-3DDC-4E8F-B24E-1E7F29998E53}"/>
              </a:ext>
            </a:extLst>
          </p:cNvPr>
          <p:cNvSpPr txBox="1"/>
          <p:nvPr/>
        </p:nvSpPr>
        <p:spPr>
          <a:xfrm>
            <a:off x="9435691" y="4147803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+mn-ea"/>
              </a:rPr>
              <a:t>会</a:t>
            </a:r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1DB5F3BA-BBE2-4F24-8C1B-55BD00CAEEA0}"/>
              </a:ext>
            </a:extLst>
          </p:cNvPr>
          <p:cNvSpPr txBox="1"/>
          <p:nvPr/>
        </p:nvSpPr>
        <p:spPr>
          <a:xfrm>
            <a:off x="8336498" y="5436671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+mn-ea"/>
              </a:rPr>
              <a:t>生</a:t>
            </a:r>
          </a:p>
        </p:txBody>
      </p:sp>
      <p:sp>
        <p:nvSpPr>
          <p:cNvPr id="167" name="文本框 166">
            <a:extLst>
              <a:ext uri="{FF2B5EF4-FFF2-40B4-BE49-F238E27FC236}">
                <a16:creationId xmlns:a16="http://schemas.microsoft.com/office/drawing/2014/main" id="{825280AA-C4D1-4963-8D20-CE7C772FA320}"/>
              </a:ext>
            </a:extLst>
          </p:cNvPr>
          <p:cNvSpPr txBox="1"/>
          <p:nvPr/>
        </p:nvSpPr>
        <p:spPr>
          <a:xfrm>
            <a:off x="2693200" y="5390996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+mn-ea"/>
              </a:rPr>
              <a:t>态</a:t>
            </a:r>
          </a:p>
        </p:txBody>
      </p:sp>
      <p:sp>
        <p:nvSpPr>
          <p:cNvPr id="168" name="文本框 167">
            <a:extLst>
              <a:ext uri="{FF2B5EF4-FFF2-40B4-BE49-F238E27FC236}">
                <a16:creationId xmlns:a16="http://schemas.microsoft.com/office/drawing/2014/main" id="{D9236A16-1D46-4D4C-925F-C83A4582C5C0}"/>
              </a:ext>
            </a:extLst>
          </p:cNvPr>
          <p:cNvSpPr txBox="1"/>
          <p:nvPr/>
        </p:nvSpPr>
        <p:spPr>
          <a:xfrm>
            <a:off x="1547104" y="4113705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+mn-ea"/>
              </a:rPr>
              <a:t>环</a:t>
            </a:r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A24BC42D-DD16-44BB-A3FB-CF6CA581C300}"/>
              </a:ext>
            </a:extLst>
          </p:cNvPr>
          <p:cNvSpPr txBox="1"/>
          <p:nvPr/>
        </p:nvSpPr>
        <p:spPr>
          <a:xfrm>
            <a:off x="1848511" y="2674322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+mn-ea"/>
              </a:rPr>
              <a:t>境</a:t>
            </a:r>
          </a:p>
        </p:txBody>
      </p:sp>
      <p:sp>
        <p:nvSpPr>
          <p:cNvPr id="170" name="右箭头 21">
            <a:extLst>
              <a:ext uri="{FF2B5EF4-FFF2-40B4-BE49-F238E27FC236}">
                <a16:creationId xmlns:a16="http://schemas.microsoft.com/office/drawing/2014/main" id="{95677C1A-5AD6-418E-B0BF-3F44C89333A0}"/>
              </a:ext>
            </a:extLst>
          </p:cNvPr>
          <p:cNvSpPr/>
          <p:nvPr/>
        </p:nvSpPr>
        <p:spPr>
          <a:xfrm>
            <a:off x="7561675" y="2202407"/>
            <a:ext cx="836944" cy="281010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71" name="右箭头 51">
            <a:extLst>
              <a:ext uri="{FF2B5EF4-FFF2-40B4-BE49-F238E27FC236}">
                <a16:creationId xmlns:a16="http://schemas.microsoft.com/office/drawing/2014/main" id="{0D3DE51B-FDA4-4939-AB77-F0C4A8B55828}"/>
              </a:ext>
            </a:extLst>
          </p:cNvPr>
          <p:cNvSpPr/>
          <p:nvPr/>
        </p:nvSpPr>
        <p:spPr>
          <a:xfrm>
            <a:off x="3387729" y="2545495"/>
            <a:ext cx="836944" cy="281010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72" name="右箭头 54">
            <a:extLst>
              <a:ext uri="{FF2B5EF4-FFF2-40B4-BE49-F238E27FC236}">
                <a16:creationId xmlns:a16="http://schemas.microsoft.com/office/drawing/2014/main" id="{9A2FF16C-8915-4C3A-9D4E-AA83A833ECA0}"/>
              </a:ext>
            </a:extLst>
          </p:cNvPr>
          <p:cNvSpPr/>
          <p:nvPr/>
        </p:nvSpPr>
        <p:spPr>
          <a:xfrm flipH="1">
            <a:off x="7527128" y="2490346"/>
            <a:ext cx="871491" cy="281010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73" name="右箭头 56">
            <a:extLst>
              <a:ext uri="{FF2B5EF4-FFF2-40B4-BE49-F238E27FC236}">
                <a16:creationId xmlns:a16="http://schemas.microsoft.com/office/drawing/2014/main" id="{4EC85BAF-24DB-4BBF-9E93-84E04301DD1B}"/>
              </a:ext>
            </a:extLst>
          </p:cNvPr>
          <p:cNvSpPr/>
          <p:nvPr/>
        </p:nvSpPr>
        <p:spPr>
          <a:xfrm flipH="1">
            <a:off x="3330404" y="2252692"/>
            <a:ext cx="871491" cy="281010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74" name="上箭头 23">
            <a:extLst>
              <a:ext uri="{FF2B5EF4-FFF2-40B4-BE49-F238E27FC236}">
                <a16:creationId xmlns:a16="http://schemas.microsoft.com/office/drawing/2014/main" id="{F764078D-CEDF-457F-AC0F-769782D1E685}"/>
              </a:ext>
            </a:extLst>
          </p:cNvPr>
          <p:cNvSpPr/>
          <p:nvPr/>
        </p:nvSpPr>
        <p:spPr>
          <a:xfrm>
            <a:off x="5765635" y="1935373"/>
            <a:ext cx="350209" cy="93044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AA5E1FED-5C0A-4C7B-A37E-FD04DD93A95D}"/>
              </a:ext>
            </a:extLst>
          </p:cNvPr>
          <p:cNvSpPr txBox="1"/>
          <p:nvPr/>
        </p:nvSpPr>
        <p:spPr>
          <a:xfrm>
            <a:off x="7752321" y="3099816"/>
            <a:ext cx="5950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  <a:latin typeface="+mn-ea"/>
              </a:rPr>
              <a:t>员工</a:t>
            </a:r>
            <a:endParaRPr lang="en-US" altLang="zh-CN" sz="1600" b="1" dirty="0">
              <a:solidFill>
                <a:srgbClr val="C00000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C00000"/>
                </a:solidFill>
                <a:latin typeface="+mn-ea"/>
              </a:rPr>
              <a:t>自我</a:t>
            </a:r>
            <a:endParaRPr lang="en-US" altLang="zh-CN" sz="1600" b="1" dirty="0">
              <a:solidFill>
                <a:srgbClr val="C00000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C00000"/>
                </a:solidFill>
                <a:latin typeface="+mn-ea"/>
              </a:rPr>
              <a:t>实现</a:t>
            </a:r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E0963313-C164-4470-9F5D-A568D7A49984}"/>
              </a:ext>
            </a:extLst>
          </p:cNvPr>
          <p:cNvSpPr txBox="1"/>
          <p:nvPr/>
        </p:nvSpPr>
        <p:spPr>
          <a:xfrm>
            <a:off x="8295889" y="4488098"/>
            <a:ext cx="543739" cy="59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7030A0"/>
                </a:solidFill>
                <a:latin typeface="+mn-ea"/>
              </a:rPr>
              <a:t>业</a:t>
            </a: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1062C5A3-43A5-4391-AEF5-0DC6E272A810}"/>
              </a:ext>
            </a:extLst>
          </p:cNvPr>
          <p:cNvSpPr txBox="1"/>
          <p:nvPr/>
        </p:nvSpPr>
        <p:spPr>
          <a:xfrm>
            <a:off x="4489327" y="4826083"/>
            <a:ext cx="543739" cy="59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+mn-ea"/>
              </a:rPr>
              <a:t>态</a:t>
            </a: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837E1BB8-07AE-4684-BEE3-0A4CDB33D2B9}"/>
              </a:ext>
            </a:extLst>
          </p:cNvPr>
          <p:cNvSpPr txBox="1"/>
          <p:nvPr/>
        </p:nvSpPr>
        <p:spPr>
          <a:xfrm>
            <a:off x="3697886" y="5136780"/>
            <a:ext cx="543739" cy="59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7030A0"/>
                </a:solidFill>
                <a:latin typeface="+mn-ea"/>
              </a:rPr>
              <a:t>态</a:t>
            </a:r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82DE12AD-7E20-4D90-A752-B5976D47FF34}"/>
              </a:ext>
            </a:extLst>
          </p:cNvPr>
          <p:cNvSpPr txBox="1"/>
          <p:nvPr/>
        </p:nvSpPr>
        <p:spPr>
          <a:xfrm>
            <a:off x="2890938" y="4478965"/>
            <a:ext cx="543739" cy="59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7030A0"/>
                </a:solidFill>
                <a:latin typeface="+mn-ea"/>
              </a:rPr>
              <a:t>环</a:t>
            </a:r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7A949A81-CC16-4F92-8E45-566FC824E4F5}"/>
              </a:ext>
            </a:extLst>
          </p:cNvPr>
          <p:cNvSpPr txBox="1"/>
          <p:nvPr/>
        </p:nvSpPr>
        <p:spPr>
          <a:xfrm>
            <a:off x="2430256" y="3547968"/>
            <a:ext cx="543739" cy="59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7030A0"/>
                </a:solidFill>
                <a:latin typeface="+mn-ea"/>
              </a:rPr>
              <a:t>境</a:t>
            </a:r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FED9962D-C98E-464B-82A5-5988ECF6BBD4}"/>
              </a:ext>
            </a:extLst>
          </p:cNvPr>
          <p:cNvSpPr txBox="1"/>
          <p:nvPr/>
        </p:nvSpPr>
        <p:spPr>
          <a:xfrm>
            <a:off x="7844055" y="3934317"/>
            <a:ext cx="492443" cy="5244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+mn-ea"/>
              </a:rPr>
              <a:t>个</a:t>
            </a: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763FECA0-B0D6-4176-868E-FCB49CAF32FF}"/>
              </a:ext>
            </a:extLst>
          </p:cNvPr>
          <p:cNvSpPr txBox="1"/>
          <p:nvPr/>
        </p:nvSpPr>
        <p:spPr>
          <a:xfrm>
            <a:off x="7413977" y="4548789"/>
            <a:ext cx="492443" cy="5244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+mn-ea"/>
              </a:rPr>
              <a:t>人</a:t>
            </a:r>
          </a:p>
        </p:txBody>
      </p:sp>
      <p:sp>
        <p:nvSpPr>
          <p:cNvPr id="183" name="文本框 182">
            <a:extLst>
              <a:ext uri="{FF2B5EF4-FFF2-40B4-BE49-F238E27FC236}">
                <a16:creationId xmlns:a16="http://schemas.microsoft.com/office/drawing/2014/main" id="{465B7D7D-358F-4CF3-8638-0A97F462EA6E}"/>
              </a:ext>
            </a:extLst>
          </p:cNvPr>
          <p:cNvSpPr txBox="1"/>
          <p:nvPr/>
        </p:nvSpPr>
        <p:spPr>
          <a:xfrm>
            <a:off x="6878672" y="4848561"/>
            <a:ext cx="492443" cy="5244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+mn-ea"/>
              </a:rPr>
              <a:t>生</a:t>
            </a:r>
          </a:p>
        </p:txBody>
      </p:sp>
      <p:sp>
        <p:nvSpPr>
          <p:cNvPr id="184" name="文本框 183">
            <a:extLst>
              <a:ext uri="{FF2B5EF4-FFF2-40B4-BE49-F238E27FC236}">
                <a16:creationId xmlns:a16="http://schemas.microsoft.com/office/drawing/2014/main" id="{04BCDAAB-A210-4363-BA3D-F13958425BCC}"/>
              </a:ext>
            </a:extLst>
          </p:cNvPr>
          <p:cNvSpPr txBox="1"/>
          <p:nvPr/>
        </p:nvSpPr>
        <p:spPr>
          <a:xfrm>
            <a:off x="3441234" y="3889205"/>
            <a:ext cx="492443" cy="5244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+mn-ea"/>
              </a:rPr>
              <a:t>境</a:t>
            </a: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39527E43-DFEB-4078-9115-4B8FA6D676CB}"/>
              </a:ext>
            </a:extLst>
          </p:cNvPr>
          <p:cNvSpPr txBox="1"/>
          <p:nvPr/>
        </p:nvSpPr>
        <p:spPr>
          <a:xfrm>
            <a:off x="3862905" y="4495153"/>
            <a:ext cx="492443" cy="5244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+mn-ea"/>
              </a:rPr>
              <a:t>环</a:t>
            </a:r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10B08506-4E0D-406A-95D6-B7F8F0223911}"/>
              </a:ext>
            </a:extLst>
          </p:cNvPr>
          <p:cNvSpPr txBox="1"/>
          <p:nvPr/>
        </p:nvSpPr>
        <p:spPr>
          <a:xfrm>
            <a:off x="7406163" y="5148920"/>
            <a:ext cx="543739" cy="59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7030A0"/>
                </a:solidFill>
                <a:latin typeface="+mn-ea"/>
              </a:rPr>
              <a:t>生</a:t>
            </a:r>
          </a:p>
        </p:txBody>
      </p:sp>
      <p:sp>
        <p:nvSpPr>
          <p:cNvPr id="187" name="文本框 186">
            <a:extLst>
              <a:ext uri="{FF2B5EF4-FFF2-40B4-BE49-F238E27FC236}">
                <a16:creationId xmlns:a16="http://schemas.microsoft.com/office/drawing/2014/main" id="{DA26956D-26FC-4555-A285-224149C0F3DC}"/>
              </a:ext>
            </a:extLst>
          </p:cNvPr>
          <p:cNvSpPr txBox="1"/>
          <p:nvPr/>
        </p:nvSpPr>
        <p:spPr>
          <a:xfrm>
            <a:off x="8560627" y="3561429"/>
            <a:ext cx="543739" cy="594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7030A0"/>
                </a:solidFill>
                <a:latin typeface="+mn-ea"/>
              </a:rPr>
              <a:t>企</a:t>
            </a:r>
          </a:p>
        </p:txBody>
      </p:sp>
      <p:sp>
        <p:nvSpPr>
          <p:cNvPr id="188" name="文本框 187">
            <a:extLst>
              <a:ext uri="{FF2B5EF4-FFF2-40B4-BE49-F238E27FC236}">
                <a16:creationId xmlns:a16="http://schemas.microsoft.com/office/drawing/2014/main" id="{FD5E86E9-7135-4BB3-98A9-6B9D67D20365}"/>
              </a:ext>
            </a:extLst>
          </p:cNvPr>
          <p:cNvSpPr txBox="1"/>
          <p:nvPr/>
        </p:nvSpPr>
        <p:spPr>
          <a:xfrm>
            <a:off x="5429560" y="4720307"/>
            <a:ext cx="1042593" cy="323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+mn-ea"/>
              </a:rPr>
              <a:t>八项目标</a:t>
            </a:r>
          </a:p>
        </p:txBody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id="{A62C09CC-5058-4D64-B604-97637459393D}"/>
              </a:ext>
            </a:extLst>
          </p:cNvPr>
          <p:cNvSpPr txBox="1"/>
          <p:nvPr/>
        </p:nvSpPr>
        <p:spPr>
          <a:xfrm>
            <a:off x="5371145" y="3297199"/>
            <a:ext cx="1005403" cy="3845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+mn-ea"/>
              </a:rPr>
              <a:t>经营之道</a:t>
            </a: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205BE7EF-164F-4983-A9CF-D695B19D8098}"/>
              </a:ext>
            </a:extLst>
          </p:cNvPr>
          <p:cNvSpPr txBox="1"/>
          <p:nvPr/>
        </p:nvSpPr>
        <p:spPr>
          <a:xfrm>
            <a:off x="5415604" y="3824221"/>
            <a:ext cx="1005403" cy="3845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+mn-ea"/>
              </a:rPr>
              <a:t>长期目标</a:t>
            </a:r>
          </a:p>
        </p:txBody>
      </p:sp>
      <p:cxnSp>
        <p:nvCxnSpPr>
          <p:cNvPr id="220" name="直接箭头连接符 219">
            <a:extLst>
              <a:ext uri="{FF2B5EF4-FFF2-40B4-BE49-F238E27FC236}">
                <a16:creationId xmlns:a16="http://schemas.microsoft.com/office/drawing/2014/main" id="{748913F3-322F-448F-8626-0195F242AC3A}"/>
              </a:ext>
            </a:extLst>
          </p:cNvPr>
          <p:cNvCxnSpPr/>
          <p:nvPr/>
        </p:nvCxnSpPr>
        <p:spPr>
          <a:xfrm>
            <a:off x="5719184" y="3633473"/>
            <a:ext cx="0" cy="23544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箭头连接符 220">
            <a:extLst>
              <a:ext uri="{FF2B5EF4-FFF2-40B4-BE49-F238E27FC236}">
                <a16:creationId xmlns:a16="http://schemas.microsoft.com/office/drawing/2014/main" id="{D4F69672-5F7B-4CDD-9929-18B6D745AD5B}"/>
              </a:ext>
            </a:extLst>
          </p:cNvPr>
          <p:cNvCxnSpPr>
            <a:cxnSpLocks/>
          </p:cNvCxnSpPr>
          <p:nvPr/>
        </p:nvCxnSpPr>
        <p:spPr>
          <a:xfrm>
            <a:off x="4733906" y="3734145"/>
            <a:ext cx="0" cy="23544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接箭头连接符 224">
            <a:extLst>
              <a:ext uri="{FF2B5EF4-FFF2-40B4-BE49-F238E27FC236}">
                <a16:creationId xmlns:a16="http://schemas.microsoft.com/office/drawing/2014/main" id="{A5339634-AB3E-4346-B841-8F255849B9A2}"/>
              </a:ext>
            </a:extLst>
          </p:cNvPr>
          <p:cNvCxnSpPr/>
          <p:nvPr/>
        </p:nvCxnSpPr>
        <p:spPr>
          <a:xfrm flipV="1">
            <a:off x="6205985" y="4533775"/>
            <a:ext cx="0" cy="229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文本框 225">
            <a:extLst>
              <a:ext uri="{FF2B5EF4-FFF2-40B4-BE49-F238E27FC236}">
                <a16:creationId xmlns:a16="http://schemas.microsoft.com/office/drawing/2014/main" id="{E2C688F8-3AD5-4037-BDC7-336AA6F33203}"/>
              </a:ext>
            </a:extLst>
          </p:cNvPr>
          <p:cNvSpPr txBox="1"/>
          <p:nvPr/>
        </p:nvSpPr>
        <p:spPr>
          <a:xfrm>
            <a:off x="5466750" y="4326889"/>
            <a:ext cx="1005403" cy="323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+mn-ea"/>
              </a:rPr>
              <a:t>五项工作</a:t>
            </a:r>
          </a:p>
        </p:txBody>
      </p:sp>
      <p:cxnSp>
        <p:nvCxnSpPr>
          <p:cNvPr id="227" name="直接箭头连接符 226">
            <a:extLst>
              <a:ext uri="{FF2B5EF4-FFF2-40B4-BE49-F238E27FC236}">
                <a16:creationId xmlns:a16="http://schemas.microsoft.com/office/drawing/2014/main" id="{6D985638-95D6-4C1A-98C3-646FF6C90472}"/>
              </a:ext>
            </a:extLst>
          </p:cNvPr>
          <p:cNvCxnSpPr/>
          <p:nvPr/>
        </p:nvCxnSpPr>
        <p:spPr>
          <a:xfrm>
            <a:off x="5701112" y="4547303"/>
            <a:ext cx="0" cy="21649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76F9609B-9862-4AFA-9AF7-E747B7C80E93}"/>
              </a:ext>
            </a:extLst>
          </p:cNvPr>
          <p:cNvSpPr txBox="1"/>
          <p:nvPr/>
        </p:nvSpPr>
        <p:spPr>
          <a:xfrm>
            <a:off x="4576693" y="2349267"/>
            <a:ext cx="2400761" cy="3170099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zh-CN" altLang="en-US" sz="20000" dirty="0">
                <a:solidFill>
                  <a:schemeClr val="tx1">
                    <a:alpha val="11000"/>
                  </a:schemeClr>
                </a:solidFill>
              </a:rPr>
              <a:t>人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7D89571F-3616-4B3A-A895-084667A75B4B}"/>
              </a:ext>
            </a:extLst>
          </p:cNvPr>
          <p:cNvSpPr txBox="1"/>
          <p:nvPr/>
        </p:nvSpPr>
        <p:spPr>
          <a:xfrm rot="2163168">
            <a:off x="597648" y="5725919"/>
            <a:ext cx="19800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员工不是雇员，</a:t>
            </a:r>
            <a:endParaRPr lang="en-US" altLang="zh-CN" sz="2000" dirty="0"/>
          </a:p>
          <a:p>
            <a:r>
              <a:rPr lang="zh-CN" altLang="en-US" sz="2000" dirty="0"/>
              <a:t>是合作伙伴</a:t>
            </a:r>
          </a:p>
        </p:txBody>
      </p:sp>
      <p:sp>
        <p:nvSpPr>
          <p:cNvPr id="62" name="圆角矩形 5">
            <a:extLst>
              <a:ext uri="{FF2B5EF4-FFF2-40B4-BE49-F238E27FC236}">
                <a16:creationId xmlns:a16="http://schemas.microsoft.com/office/drawing/2014/main" id="{7969CFF3-7E12-45C6-BFF9-099C2D7EB5DF}"/>
              </a:ext>
            </a:extLst>
          </p:cNvPr>
          <p:cNvSpPr/>
          <p:nvPr/>
        </p:nvSpPr>
        <p:spPr>
          <a:xfrm>
            <a:off x="365760" y="1142600"/>
            <a:ext cx="11453167" cy="5609074"/>
          </a:xfrm>
          <a:prstGeom prst="round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ea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3E82F888-D348-48AF-9DF7-BC7B5DC39131}"/>
              </a:ext>
            </a:extLst>
          </p:cNvPr>
          <p:cNvSpPr txBox="1"/>
          <p:nvPr/>
        </p:nvSpPr>
        <p:spPr>
          <a:xfrm rot="19909195">
            <a:off x="935492" y="153980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知识社会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D3D3EA5D-F43C-4DE3-B2C7-CB11FCA19CB9}"/>
              </a:ext>
            </a:extLst>
          </p:cNvPr>
          <p:cNvSpPr txBox="1"/>
          <p:nvPr/>
        </p:nvSpPr>
        <p:spPr>
          <a:xfrm rot="1852536">
            <a:off x="9503689" y="1708860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知识工作生产力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336F70EB-0BC0-49A8-8B99-53AA3D8C5A1A}"/>
              </a:ext>
            </a:extLst>
          </p:cNvPr>
          <p:cNvSpPr txBox="1"/>
          <p:nvPr/>
        </p:nvSpPr>
        <p:spPr>
          <a:xfrm>
            <a:off x="465497" y="3280699"/>
            <a:ext cx="95410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知识是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资产，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不是</a:t>
            </a:r>
            <a:endParaRPr lang="en-US" altLang="zh-CN" sz="2000" dirty="0">
              <a:latin typeface="+mn-ea"/>
            </a:endParaRPr>
          </a:p>
          <a:p>
            <a:r>
              <a:rPr lang="zh-CN" altLang="en-US" sz="2000" dirty="0">
                <a:latin typeface="+mn-ea"/>
              </a:rPr>
              <a:t>成本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3005AF44-367E-4A1D-B40D-4BCDDBC96A2B}"/>
              </a:ext>
            </a:extLst>
          </p:cNvPr>
          <p:cNvSpPr txBox="1"/>
          <p:nvPr/>
        </p:nvSpPr>
        <p:spPr>
          <a:xfrm>
            <a:off x="10708912" y="3263304"/>
            <a:ext cx="11349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知识的运用产生生产力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D6429060-319D-49B3-B44D-635805AA13BF}"/>
              </a:ext>
            </a:extLst>
          </p:cNvPr>
          <p:cNvSpPr txBox="1"/>
          <p:nvPr/>
        </p:nvSpPr>
        <p:spPr>
          <a:xfrm>
            <a:off x="9582227" y="5877310"/>
            <a:ext cx="17235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latin typeface="+mn-ea"/>
              </a:rPr>
              <a:t>知识工作者</a:t>
            </a:r>
            <a:endParaRPr lang="en-US" altLang="zh-CN" sz="2000" dirty="0">
              <a:latin typeface="+mn-ea"/>
            </a:endParaRPr>
          </a:p>
          <a:p>
            <a:pPr algn="ctr"/>
            <a:r>
              <a:rPr lang="zh-CN" altLang="en-US" sz="2000" dirty="0">
                <a:latin typeface="+mn-ea"/>
              </a:rPr>
              <a:t>必须自我管理</a:t>
            </a:r>
          </a:p>
        </p:txBody>
      </p:sp>
    </p:spTree>
    <p:extLst>
      <p:ext uri="{BB962C8B-B14F-4D97-AF65-F5344CB8AC3E}">
        <p14:creationId xmlns:p14="http://schemas.microsoft.com/office/powerpoint/2010/main" val="896135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文本占位符 1">
            <a:extLst>
              <a:ext uri="{FF2B5EF4-FFF2-40B4-BE49-F238E27FC236}">
                <a16:creationId xmlns:a16="http://schemas.microsoft.com/office/drawing/2014/main" id="{B998C069-E647-4048-AADD-83498D093A33}"/>
              </a:ext>
            </a:extLst>
          </p:cNvPr>
          <p:cNvSpPr txBox="1">
            <a:spLocks/>
          </p:cNvSpPr>
          <p:nvPr/>
        </p:nvSpPr>
        <p:spPr>
          <a:xfrm>
            <a:off x="0" y="379642"/>
            <a:ext cx="12191999" cy="362404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latin typeface="+mn-ea"/>
              </a:rPr>
              <a:t>德鲁克管理专栏：</a:t>
            </a:r>
            <a:r>
              <a:rPr lang="en-US" altLang="zh-CN" b="1" dirty="0">
                <a:latin typeface="+mn-ea"/>
              </a:rPr>
              <a:t>Q&amp;A</a:t>
            </a:r>
            <a:endParaRPr lang="zh-CN" altLang="en-US" b="1" dirty="0">
              <a:latin typeface="+mn-ea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B22F5747-0CC5-418B-AC66-03C429A383F1}"/>
              </a:ext>
            </a:extLst>
          </p:cNvPr>
          <p:cNvSpPr txBox="1"/>
          <p:nvPr/>
        </p:nvSpPr>
        <p:spPr>
          <a:xfrm>
            <a:off x="1168400" y="1337588"/>
            <a:ext cx="10223500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33CC"/>
                </a:solidFill>
              </a:rPr>
              <a:t>Jasmine Zhang</a:t>
            </a:r>
          </a:p>
          <a:p>
            <a:endParaRPr lang="en-US" altLang="zh-CN" sz="1600" b="1" dirty="0">
              <a:solidFill>
                <a:srgbClr val="0033CC"/>
              </a:solidFill>
            </a:endParaRPr>
          </a:p>
          <a:p>
            <a:r>
              <a:rPr lang="en-US" altLang="zh-CN" sz="1600" b="1" dirty="0">
                <a:solidFill>
                  <a:srgbClr val="0033CC"/>
                </a:solidFill>
              </a:rPr>
              <a:t> </a:t>
            </a:r>
            <a:r>
              <a:rPr lang="zh-CN" altLang="en-US" sz="1600" b="1" dirty="0">
                <a:solidFill>
                  <a:srgbClr val="0033CC"/>
                </a:solidFill>
              </a:rPr>
              <a:t>对于管理这个题目，多数组织想要集各家思维。作为咨询者，你如何说服客户他的组织需要你的德鲁克管理思维</a:t>
            </a:r>
            <a:r>
              <a:rPr lang="zh-CN" altLang="en-US" sz="1600" dirty="0">
                <a:solidFill>
                  <a:srgbClr val="0033CC"/>
                </a:solidFill>
              </a:rPr>
              <a:t>？</a:t>
            </a:r>
            <a:endParaRPr lang="en-US" altLang="zh-CN" sz="1600" dirty="0">
              <a:solidFill>
                <a:srgbClr val="0033CC"/>
              </a:solidFill>
            </a:endParaRPr>
          </a:p>
          <a:p>
            <a:endParaRPr lang="en-US" altLang="zh-CN" sz="1600" dirty="0"/>
          </a:p>
          <a:p>
            <a:r>
              <a:rPr lang="zh-CN" altLang="en-US" sz="2400" b="1" dirty="0"/>
              <a:t>赵隆兵 </a:t>
            </a:r>
            <a:endParaRPr lang="en-US" altLang="zh-CN" sz="2400" b="1" dirty="0"/>
          </a:p>
          <a:p>
            <a:endParaRPr lang="en-US" altLang="zh-CN" sz="1600" dirty="0"/>
          </a:p>
          <a:p>
            <a:r>
              <a:rPr lang="zh-CN" altLang="en-US" sz="1600" dirty="0"/>
              <a:t>如何让每个员工感知并且执行所在企业管理的理念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en-US" altLang="zh-CN" sz="2400" b="1" dirty="0"/>
              <a:t>Long </a:t>
            </a:r>
          </a:p>
          <a:p>
            <a:endParaRPr lang="en-US" altLang="zh-CN" sz="1600" dirty="0"/>
          </a:p>
          <a:p>
            <a:r>
              <a:rPr lang="zh-CN" altLang="en-US" sz="1600" dirty="0"/>
              <a:t>德鲁克的主要观点有哪些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en-US" altLang="zh-CN" sz="1600" b="1" dirty="0"/>
              <a:t> </a:t>
            </a:r>
            <a:r>
              <a:rPr lang="zh-CN" altLang="en-US" sz="1600" b="1" dirty="0"/>
              <a:t>陈峰 </a:t>
            </a:r>
            <a:endParaRPr lang="en-US" altLang="zh-CN" sz="1600" b="1" dirty="0"/>
          </a:p>
          <a:p>
            <a:endParaRPr lang="en-US" altLang="zh-CN" sz="1600" dirty="0"/>
          </a:p>
          <a:p>
            <a:r>
              <a:rPr lang="zh-CN" altLang="en-US" sz="1600" dirty="0"/>
              <a:t>德鲁克的观念有哪些不适合中国国企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b="1" dirty="0"/>
              <a:t>杨洪飞 </a:t>
            </a:r>
            <a:endParaRPr lang="en-US" altLang="zh-CN" sz="1600" b="1" dirty="0"/>
          </a:p>
          <a:p>
            <a:endParaRPr lang="en-US" altLang="zh-CN" sz="1600" dirty="0"/>
          </a:p>
          <a:p>
            <a:r>
              <a:rPr lang="zh-CN" altLang="en-US" sz="1600" dirty="0"/>
              <a:t>德鲁克的管理思想怎么落实到企业经营管理中，跟企业管理相悖，怎么化干戈为玉帛。</a:t>
            </a:r>
          </a:p>
        </p:txBody>
      </p:sp>
    </p:spTree>
    <p:extLst>
      <p:ext uri="{BB962C8B-B14F-4D97-AF65-F5344CB8AC3E}">
        <p14:creationId xmlns:p14="http://schemas.microsoft.com/office/powerpoint/2010/main" val="988248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文本占位符 1">
            <a:extLst>
              <a:ext uri="{FF2B5EF4-FFF2-40B4-BE49-F238E27FC236}">
                <a16:creationId xmlns:a16="http://schemas.microsoft.com/office/drawing/2014/main" id="{B998C069-E647-4048-AADD-83498D093A33}"/>
              </a:ext>
            </a:extLst>
          </p:cNvPr>
          <p:cNvSpPr txBox="1">
            <a:spLocks/>
          </p:cNvSpPr>
          <p:nvPr/>
        </p:nvSpPr>
        <p:spPr>
          <a:xfrm>
            <a:off x="0" y="379642"/>
            <a:ext cx="12191999" cy="362404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latin typeface="+mn-ea"/>
              </a:rPr>
              <a:t>德鲁克管理专栏：德鲁克思想与其他思想的关系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FBC3268-FB0D-42D3-A890-D31835117A21}"/>
              </a:ext>
            </a:extLst>
          </p:cNvPr>
          <p:cNvSpPr txBox="1"/>
          <p:nvPr/>
        </p:nvSpPr>
        <p:spPr>
          <a:xfrm>
            <a:off x="261256" y="1301859"/>
            <a:ext cx="1177834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Jasmine Zhang</a:t>
            </a:r>
          </a:p>
          <a:p>
            <a:endParaRPr lang="en-US" altLang="zh-CN" sz="1600" dirty="0"/>
          </a:p>
          <a:p>
            <a:r>
              <a:rPr lang="en-US" altLang="zh-CN" sz="1600" dirty="0"/>
              <a:t> </a:t>
            </a:r>
            <a:r>
              <a:rPr lang="zh-CN" altLang="en-US" sz="1600" dirty="0"/>
              <a:t>对于管理这个题目，多数组织想要集各家思维。作为咨询者，你如何说服客户他的组织需要你的德鲁克管理思维？</a:t>
            </a:r>
            <a:endParaRPr lang="en-US" altLang="zh-CN" sz="16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8BE6D38-3AC9-4D62-B3E1-FD8A96D8A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252" y="2445920"/>
            <a:ext cx="1690891" cy="1886400"/>
          </a:xfrm>
          <a:prstGeom prst="rect">
            <a:avLst/>
          </a:prstGeom>
        </p:spPr>
      </p:pic>
      <p:pic>
        <p:nvPicPr>
          <p:cNvPr id="7" name="Picture 2" descr="https://timgsa.baidu.com/timg?image&amp;quality=80&amp;size=b9999_10000&amp;sec=1556430112464&amp;di=35a29fbb3d9d5f16013e9c11a06de47d&amp;imgtype=0&amp;src=http%3A%2F%2Fpic.baike.soso.com%2Fp%2F20140710%2Fbki-20140710153402-2121486185.jpg">
            <a:extLst>
              <a:ext uri="{FF2B5EF4-FFF2-40B4-BE49-F238E27FC236}">
                <a16:creationId xmlns:a16="http://schemas.microsoft.com/office/drawing/2014/main" id="{737F5040-C5DA-4E7B-B294-281CAD6DE8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26" y="4591957"/>
            <a:ext cx="1690891" cy="1886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ttps://timgsa.baidu.com/timg?image&amp;quality=80&amp;size=b9999_10000&amp;sec=1556430170070&amp;di=60fffb0f8ca9f052f7e167494bf43883&amp;imgtype=0&amp;src=http%3A%2F%2Fmmbiz.qpic.cn%2Fmmbiz_jpg%2F25J7oIwLAymZibDTljOnd6L7kR6buCLDOpLFLEGIcXoG2ribufyyGPLB3JQD6SVWXibPQuavCmglZt1mGVPcyibLrg%2F640%3Fwx_fmt%3Djpeg">
            <a:extLst>
              <a:ext uri="{FF2B5EF4-FFF2-40B4-BE49-F238E27FC236}">
                <a16:creationId xmlns:a16="http://schemas.microsoft.com/office/drawing/2014/main" id="{3F7574A2-DE17-423E-B464-12E3D2149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26" y="2445921"/>
            <a:ext cx="1690891" cy="18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https://timgsa.baidu.com/timg?image&amp;quality=80&amp;size=b9999_10000&amp;sec=1556430215342&amp;di=926d679d937d409eb70da62373312d37&amp;imgtype=0&amp;src=http%3A%2F%2Fc.hiphotos.baidu.com%2Fbaike%2Fwhfpf%3D250%2C250%2C0%2Fsign%3D7398b2bdf103738dde1f5f62d5268264%2F738b4710b912c8fc09573bd0fb039245d6882103.jpg">
            <a:extLst>
              <a:ext uri="{FF2B5EF4-FFF2-40B4-BE49-F238E27FC236}">
                <a16:creationId xmlns:a16="http://schemas.microsoft.com/office/drawing/2014/main" id="{A1C617A5-123A-459B-9E83-5C4D578E6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8143" y="4591958"/>
            <a:ext cx="1690891" cy="18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80B8DAB-B020-40AC-A157-24A83508D9BA}"/>
              </a:ext>
            </a:extLst>
          </p:cNvPr>
          <p:cNvSpPr txBox="1"/>
          <p:nvPr/>
        </p:nvSpPr>
        <p:spPr>
          <a:xfrm>
            <a:off x="4462068" y="3055047"/>
            <a:ext cx="732353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如果说我是市场营销之父，</a:t>
            </a:r>
            <a:endParaRPr lang="en-US" altLang="zh-CN" sz="3200" dirty="0"/>
          </a:p>
          <a:p>
            <a:endParaRPr lang="en-US" altLang="zh-CN" sz="3200" dirty="0"/>
          </a:p>
          <a:p>
            <a:r>
              <a:rPr lang="zh-CN" altLang="en-US" sz="3200" dirty="0"/>
              <a:t>那么德鲁克是市场营销的祖父</a:t>
            </a:r>
            <a:endParaRPr lang="en-US" altLang="zh-CN" sz="3200" dirty="0"/>
          </a:p>
          <a:p>
            <a:endParaRPr lang="en-US" altLang="zh-CN" sz="3200" dirty="0"/>
          </a:p>
          <a:p>
            <a:pPr algn="r"/>
            <a:r>
              <a:rPr lang="zh-CN" altLang="en-US" sz="3200" dirty="0"/>
              <a:t>菲利普科特勒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2238953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B3D4D2A-45C7-4F7B-91D1-08DF76A1F4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德鲁克管理专栏</a:t>
            </a:r>
            <a:r>
              <a:rPr lang="en-US" altLang="zh-CN" dirty="0"/>
              <a:t>-</a:t>
            </a:r>
            <a:r>
              <a:rPr lang="zh-CN" altLang="en-US" dirty="0"/>
              <a:t>德鲁克</a:t>
            </a:r>
            <a:r>
              <a:rPr lang="en-US" altLang="zh-CN" dirty="0"/>
              <a:t>-</a:t>
            </a:r>
            <a:r>
              <a:rPr lang="zh-CN" altLang="en-US" dirty="0"/>
              <a:t>禅宗诗人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90F7C76-9AAB-4E80-B819-45ACC545E6DF}"/>
              </a:ext>
            </a:extLst>
          </p:cNvPr>
          <p:cNvSpPr/>
          <p:nvPr/>
        </p:nvSpPr>
        <p:spPr>
          <a:xfrm>
            <a:off x="325120" y="1218153"/>
            <a:ext cx="11373558" cy="49466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600" dirty="0"/>
              <a:t>德鲁克先生的才能中有一个最耀眼的亮点，</a:t>
            </a:r>
            <a:r>
              <a:rPr lang="zh-CN" altLang="en-US" sz="1600" b="1" dirty="0">
                <a:solidFill>
                  <a:srgbClr val="0033CC"/>
                </a:solidFill>
              </a:rPr>
              <a:t>那就是面对纷繁芜杂世界中的诸多现象，他能用极具穿透力的片言只语解释清楚，并且揭示出其中的真理，他就仿佛是一位禅宗诗人，能够用寥寥数语道破玄机我们可以反复品味德鲁克先生的思想，每一次都会有更深的理解</a:t>
            </a:r>
            <a:r>
              <a:rPr lang="zh-CN" altLang="en-US" sz="1600" dirty="0"/>
              <a:t>，也的确如此，那些看起来并不复杂的思想精髓，使人们的思考得到了巨大的解放，指导企业的实践更加有效，这也是德鲁克先生管理实践思想的价值所在。</a:t>
            </a:r>
            <a:br>
              <a:rPr lang="zh-CN" altLang="en-US" sz="1600" dirty="0"/>
            </a:br>
            <a:endParaRPr lang="zh-CN" altLang="en-US" sz="1600" dirty="0"/>
          </a:p>
          <a:p>
            <a:pPr>
              <a:lnSpc>
                <a:spcPct val="200000"/>
              </a:lnSpc>
            </a:pPr>
            <a:r>
              <a:rPr lang="zh-CN" altLang="en-US" sz="1600" dirty="0"/>
              <a:t>一直在思考德鲁克先生思想旺盛的生命力的来源，最后发现其长盛不衰的原因在于作为旁观者，德鲁克先生的思考是如此的贴近管理实践的真实情况。以至于后人的所有优秀作品的重要观点，几乎都可以从其思想中找到根源。如同赵曙明教授对</a:t>
            </a:r>
            <a:r>
              <a:rPr lang="en-US" altLang="zh-CN" sz="1600" dirty="0"/>
              <a:t>《</a:t>
            </a:r>
            <a:r>
              <a:rPr lang="zh-CN" altLang="en-US" sz="1600" dirty="0"/>
              <a:t>管理实践</a:t>
            </a:r>
            <a:r>
              <a:rPr lang="en-US" altLang="zh-CN" sz="1600" dirty="0"/>
              <a:t>》</a:t>
            </a:r>
            <a:r>
              <a:rPr lang="zh-CN" altLang="en-US" sz="1600" dirty="0"/>
              <a:t>的评价，现代管理学的大厦就建立在这本书提出的一系列思想的基础上。时下大部分流行的管理思想和管理实践都可以从这本书中找到根源，包括</a:t>
            </a:r>
            <a:r>
              <a:rPr lang="zh-CN" altLang="en-US" sz="1600" b="1" dirty="0">
                <a:solidFill>
                  <a:srgbClr val="0033CC"/>
                </a:solidFill>
              </a:rPr>
              <a:t>目标管理</a:t>
            </a:r>
            <a:r>
              <a:rPr lang="zh-CN" altLang="en-US" sz="1600" b="1" dirty="0"/>
              <a:t>、</a:t>
            </a:r>
            <a:r>
              <a:rPr lang="zh-CN" altLang="en-US" sz="1600" b="1" dirty="0">
                <a:solidFill>
                  <a:srgbClr val="0033CC"/>
                </a:solidFill>
              </a:rPr>
              <a:t>参与管理</a:t>
            </a:r>
            <a:r>
              <a:rPr lang="zh-CN" altLang="en-US" sz="1600" b="1" dirty="0"/>
              <a:t>、</a:t>
            </a:r>
            <a:r>
              <a:rPr lang="zh-CN" altLang="en-US" sz="1600" b="1" dirty="0">
                <a:solidFill>
                  <a:srgbClr val="0033CC"/>
                </a:solidFill>
              </a:rPr>
              <a:t>员工知识管理</a:t>
            </a:r>
            <a:r>
              <a:rPr lang="zh-CN" altLang="en-US" sz="1600" b="1" dirty="0"/>
              <a:t>、</a:t>
            </a:r>
            <a:r>
              <a:rPr lang="zh-CN" altLang="en-US" sz="1600" b="1" dirty="0">
                <a:solidFill>
                  <a:srgbClr val="0033CC"/>
                </a:solidFill>
              </a:rPr>
              <a:t>客户导向营销</a:t>
            </a:r>
            <a:r>
              <a:rPr lang="zh-CN" altLang="en-US" sz="1600" b="1" dirty="0"/>
              <a:t>、</a:t>
            </a:r>
            <a:r>
              <a:rPr lang="zh-CN" altLang="en-US" sz="1600" b="1" dirty="0">
                <a:solidFill>
                  <a:srgbClr val="0033CC"/>
                </a:solidFill>
              </a:rPr>
              <a:t>业绩考核</a:t>
            </a:r>
            <a:r>
              <a:rPr lang="zh-CN" altLang="en-US" sz="1600" b="1" dirty="0"/>
              <a:t>，</a:t>
            </a:r>
            <a:r>
              <a:rPr lang="zh-CN" altLang="en-US" sz="1600" b="1" dirty="0">
                <a:solidFill>
                  <a:srgbClr val="0033CC"/>
                </a:solidFill>
              </a:rPr>
              <a:t>职业生涯管理</a:t>
            </a:r>
            <a:r>
              <a:rPr lang="zh-CN" altLang="en-US" sz="1600" b="1" dirty="0"/>
              <a:t>、</a:t>
            </a:r>
            <a:r>
              <a:rPr lang="zh-CN" altLang="en-US" sz="1600" b="1" dirty="0">
                <a:solidFill>
                  <a:srgbClr val="0033CC"/>
                </a:solidFill>
              </a:rPr>
              <a:t>事业部制分权管理</a:t>
            </a:r>
            <a:r>
              <a:rPr lang="zh-CN" altLang="en-US" sz="1600" b="1" dirty="0"/>
              <a:t>、</a:t>
            </a:r>
            <a:r>
              <a:rPr lang="zh-CN" altLang="en-US" sz="1600" b="1" dirty="0">
                <a:solidFill>
                  <a:srgbClr val="0033CC"/>
                </a:solidFill>
              </a:rPr>
              <a:t>企业文化</a:t>
            </a:r>
            <a:r>
              <a:rPr lang="zh-CN" altLang="en-US" sz="1600" b="1" dirty="0"/>
              <a:t>、</a:t>
            </a:r>
            <a:r>
              <a:rPr lang="zh-CN" altLang="en-US" sz="1600" b="1" dirty="0">
                <a:solidFill>
                  <a:srgbClr val="0033CC"/>
                </a:solidFill>
              </a:rPr>
              <a:t>自我管理团队</a:t>
            </a:r>
            <a:r>
              <a:rPr lang="zh-CN" altLang="en-US" sz="1600" dirty="0"/>
              <a:t>，甚至最近流行的</a:t>
            </a:r>
            <a:r>
              <a:rPr lang="zh-CN" altLang="en-US" sz="1600" b="1" dirty="0">
                <a:solidFill>
                  <a:srgbClr val="0033CC"/>
                </a:solidFill>
              </a:rPr>
              <a:t>平衡计分卡</a:t>
            </a:r>
            <a:r>
              <a:rPr lang="zh-CN" altLang="en-US" sz="1600" dirty="0"/>
              <a:t>，都可以在这本书中找到根源。</a:t>
            </a:r>
          </a:p>
        </p:txBody>
      </p:sp>
    </p:spTree>
    <p:extLst>
      <p:ext uri="{BB962C8B-B14F-4D97-AF65-F5344CB8AC3E}">
        <p14:creationId xmlns:p14="http://schemas.microsoft.com/office/powerpoint/2010/main" val="3193307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文本占位符 1">
            <a:extLst>
              <a:ext uri="{FF2B5EF4-FFF2-40B4-BE49-F238E27FC236}">
                <a16:creationId xmlns:a16="http://schemas.microsoft.com/office/drawing/2014/main" id="{B998C069-E647-4048-AADD-83498D093A33}"/>
              </a:ext>
            </a:extLst>
          </p:cNvPr>
          <p:cNvSpPr txBox="1">
            <a:spLocks/>
          </p:cNvSpPr>
          <p:nvPr/>
        </p:nvSpPr>
        <p:spPr>
          <a:xfrm>
            <a:off x="0" y="379642"/>
            <a:ext cx="12191999" cy="362404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latin typeface="+mn-ea"/>
              </a:rPr>
              <a:t>德鲁克管理专栏：</a:t>
            </a:r>
            <a:r>
              <a:rPr lang="en-US" altLang="zh-CN" b="1" dirty="0">
                <a:latin typeface="+mn-ea"/>
              </a:rPr>
              <a:t>Q&amp;A</a:t>
            </a:r>
            <a:endParaRPr lang="zh-CN" altLang="en-US" b="1" dirty="0">
              <a:latin typeface="+mn-ea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B22F5747-0CC5-418B-AC66-03C429A383F1}"/>
              </a:ext>
            </a:extLst>
          </p:cNvPr>
          <p:cNvSpPr txBox="1"/>
          <p:nvPr/>
        </p:nvSpPr>
        <p:spPr>
          <a:xfrm>
            <a:off x="1168400" y="1337588"/>
            <a:ext cx="10223500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Jasmine Zhang</a:t>
            </a:r>
          </a:p>
          <a:p>
            <a:endParaRPr lang="en-US" altLang="zh-CN" sz="1600" dirty="0"/>
          </a:p>
          <a:p>
            <a:r>
              <a:rPr lang="en-US" altLang="zh-CN" sz="1600" dirty="0"/>
              <a:t> </a:t>
            </a:r>
            <a:r>
              <a:rPr lang="zh-CN" altLang="en-US" sz="1600" dirty="0"/>
              <a:t>对于管理这个题目，多数组织想要集各家思维。作为咨询者，你如何说服客户他的组织需要你的德鲁克管理思维？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2400" b="1" dirty="0">
                <a:solidFill>
                  <a:srgbClr val="0033CC"/>
                </a:solidFill>
              </a:rPr>
              <a:t>赵隆兵 </a:t>
            </a:r>
            <a:endParaRPr lang="en-US" altLang="zh-CN" sz="2400" b="1" dirty="0">
              <a:solidFill>
                <a:srgbClr val="0033CC"/>
              </a:solidFill>
            </a:endParaRPr>
          </a:p>
          <a:p>
            <a:endParaRPr lang="en-US" altLang="zh-CN" sz="1600" dirty="0">
              <a:solidFill>
                <a:srgbClr val="0033CC"/>
              </a:solidFill>
            </a:endParaRPr>
          </a:p>
          <a:p>
            <a:r>
              <a:rPr lang="zh-CN" altLang="en-US" sz="1600" dirty="0">
                <a:solidFill>
                  <a:srgbClr val="0033CC"/>
                </a:solidFill>
              </a:rPr>
              <a:t>如何让每个员工感知并且执行所在企业管理的理念</a:t>
            </a:r>
            <a:endParaRPr lang="en-US" altLang="zh-CN" sz="1600" dirty="0">
              <a:solidFill>
                <a:srgbClr val="0033CC"/>
              </a:solidFill>
            </a:endParaRPr>
          </a:p>
          <a:p>
            <a:endParaRPr lang="en-US" altLang="zh-CN" sz="1600" dirty="0"/>
          </a:p>
          <a:p>
            <a:r>
              <a:rPr lang="en-US" altLang="zh-CN" sz="2400" b="1" dirty="0"/>
              <a:t>Long </a:t>
            </a:r>
          </a:p>
          <a:p>
            <a:endParaRPr lang="en-US" altLang="zh-CN" sz="1600" dirty="0"/>
          </a:p>
          <a:p>
            <a:r>
              <a:rPr lang="zh-CN" altLang="en-US" sz="1600" dirty="0"/>
              <a:t>德鲁克的主要观点有哪些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en-US" altLang="zh-CN" sz="1600" b="1" dirty="0"/>
              <a:t> </a:t>
            </a:r>
            <a:r>
              <a:rPr lang="zh-CN" altLang="en-US" sz="1600" b="1" dirty="0"/>
              <a:t>陈峰 </a:t>
            </a:r>
            <a:endParaRPr lang="en-US" altLang="zh-CN" sz="1600" b="1" dirty="0"/>
          </a:p>
          <a:p>
            <a:endParaRPr lang="en-US" altLang="zh-CN" sz="1600" dirty="0"/>
          </a:p>
          <a:p>
            <a:r>
              <a:rPr lang="zh-CN" altLang="en-US" sz="1600" dirty="0"/>
              <a:t>德鲁克的观念有哪些不适合中国国企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b="1" dirty="0"/>
              <a:t>杨洪飞 </a:t>
            </a:r>
            <a:endParaRPr lang="en-US" altLang="zh-CN" sz="1600" b="1" dirty="0"/>
          </a:p>
          <a:p>
            <a:endParaRPr lang="en-US" altLang="zh-CN" sz="1600" dirty="0"/>
          </a:p>
          <a:p>
            <a:r>
              <a:rPr lang="zh-CN" altLang="en-US" sz="1600" dirty="0"/>
              <a:t>德鲁克的管理思想怎么落实到企业经营管理中，跟企业管理相悖，怎么化干戈为玉帛。</a:t>
            </a:r>
          </a:p>
        </p:txBody>
      </p:sp>
    </p:spTree>
    <p:extLst>
      <p:ext uri="{BB962C8B-B14F-4D97-AF65-F5344CB8AC3E}">
        <p14:creationId xmlns:p14="http://schemas.microsoft.com/office/powerpoint/2010/main" val="662910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文本占位符 1">
            <a:extLst>
              <a:ext uri="{FF2B5EF4-FFF2-40B4-BE49-F238E27FC236}">
                <a16:creationId xmlns:a16="http://schemas.microsoft.com/office/drawing/2014/main" id="{B998C069-E647-4048-AADD-83498D093A33}"/>
              </a:ext>
            </a:extLst>
          </p:cNvPr>
          <p:cNvSpPr txBox="1">
            <a:spLocks/>
          </p:cNvSpPr>
          <p:nvPr/>
        </p:nvSpPr>
        <p:spPr>
          <a:xfrm>
            <a:off x="0" y="379642"/>
            <a:ext cx="12191999" cy="362404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latin typeface="+mn-ea"/>
              </a:rPr>
              <a:t>德鲁克管理专栏：</a:t>
            </a:r>
            <a:r>
              <a:rPr lang="en-US" altLang="zh-CN" b="1" dirty="0">
                <a:latin typeface="+mn-ea"/>
              </a:rPr>
              <a:t>Q&amp;A</a:t>
            </a:r>
            <a:endParaRPr lang="zh-CN" altLang="en-US" b="1" dirty="0">
              <a:latin typeface="+mn-ea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B22F5747-0CC5-418B-AC66-03C429A383F1}"/>
              </a:ext>
            </a:extLst>
          </p:cNvPr>
          <p:cNvSpPr txBox="1"/>
          <p:nvPr/>
        </p:nvSpPr>
        <p:spPr>
          <a:xfrm>
            <a:off x="1168400" y="1337588"/>
            <a:ext cx="102235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Jasmine Zhang</a:t>
            </a:r>
          </a:p>
          <a:p>
            <a:endParaRPr lang="en-US" altLang="zh-CN" sz="1600" dirty="0"/>
          </a:p>
          <a:p>
            <a:r>
              <a:rPr lang="en-US" altLang="zh-CN" sz="1600" dirty="0"/>
              <a:t> </a:t>
            </a:r>
            <a:r>
              <a:rPr lang="zh-CN" altLang="en-US" sz="1600" dirty="0"/>
              <a:t>对于管理这个题目，多数组织想要集各家思维。作为咨询者，你如何说服客户他的组织需要你的德鲁克管理思维？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b="1" dirty="0"/>
              <a:t>赵隆兵 </a:t>
            </a:r>
            <a:endParaRPr lang="en-US" altLang="zh-CN" sz="1600" b="1" dirty="0"/>
          </a:p>
          <a:p>
            <a:endParaRPr lang="en-US" altLang="zh-CN" sz="1600" b="1" dirty="0"/>
          </a:p>
          <a:p>
            <a:r>
              <a:rPr lang="zh-CN" altLang="en-US" sz="1600" b="1" dirty="0"/>
              <a:t>如何让每个员工感知并且执行所在企业管理的理念</a:t>
            </a:r>
            <a:endParaRPr lang="en-US" altLang="zh-CN" sz="1600" b="1" dirty="0"/>
          </a:p>
          <a:p>
            <a:endParaRPr lang="en-US" altLang="zh-CN" sz="1600" b="1" dirty="0"/>
          </a:p>
          <a:p>
            <a:r>
              <a:rPr lang="en-US" altLang="zh-CN" sz="2400" b="1" dirty="0">
                <a:solidFill>
                  <a:srgbClr val="0033CC"/>
                </a:solidFill>
              </a:rPr>
              <a:t>Long </a:t>
            </a:r>
          </a:p>
          <a:p>
            <a:endParaRPr lang="en-US" altLang="zh-CN" sz="1600" b="1" dirty="0">
              <a:solidFill>
                <a:srgbClr val="0033CC"/>
              </a:solidFill>
            </a:endParaRPr>
          </a:p>
          <a:p>
            <a:r>
              <a:rPr lang="zh-CN" altLang="en-US" sz="1600" b="1" dirty="0">
                <a:solidFill>
                  <a:srgbClr val="0033CC"/>
                </a:solidFill>
              </a:rPr>
              <a:t>德鲁克的主要观点有哪些</a:t>
            </a:r>
            <a:endParaRPr lang="en-US" altLang="zh-CN" sz="1600" b="1" dirty="0">
              <a:solidFill>
                <a:srgbClr val="0033CC"/>
              </a:solidFill>
            </a:endParaRPr>
          </a:p>
          <a:p>
            <a:endParaRPr lang="en-US" altLang="zh-CN" sz="1600" dirty="0"/>
          </a:p>
          <a:p>
            <a:r>
              <a:rPr lang="en-US" altLang="zh-CN" sz="1600" b="1" dirty="0"/>
              <a:t> </a:t>
            </a:r>
            <a:r>
              <a:rPr lang="zh-CN" altLang="en-US" sz="1600" b="1" dirty="0"/>
              <a:t>陈峰 </a:t>
            </a:r>
            <a:endParaRPr lang="en-US" altLang="zh-CN" sz="1600" b="1" dirty="0"/>
          </a:p>
          <a:p>
            <a:endParaRPr lang="en-US" altLang="zh-CN" sz="1600" dirty="0"/>
          </a:p>
          <a:p>
            <a:r>
              <a:rPr lang="zh-CN" altLang="en-US" sz="1600" dirty="0"/>
              <a:t>德鲁克的观念有哪些不适合中国国企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b="1" dirty="0"/>
              <a:t>杨洪飞 </a:t>
            </a:r>
            <a:endParaRPr lang="en-US" altLang="zh-CN" sz="1600" b="1" dirty="0"/>
          </a:p>
          <a:p>
            <a:endParaRPr lang="en-US" altLang="zh-CN" sz="1600" dirty="0"/>
          </a:p>
          <a:p>
            <a:r>
              <a:rPr lang="zh-CN" altLang="en-US" sz="1600" dirty="0"/>
              <a:t>德鲁克的管理思想怎么落实到企业经营管理中，跟企业管理相悖，怎么化干戈为玉帛。</a:t>
            </a:r>
          </a:p>
        </p:txBody>
      </p:sp>
    </p:spTree>
    <p:extLst>
      <p:ext uri="{BB962C8B-B14F-4D97-AF65-F5344CB8AC3E}">
        <p14:creationId xmlns:p14="http://schemas.microsoft.com/office/powerpoint/2010/main" val="3656223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占位符 1">
            <a:extLst>
              <a:ext uri="{FF2B5EF4-FFF2-40B4-BE49-F238E27FC236}">
                <a16:creationId xmlns:a16="http://schemas.microsoft.com/office/drawing/2014/main" id="{6366D1D9-5E1D-4A85-BC08-265B0608BB3F}"/>
              </a:ext>
            </a:extLst>
          </p:cNvPr>
          <p:cNvSpPr txBox="1">
            <a:spLocks/>
          </p:cNvSpPr>
          <p:nvPr/>
        </p:nvSpPr>
        <p:spPr>
          <a:xfrm>
            <a:off x="0" y="379642"/>
            <a:ext cx="12191999" cy="36240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latin typeface="+mj-ea"/>
                <a:ea typeface="+mj-ea"/>
              </a:defRPr>
            </a:lvl1pPr>
            <a:lvl2pPr marL="685766" indent="-228589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2942" indent="-228589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120" indent="-228589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298" indent="-228589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474" indent="-228589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652" indent="-228589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8829" indent="-228589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006" indent="-228589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德鲁克管理专栏：管理不在于知，而在于行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1724E5-2565-4F87-B07B-A398D80C21E2}"/>
              </a:ext>
            </a:extLst>
          </p:cNvPr>
          <p:cNvSpPr/>
          <p:nvPr/>
        </p:nvSpPr>
        <p:spPr>
          <a:xfrm>
            <a:off x="6898640" y="4011401"/>
            <a:ext cx="4826000" cy="2466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srgbClr val="0033CC"/>
                </a:solidFill>
                <a:latin typeface="PingFangSC-Medium"/>
              </a:rPr>
              <a:t>管理是一种</a:t>
            </a:r>
            <a:r>
              <a:rPr lang="zh-CN" altLang="en-US" sz="2000" b="1" dirty="0">
                <a:solidFill>
                  <a:srgbClr val="FF0000"/>
                </a:solidFill>
                <a:latin typeface="PingFangSC-Medium"/>
              </a:rPr>
              <a:t>实践</a:t>
            </a:r>
            <a:r>
              <a:rPr lang="zh-CN" altLang="en-US" sz="2000" dirty="0">
                <a:solidFill>
                  <a:srgbClr val="0033CC"/>
                </a:solidFill>
                <a:latin typeface="PingFangSC-Medium"/>
              </a:rPr>
              <a:t>，</a:t>
            </a:r>
            <a:endParaRPr lang="en-US" altLang="zh-CN" sz="2000" dirty="0">
              <a:solidFill>
                <a:srgbClr val="0033CC"/>
              </a:solidFill>
              <a:latin typeface="PingFangSC-Medium"/>
            </a:endParaRPr>
          </a:p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srgbClr val="0033CC"/>
                </a:solidFill>
                <a:latin typeface="PingFangSC-Medium"/>
              </a:rPr>
              <a:t>其本质不在于</a:t>
            </a:r>
            <a:r>
              <a:rPr lang="zh-CN" altLang="en-US" sz="2000" b="1" dirty="0">
                <a:solidFill>
                  <a:srgbClr val="FF0000"/>
                </a:solidFill>
                <a:latin typeface="PingFangSC-Medium"/>
              </a:rPr>
              <a:t>知</a:t>
            </a:r>
            <a:r>
              <a:rPr lang="zh-CN" altLang="en-US" sz="2000" dirty="0">
                <a:solidFill>
                  <a:srgbClr val="0033CC"/>
                </a:solidFill>
                <a:latin typeface="PingFangSC-Medium"/>
              </a:rPr>
              <a:t>，而在于</a:t>
            </a:r>
            <a:r>
              <a:rPr lang="zh-CN" altLang="en-US" sz="2000" b="1" dirty="0">
                <a:solidFill>
                  <a:srgbClr val="FF0000"/>
                </a:solidFill>
                <a:latin typeface="PingFangSC-Medium"/>
              </a:rPr>
              <a:t>行</a:t>
            </a:r>
            <a:r>
              <a:rPr lang="zh-CN" altLang="en-US" sz="2000" dirty="0">
                <a:solidFill>
                  <a:srgbClr val="0033CC"/>
                </a:solidFill>
                <a:latin typeface="PingFangSC-Medium"/>
              </a:rPr>
              <a:t>；</a:t>
            </a:r>
            <a:endParaRPr lang="en-US" altLang="zh-CN" sz="2000" dirty="0">
              <a:solidFill>
                <a:srgbClr val="0033CC"/>
              </a:solidFill>
              <a:latin typeface="PingFangSC-Medium"/>
            </a:endParaRPr>
          </a:p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srgbClr val="0033CC"/>
                </a:solidFill>
                <a:latin typeface="PingFangSC-Medium"/>
              </a:rPr>
              <a:t>其验证不在于</a:t>
            </a:r>
            <a:r>
              <a:rPr lang="zh-CN" altLang="en-US" sz="2000" b="1" dirty="0">
                <a:solidFill>
                  <a:srgbClr val="FF0000"/>
                </a:solidFill>
                <a:latin typeface="PingFangSC-Medium"/>
              </a:rPr>
              <a:t>逻辑</a:t>
            </a:r>
            <a:r>
              <a:rPr lang="zh-CN" altLang="en-US" sz="2000" dirty="0">
                <a:solidFill>
                  <a:srgbClr val="0033CC"/>
                </a:solidFill>
                <a:latin typeface="PingFangSC-Medium"/>
              </a:rPr>
              <a:t>，而在于</a:t>
            </a:r>
            <a:r>
              <a:rPr lang="zh-CN" altLang="en-US" sz="2000" b="1" dirty="0">
                <a:solidFill>
                  <a:srgbClr val="FF0000"/>
                </a:solidFill>
                <a:latin typeface="PingFangSC-Medium"/>
              </a:rPr>
              <a:t>成果</a:t>
            </a:r>
            <a:r>
              <a:rPr lang="zh-CN" altLang="en-US" sz="2000" dirty="0">
                <a:solidFill>
                  <a:srgbClr val="0033CC"/>
                </a:solidFill>
                <a:latin typeface="PingFangSC-Medium"/>
              </a:rPr>
              <a:t>；</a:t>
            </a:r>
            <a:endParaRPr lang="en-US" altLang="zh-CN" sz="2000" dirty="0">
              <a:solidFill>
                <a:srgbClr val="0033CC"/>
              </a:solidFill>
              <a:latin typeface="PingFangSC-Medium"/>
            </a:endParaRPr>
          </a:p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srgbClr val="0033CC"/>
                </a:solidFill>
                <a:latin typeface="PingFangSC-Medium"/>
              </a:rPr>
              <a:t>其唯一权威就是</a:t>
            </a:r>
            <a:r>
              <a:rPr lang="zh-CN" altLang="en-US" sz="2000" b="1" dirty="0">
                <a:solidFill>
                  <a:srgbClr val="FF0000"/>
                </a:solidFill>
                <a:latin typeface="PingFangSC-Medium"/>
              </a:rPr>
              <a:t>成就</a:t>
            </a:r>
            <a:r>
              <a:rPr lang="en-US" altLang="zh-CN" sz="2000" b="1" dirty="0">
                <a:solidFill>
                  <a:srgbClr val="FF0000"/>
                </a:solidFill>
                <a:latin typeface="PingFangSC-Medium"/>
              </a:rPr>
              <a:t>/</a:t>
            </a:r>
            <a:r>
              <a:rPr lang="zh-CN" altLang="en-US" sz="2000" b="1" dirty="0">
                <a:solidFill>
                  <a:srgbClr val="FF0000"/>
                </a:solidFill>
                <a:latin typeface="PingFangSC-Medium"/>
              </a:rPr>
              <a:t>业绩</a:t>
            </a:r>
            <a:r>
              <a:rPr lang="zh-CN" altLang="en-US" sz="2000" dirty="0">
                <a:solidFill>
                  <a:srgbClr val="0033CC"/>
                </a:solidFill>
                <a:latin typeface="PingFangSC-Medium"/>
              </a:rPr>
              <a:t>。</a:t>
            </a:r>
            <a:endParaRPr lang="zh-CN" altLang="en-US" sz="2000" b="0" i="0" dirty="0">
              <a:solidFill>
                <a:srgbClr val="0033CC"/>
              </a:solidFill>
              <a:effectLst/>
              <a:latin typeface="PingFangSC-Medium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D0190A7-B207-4B5E-9F71-31BA91DDD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5806" y="1704522"/>
            <a:ext cx="4109720" cy="223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" name="矩形 64">
            <a:extLst>
              <a:ext uri="{FF2B5EF4-FFF2-40B4-BE49-F238E27FC236}">
                <a16:creationId xmlns:a16="http://schemas.microsoft.com/office/drawing/2014/main" id="{B5646F7B-4010-42D9-AB85-805AD0EE565D}"/>
              </a:ext>
            </a:extLst>
          </p:cNvPr>
          <p:cNvSpPr/>
          <p:nvPr/>
        </p:nvSpPr>
        <p:spPr>
          <a:xfrm>
            <a:off x="878840" y="4224408"/>
            <a:ext cx="5430519" cy="22539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德鲁克清理了我的头脑。每次和他开完会，他都会提醒我：</a:t>
            </a:r>
          </a:p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不要告诉我：</a:t>
            </a:r>
            <a:r>
              <a:rPr lang="zh-CN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你对这次会议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/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培训</a:t>
            </a:r>
            <a:r>
              <a:rPr lang="zh-CN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有多么满意；</a:t>
            </a:r>
          </a:p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只要告诉我：</a:t>
            </a:r>
            <a:r>
              <a:rPr lang="zh-CN" altLang="zh-CN" sz="2000" b="1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下周一你会采取哪些与以往不同的行动。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8A1E84A-3EAE-4630-BBDF-0A54AA95A010}"/>
              </a:ext>
            </a:extLst>
          </p:cNvPr>
          <p:cNvSpPr/>
          <p:nvPr/>
        </p:nvSpPr>
        <p:spPr>
          <a:xfrm>
            <a:off x="1694789" y="1210777"/>
            <a:ext cx="28264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buFontTx/>
              <a:buNone/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可口可乐前总裁奇奥夫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4AAC180-E5B8-422F-936B-6C3C83482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439" y="1709173"/>
            <a:ext cx="3962399" cy="2228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矩形 67">
            <a:extLst>
              <a:ext uri="{FF2B5EF4-FFF2-40B4-BE49-F238E27FC236}">
                <a16:creationId xmlns:a16="http://schemas.microsoft.com/office/drawing/2014/main" id="{DA539047-3516-4C7A-88F5-254DC4ECF06B}"/>
              </a:ext>
            </a:extLst>
          </p:cNvPr>
          <p:cNvSpPr/>
          <p:nvPr/>
        </p:nvSpPr>
        <p:spPr>
          <a:xfrm>
            <a:off x="8597976" y="1206126"/>
            <a:ext cx="15792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buFontTx/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彼得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·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德鲁克</a:t>
            </a:r>
            <a:endParaRPr lang="zh-CN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3778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19717CD-ADEF-45D8-8B38-021F331ED6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德鲁克管理咨询：我能提供的是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205B6C-FAAE-4D2C-BF2F-F34537DB4F16}"/>
              </a:ext>
            </a:extLst>
          </p:cNvPr>
          <p:cNvSpPr/>
          <p:nvPr/>
        </p:nvSpPr>
        <p:spPr>
          <a:xfrm>
            <a:off x="1414217" y="1999780"/>
            <a:ext cx="4681221" cy="3813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2000" dirty="0">
                <a:solidFill>
                  <a:srgbClr val="333333"/>
                </a:solidFill>
                <a:latin typeface="Arial" panose="020B0604020202020204" pitchFamily="34" charset="0"/>
              </a:rPr>
              <a:t>我能提供的</a:t>
            </a:r>
            <a:endParaRPr lang="en-US" altLang="zh-CN" sz="20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>
              <a:lnSpc>
                <a:spcPct val="250000"/>
              </a:lnSpc>
            </a:pPr>
            <a:r>
              <a:rPr lang="zh-CN" altLang="en-US" sz="2000" dirty="0">
                <a:solidFill>
                  <a:srgbClr val="333333"/>
                </a:solidFill>
                <a:latin typeface="Arial" panose="020B0604020202020204" pitchFamily="34" charset="0"/>
              </a:rPr>
              <a:t>是</a:t>
            </a:r>
            <a:r>
              <a:rPr lang="zh-CN" altLang="en-US" sz="2000" b="1" dirty="0">
                <a:solidFill>
                  <a:srgbClr val="0033CC"/>
                </a:solidFill>
                <a:latin typeface="Arial" panose="020B0604020202020204" pitchFamily="34" charset="0"/>
              </a:rPr>
              <a:t>理解</a:t>
            </a:r>
            <a:r>
              <a:rPr lang="zh-CN" altLang="en-US" sz="2000" dirty="0">
                <a:solidFill>
                  <a:srgbClr val="333333"/>
                </a:solidFill>
                <a:latin typeface="Arial" panose="020B0604020202020204" pitchFamily="34" charset="0"/>
              </a:rPr>
              <a:t>，而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</a:rPr>
              <a:t>非公式</a:t>
            </a:r>
            <a:r>
              <a:rPr lang="zh-CN" altLang="en-US" sz="2000" dirty="0">
                <a:solidFill>
                  <a:srgbClr val="333333"/>
                </a:solidFill>
                <a:latin typeface="Arial" panose="020B0604020202020204" pitchFamily="34" charset="0"/>
              </a:rPr>
              <a:t>；</a:t>
            </a:r>
            <a:endParaRPr lang="en-US" altLang="zh-CN" sz="20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>
              <a:lnSpc>
                <a:spcPct val="250000"/>
              </a:lnSpc>
            </a:pPr>
            <a:r>
              <a:rPr lang="zh-CN" altLang="en-US" sz="2000" dirty="0">
                <a:solidFill>
                  <a:srgbClr val="333333"/>
                </a:solidFill>
                <a:latin typeface="Arial" panose="020B0604020202020204" pitchFamily="34" charset="0"/>
              </a:rPr>
              <a:t>是</a:t>
            </a:r>
            <a:r>
              <a:rPr lang="zh-CN" altLang="en-US" sz="2000" b="1" dirty="0">
                <a:solidFill>
                  <a:srgbClr val="0033CC"/>
                </a:solidFill>
                <a:latin typeface="Arial" panose="020B0604020202020204" pitchFamily="34" charset="0"/>
              </a:rPr>
              <a:t>选项</a:t>
            </a:r>
            <a:r>
              <a:rPr lang="zh-CN" altLang="en-US" sz="2000" dirty="0">
                <a:solidFill>
                  <a:srgbClr val="333333"/>
                </a:solidFill>
                <a:latin typeface="Arial" panose="020B0604020202020204" pitchFamily="34" charset="0"/>
              </a:rPr>
              <a:t>，而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</a:rPr>
              <a:t>非答案</a:t>
            </a:r>
            <a:r>
              <a:rPr lang="zh-CN" altLang="en-US" sz="2000" dirty="0">
                <a:solidFill>
                  <a:srgbClr val="333333"/>
                </a:solidFill>
                <a:latin typeface="Arial" panose="020B0604020202020204" pitchFamily="34" charset="0"/>
              </a:rPr>
              <a:t>。</a:t>
            </a:r>
            <a:endParaRPr lang="en-US" altLang="zh-CN" sz="20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>
              <a:lnSpc>
                <a:spcPct val="250000"/>
              </a:lnSpc>
            </a:pPr>
            <a:r>
              <a:rPr lang="zh-CN" altLang="en-US" sz="2000" dirty="0">
                <a:solidFill>
                  <a:srgbClr val="333333"/>
                </a:solidFill>
                <a:latin typeface="Arial" panose="020B0604020202020204" pitchFamily="34" charset="0"/>
              </a:rPr>
              <a:t>如果关于管理，你非要一个说法，我可能会说：管理，关乎人。</a:t>
            </a:r>
            <a:endParaRPr lang="zh-CN" altLang="en-US" sz="2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BB89474-4674-441F-8347-AE9C7B759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8315" y="2477770"/>
            <a:ext cx="428625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3355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>
            <a:extLst>
              <a:ext uri="{FF2B5EF4-FFF2-40B4-BE49-F238E27FC236}">
                <a16:creationId xmlns:a16="http://schemas.microsoft.com/office/drawing/2014/main" id="{AF74B5FD-7174-4883-838E-22E1CC0B2431}"/>
              </a:ext>
            </a:extLst>
          </p:cNvPr>
          <p:cNvSpPr txBox="1">
            <a:spLocks/>
          </p:cNvSpPr>
          <p:nvPr/>
        </p:nvSpPr>
        <p:spPr>
          <a:xfrm>
            <a:off x="0" y="379642"/>
            <a:ext cx="12191999" cy="362404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/>
              <a:t>德鲁克管理咨询：问几个致命的问题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E2A6A5-7C03-4076-A031-C5DD801CFCFF}"/>
              </a:ext>
            </a:extLst>
          </p:cNvPr>
          <p:cNvSpPr txBox="1"/>
          <p:nvPr/>
        </p:nvSpPr>
        <p:spPr>
          <a:xfrm>
            <a:off x="7063739" y="2395943"/>
            <a:ext cx="4439921" cy="3179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5400" dirty="0"/>
              <a:t>问几个致命的</a:t>
            </a:r>
            <a:endParaRPr lang="en-US" altLang="zh-CN" sz="5400" dirty="0"/>
          </a:p>
          <a:p>
            <a:pPr algn="ctr">
              <a:lnSpc>
                <a:spcPct val="200000"/>
              </a:lnSpc>
            </a:pPr>
            <a:r>
              <a:rPr lang="zh-CN" altLang="en-US" sz="5400" dirty="0"/>
              <a:t>问题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B63478C-12CC-47C7-8737-398C21EF8A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340" y="1561690"/>
            <a:ext cx="5715000" cy="484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138396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>
            <a:extLst>
              <a:ext uri="{FF2B5EF4-FFF2-40B4-BE49-F238E27FC236}">
                <a16:creationId xmlns:a16="http://schemas.microsoft.com/office/drawing/2014/main" id="{AF74B5FD-7174-4883-838E-22E1CC0B2431}"/>
              </a:ext>
            </a:extLst>
          </p:cNvPr>
          <p:cNvSpPr txBox="1">
            <a:spLocks/>
          </p:cNvSpPr>
          <p:nvPr/>
        </p:nvSpPr>
        <p:spPr>
          <a:xfrm>
            <a:off x="0" y="379642"/>
            <a:ext cx="12191999" cy="362404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/>
              <a:t>商业知识局：事业理论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A655FF-638F-428A-9457-7841916304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906" y="1510347"/>
            <a:ext cx="4772025" cy="477202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5B8A58A-2EB9-44A3-A08F-16BC5C39FF67}"/>
              </a:ext>
            </a:extLst>
          </p:cNvPr>
          <p:cNvSpPr txBox="1"/>
          <p:nvPr/>
        </p:nvSpPr>
        <p:spPr>
          <a:xfrm>
            <a:off x="5877338" y="1691420"/>
            <a:ext cx="5983357" cy="4102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latin typeface="+mn-ea"/>
              </a:rPr>
              <a:t>管理就是界定组织的使命，并激励和组织人力资源来实现这个使命。</a:t>
            </a:r>
            <a:endParaRPr lang="en-US" altLang="zh-CN" b="1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zh-CN" b="1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latin typeface="+mn-ea"/>
              </a:rPr>
              <a:t>界定使命是创业者的任务，而激励和组织人力资源则是领导力的范畴。</a:t>
            </a:r>
            <a:endParaRPr lang="en-US" altLang="zh-CN" b="1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zh-CN" b="1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latin typeface="+mn-ea"/>
              </a:rPr>
              <a:t>二者的结合就是管理</a:t>
            </a:r>
          </a:p>
        </p:txBody>
      </p:sp>
    </p:spTree>
    <p:extLst>
      <p:ext uri="{BB962C8B-B14F-4D97-AF65-F5344CB8AC3E}">
        <p14:creationId xmlns:p14="http://schemas.microsoft.com/office/powerpoint/2010/main" val="1949592676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">
            <a:extLst>
              <a:ext uri="{FF2B5EF4-FFF2-40B4-BE49-F238E27FC236}">
                <a16:creationId xmlns:a16="http://schemas.microsoft.com/office/drawing/2014/main" id="{4BDFA29F-9D8A-4B45-A45A-887D7C0B72AD}"/>
              </a:ext>
            </a:extLst>
          </p:cNvPr>
          <p:cNvSpPr txBox="1">
            <a:spLocks/>
          </p:cNvSpPr>
          <p:nvPr/>
        </p:nvSpPr>
        <p:spPr>
          <a:xfrm>
            <a:off x="-1122" y="1095537"/>
            <a:ext cx="12191999" cy="362404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zh-CN" altLang="en-US" b="1" dirty="0"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E05303D-AD5D-4CF1-97FA-C6D892EF3437}"/>
              </a:ext>
            </a:extLst>
          </p:cNvPr>
          <p:cNvSpPr/>
          <p:nvPr/>
        </p:nvSpPr>
        <p:spPr>
          <a:xfrm>
            <a:off x="121920" y="1276741"/>
            <a:ext cx="11839708" cy="48515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50000"/>
              </a:lnSpc>
            </a:pPr>
            <a:r>
              <a:rPr lang="zh-CN" altLang="en-US" sz="1400" dirty="0">
                <a:solidFill>
                  <a:srgbClr val="222222"/>
                </a:solidFill>
                <a:latin typeface="PingFang SC"/>
              </a:rPr>
              <a:t>一家做牛奶瓶的公司发展遇到了瓶颈，公司聘请德鲁克担任管理顾问后，德鲁克问了一个很“笨”的问题：“贵公司是做什么的？”“我们是做瓶子的”总裁不以为然。为加深德鲁克对公司的印象，带着德鲁克到工厂转了几圈，参观完整个生产流程。回到办公室后，德鲁克又问：“公司是做什么的？”“我们是做瓶子的呀！”总裁显然有些不高兴</a:t>
            </a:r>
            <a:r>
              <a:rPr lang="en-US" altLang="zh-CN" sz="1400" dirty="0">
                <a:solidFill>
                  <a:srgbClr val="222222"/>
                </a:solidFill>
                <a:latin typeface="PingFang SC"/>
              </a:rPr>
              <a:t>……“</a:t>
            </a:r>
            <a:r>
              <a:rPr lang="zh-CN" altLang="en-US" sz="1400" dirty="0">
                <a:solidFill>
                  <a:srgbClr val="222222"/>
                </a:solidFill>
                <a:latin typeface="PingFang SC"/>
              </a:rPr>
              <a:t>你们不是在卖瓶子，而是在做包装生意”，德鲁克最后的这一句话让这家公司的总裁像触了电一样，“大师！大师！我该付你两倍的报酬，因为我干了</a:t>
            </a:r>
            <a:r>
              <a:rPr lang="en-US" altLang="zh-CN" sz="1400" dirty="0">
                <a:solidFill>
                  <a:srgbClr val="222222"/>
                </a:solidFill>
                <a:latin typeface="PingFang SC"/>
              </a:rPr>
              <a:t>16</a:t>
            </a:r>
            <a:r>
              <a:rPr lang="zh-CN" altLang="en-US" sz="1400" dirty="0">
                <a:solidFill>
                  <a:srgbClr val="222222"/>
                </a:solidFill>
                <a:latin typeface="PingFang SC"/>
              </a:rPr>
              <a:t>年</a:t>
            </a:r>
            <a:r>
              <a:rPr lang="en-US" altLang="zh-CN" sz="1400" dirty="0">
                <a:solidFill>
                  <a:srgbClr val="222222"/>
                </a:solidFill>
                <a:latin typeface="PingFang SC"/>
              </a:rPr>
              <a:t>7</a:t>
            </a:r>
            <a:r>
              <a:rPr lang="zh-CN" altLang="en-US" sz="1400" dirty="0">
                <a:solidFill>
                  <a:srgbClr val="222222"/>
                </a:solidFill>
                <a:latin typeface="PingFang SC"/>
              </a:rPr>
              <a:t>个月，居然不知道自己做包装业”。</a:t>
            </a:r>
          </a:p>
          <a:p>
            <a:pPr algn="just">
              <a:lnSpc>
                <a:spcPct val="250000"/>
              </a:lnSpc>
            </a:pPr>
            <a:r>
              <a:rPr lang="zh-CN" altLang="en-US" sz="1400" dirty="0">
                <a:solidFill>
                  <a:srgbClr val="222222"/>
                </a:solidFill>
                <a:latin typeface="PingFang SC"/>
              </a:rPr>
              <a:t>德鲁克如同踢断了那位总裁座椅的四条腿，让他重新站起来思考一个极为严肃的课题</a:t>
            </a:r>
            <a:r>
              <a:rPr lang="en-US" altLang="zh-CN" sz="1400" dirty="0">
                <a:solidFill>
                  <a:srgbClr val="222222"/>
                </a:solidFill>
                <a:latin typeface="PingFang SC"/>
              </a:rPr>
              <a:t>——</a:t>
            </a:r>
            <a:r>
              <a:rPr lang="zh-CN" altLang="en-US" sz="1400" dirty="0">
                <a:solidFill>
                  <a:srgbClr val="222222"/>
                </a:solidFill>
                <a:latin typeface="PingFang SC"/>
              </a:rPr>
              <a:t>到底我们的事业是什么</a:t>
            </a:r>
            <a:r>
              <a:rPr lang="en-US" altLang="zh-CN" sz="1400" dirty="0">
                <a:solidFill>
                  <a:srgbClr val="222222"/>
                </a:solidFill>
                <a:latin typeface="PingFang SC"/>
              </a:rPr>
              <a:t>?</a:t>
            </a:r>
          </a:p>
          <a:p>
            <a:pPr algn="just">
              <a:lnSpc>
                <a:spcPct val="250000"/>
              </a:lnSpc>
            </a:pPr>
            <a:endParaRPr lang="en-US" altLang="zh-CN" sz="1400" dirty="0">
              <a:solidFill>
                <a:srgbClr val="222222"/>
              </a:solidFill>
              <a:latin typeface="PingFang SC"/>
            </a:endParaRPr>
          </a:p>
          <a:p>
            <a:pPr algn="just">
              <a:lnSpc>
                <a:spcPct val="250000"/>
              </a:lnSpc>
            </a:pPr>
            <a:r>
              <a:rPr lang="zh-CN" altLang="en-US" sz="1400" dirty="0">
                <a:solidFill>
                  <a:srgbClr val="222222"/>
                </a:solidFill>
                <a:latin typeface="PingFang SC"/>
              </a:rPr>
              <a:t>接下来的时间里，这家公司开始</a:t>
            </a:r>
            <a:r>
              <a:rPr lang="zh-CN" altLang="en-US" sz="1400" b="1" dirty="0">
                <a:solidFill>
                  <a:srgbClr val="222222"/>
                </a:solidFill>
                <a:latin typeface="PingFang SC"/>
              </a:rPr>
              <a:t>重新定义市场，重新定义公司</a:t>
            </a:r>
            <a:r>
              <a:rPr lang="zh-CN" altLang="en-US" sz="1400" dirty="0">
                <a:solidFill>
                  <a:srgbClr val="222222"/>
                </a:solidFill>
                <a:latin typeface="PingFang SC"/>
              </a:rPr>
              <a:t>，终于成为了一家全球最大、最具前瞻性的包装企业</a:t>
            </a:r>
            <a:r>
              <a:rPr lang="en-US" altLang="zh-CN" sz="1400" dirty="0">
                <a:solidFill>
                  <a:srgbClr val="222222"/>
                </a:solidFill>
                <a:latin typeface="PingFang SC"/>
              </a:rPr>
              <a:t>——TETRAPAK</a:t>
            </a:r>
            <a:r>
              <a:rPr lang="zh-CN" altLang="en-US" sz="1400" dirty="0">
                <a:solidFill>
                  <a:srgbClr val="222222"/>
                </a:solidFill>
                <a:latin typeface="PingFang SC"/>
              </a:rPr>
              <a:t>（利乐包装）！利乐目前是全球最大的液态食品包装系统供应商！</a:t>
            </a:r>
            <a:endParaRPr lang="en-US" altLang="zh-CN" sz="1400" dirty="0">
              <a:solidFill>
                <a:srgbClr val="222222"/>
              </a:solidFill>
              <a:latin typeface="PingFang SC"/>
            </a:endParaRPr>
          </a:p>
          <a:p>
            <a:pPr algn="just">
              <a:lnSpc>
                <a:spcPct val="250000"/>
              </a:lnSpc>
            </a:pPr>
            <a:r>
              <a:rPr lang="zh-CN" altLang="en-US" sz="1400" dirty="0"/>
              <a:t>通过这个有趣而深刻的案例，我们可以将商业模式可以归纳到一句话来总结：</a:t>
            </a:r>
            <a:r>
              <a:rPr lang="zh-CN" altLang="en-US" sz="1400" b="1" dirty="0"/>
              <a:t>“我要以何种方式为哪些客户提供什么样价值？”</a:t>
            </a:r>
            <a:endParaRPr lang="zh-CN" altLang="en-US" sz="1400" b="0" i="0" dirty="0">
              <a:solidFill>
                <a:srgbClr val="222222"/>
              </a:solidFill>
              <a:effectLst/>
              <a:latin typeface="PingFang SC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7837F8B-67AB-46BD-A670-0209F16C1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58" y="2907163"/>
            <a:ext cx="1552575" cy="1590675"/>
          </a:xfrm>
          <a:prstGeom prst="rect">
            <a:avLst/>
          </a:prstGeom>
        </p:spPr>
      </p:pic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465C041-6B3F-4DEC-8305-2B0F6B148B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商业知识局：</a:t>
            </a:r>
            <a:r>
              <a:rPr lang="en-US" altLang="zh-CN" dirty="0">
                <a:latin typeface="+mn-ea"/>
              </a:rPr>
              <a:t>What Is Your Business(</a:t>
            </a:r>
            <a:r>
              <a:rPr lang="zh-CN" altLang="en-US" dirty="0">
                <a:latin typeface="+mn-ea"/>
              </a:rPr>
              <a:t>你们的事业是什么</a:t>
            </a:r>
            <a:r>
              <a:rPr lang="en-US" altLang="zh-CN" dirty="0">
                <a:latin typeface="+mn-ea"/>
              </a:rPr>
              <a:t>)</a:t>
            </a:r>
            <a:endParaRPr lang="zh-CN" altLang="en-US" dirty="0">
              <a:latin typeface="+mn-ea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4481259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1111FC5B-78CC-4872-BBB9-A49C05FED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686" y="1142178"/>
            <a:ext cx="1655074" cy="1198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90D0118-9F48-4D6B-9D0C-A32210D594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29" y="2340452"/>
            <a:ext cx="2899407" cy="173541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C41DE00-CC5B-40F9-9302-4D8E16EBD1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509" y="2340452"/>
            <a:ext cx="2899406" cy="191339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9DAD654-AA09-4D41-9C22-5CCA2586B8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6388" y="2340452"/>
            <a:ext cx="2986605" cy="182514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1EF14FA-CB34-4DF6-9EA6-2CF620F4BB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629" y="4655050"/>
            <a:ext cx="2951798" cy="182330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ED96AE8-6A49-4685-B9BA-938265D166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7278" y="4655051"/>
            <a:ext cx="2917441" cy="212167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83B4BF3-39B7-48F0-9E08-8B3B2862D7E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34223" y="4654987"/>
            <a:ext cx="1920496" cy="212167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0584740-F02E-4CAB-B779-726FB03B002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6388" y="4654987"/>
            <a:ext cx="3349035" cy="200025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6C97F69-B693-4387-85D2-F6951095AF2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3008" y="1142178"/>
            <a:ext cx="523875" cy="1104900"/>
          </a:xfrm>
          <a:prstGeom prst="rect">
            <a:avLst/>
          </a:prstGeom>
        </p:spPr>
      </p:pic>
      <p:sp>
        <p:nvSpPr>
          <p:cNvPr id="17" name="文本占位符 1">
            <a:extLst>
              <a:ext uri="{FF2B5EF4-FFF2-40B4-BE49-F238E27FC236}">
                <a16:creationId xmlns:a16="http://schemas.microsoft.com/office/drawing/2014/main" id="{74AE0169-8D7E-4D4C-A58F-C595F436F986}"/>
              </a:ext>
            </a:extLst>
          </p:cNvPr>
          <p:cNvSpPr txBox="1">
            <a:spLocks/>
          </p:cNvSpPr>
          <p:nvPr/>
        </p:nvSpPr>
        <p:spPr>
          <a:xfrm>
            <a:off x="0" y="379642"/>
            <a:ext cx="12191999" cy="362404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latin typeface="+mn-ea"/>
              </a:rPr>
              <a:t>商业知识局：</a:t>
            </a:r>
            <a:r>
              <a:rPr lang="en-US" altLang="zh-CN" b="1" dirty="0">
                <a:latin typeface="+mn-ea"/>
              </a:rPr>
              <a:t>What Is Your Business  (</a:t>
            </a:r>
            <a:r>
              <a:rPr lang="zh-CN" altLang="en-US" b="1" dirty="0">
                <a:latin typeface="+mn-ea"/>
              </a:rPr>
              <a:t>你们的事业是什么</a:t>
            </a:r>
            <a:r>
              <a:rPr lang="en-US" altLang="zh-CN" b="1" dirty="0">
                <a:latin typeface="+mn-ea"/>
              </a:rPr>
              <a:t>)</a:t>
            </a:r>
            <a:endParaRPr lang="zh-CN" altLang="en-US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95566810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1111FC5B-78CC-4872-BBB9-A49C05FED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3941" y="1866965"/>
            <a:ext cx="4315012" cy="3124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6C97F69-B693-4387-85D2-F6951095AF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015" y="1952761"/>
            <a:ext cx="1399882" cy="2952478"/>
          </a:xfrm>
          <a:prstGeom prst="rect">
            <a:avLst/>
          </a:prstGeom>
        </p:spPr>
      </p:pic>
      <p:sp>
        <p:nvSpPr>
          <p:cNvPr id="17" name="文本占位符 1">
            <a:extLst>
              <a:ext uri="{FF2B5EF4-FFF2-40B4-BE49-F238E27FC236}">
                <a16:creationId xmlns:a16="http://schemas.microsoft.com/office/drawing/2014/main" id="{74AE0169-8D7E-4D4C-A58F-C595F436F986}"/>
              </a:ext>
            </a:extLst>
          </p:cNvPr>
          <p:cNvSpPr txBox="1">
            <a:spLocks/>
          </p:cNvSpPr>
          <p:nvPr/>
        </p:nvSpPr>
        <p:spPr>
          <a:xfrm>
            <a:off x="0" y="379642"/>
            <a:ext cx="12191999" cy="362404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latin typeface="+mn-ea"/>
              </a:rPr>
              <a:t>商业知识局：</a:t>
            </a:r>
            <a:r>
              <a:rPr lang="en-US" altLang="zh-CN" b="1" dirty="0">
                <a:latin typeface="+mn-ea"/>
              </a:rPr>
              <a:t>What Is Your Business(</a:t>
            </a:r>
            <a:r>
              <a:rPr lang="zh-CN" altLang="en-US" b="1" dirty="0">
                <a:latin typeface="+mn-ea"/>
              </a:rPr>
              <a:t>你们的事业是什么</a:t>
            </a:r>
            <a:r>
              <a:rPr lang="en-US" altLang="zh-CN" b="1" dirty="0">
                <a:latin typeface="+mn-ea"/>
              </a:rPr>
              <a:t>)</a:t>
            </a:r>
            <a:endParaRPr lang="zh-CN" altLang="en-US" b="1" dirty="0">
              <a:latin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6029CAE-805D-4CCD-BBF9-8C6F9BB95E5B}"/>
              </a:ext>
            </a:extLst>
          </p:cNvPr>
          <p:cNvSpPr txBox="1"/>
          <p:nvPr/>
        </p:nvSpPr>
        <p:spPr>
          <a:xfrm>
            <a:off x="0" y="5588372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0033CC"/>
                </a:solidFill>
              </a:rPr>
              <a:t>如果利乐继续卖瓶子</a:t>
            </a:r>
            <a:r>
              <a:rPr lang="zh-CN" altLang="en-US" sz="3600" b="1" dirty="0">
                <a:solidFill>
                  <a:srgbClr val="FF0000"/>
                </a:solidFill>
              </a:rPr>
              <a:t>结局如何？</a:t>
            </a:r>
          </a:p>
        </p:txBody>
      </p:sp>
    </p:spTree>
    <p:extLst>
      <p:ext uri="{BB962C8B-B14F-4D97-AF65-F5344CB8AC3E}">
        <p14:creationId xmlns:p14="http://schemas.microsoft.com/office/powerpoint/2010/main" val="1257603621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矩形 1">
            <a:extLst>
              <a:ext uri="{FF2B5EF4-FFF2-40B4-BE49-F238E27FC236}">
                <a16:creationId xmlns:a16="http://schemas.microsoft.com/office/drawing/2014/main" id="{BE7DBD64-BE16-4988-AE68-8EC9EBDB0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355" y="1406098"/>
            <a:ext cx="11593288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75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spcAft>
                <a:spcPct val="5000"/>
              </a:spcAft>
              <a:buClr>
                <a:schemeClr val="tx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spcAft>
                <a:spcPct val="50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spcAft>
                <a:spcPct val="5000"/>
              </a:spcAft>
              <a:buClr>
                <a:schemeClr val="tx1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spcAft>
                <a:spcPct val="5000"/>
              </a:spcAft>
              <a:buClr>
                <a:srgbClr val="333333"/>
              </a:buClr>
              <a:buSzPct val="85000"/>
              <a:buFont typeface="Wingdings" panose="05000000000000000000" pitchFamily="2" charset="2"/>
              <a:buChar char="l"/>
              <a:defRPr sz="1400" b="1">
                <a:solidFill>
                  <a:srgbClr val="333333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5000"/>
              </a:spcAft>
              <a:buClr>
                <a:srgbClr val="333333"/>
              </a:buClr>
              <a:buSzPct val="85000"/>
              <a:buFont typeface="Wingdings" panose="05000000000000000000" pitchFamily="2" charset="2"/>
              <a:buChar char="l"/>
              <a:defRPr sz="1400" b="1">
                <a:solidFill>
                  <a:srgbClr val="333333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5000"/>
              </a:spcAft>
              <a:buClr>
                <a:srgbClr val="333333"/>
              </a:buClr>
              <a:buSzPct val="85000"/>
              <a:buFont typeface="Wingdings" panose="05000000000000000000" pitchFamily="2" charset="2"/>
              <a:buChar char="l"/>
              <a:defRPr sz="1400" b="1">
                <a:solidFill>
                  <a:srgbClr val="333333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5000"/>
              </a:spcAft>
              <a:buClr>
                <a:srgbClr val="333333"/>
              </a:buClr>
              <a:buSzPct val="85000"/>
              <a:buFont typeface="Wingdings" panose="05000000000000000000" pitchFamily="2" charset="2"/>
              <a:buChar char="l"/>
              <a:defRPr sz="1400" b="1">
                <a:solidFill>
                  <a:srgbClr val="333333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5000"/>
              </a:spcAft>
              <a:buClr>
                <a:srgbClr val="333333"/>
              </a:buClr>
              <a:buSzPct val="85000"/>
              <a:buFont typeface="Wingdings" panose="05000000000000000000" pitchFamily="2" charset="2"/>
              <a:buChar char="l"/>
              <a:defRPr sz="1400" b="1">
                <a:solidFill>
                  <a:srgbClr val="333333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我们生活的这个时代充满着前所未有的机会：如果你有雄心，又不乏智慧，那么不管你从何处起步，你都可以沿着自己所选择的道路登上事业的顶峰。</a:t>
            </a:r>
            <a:endParaRPr lang="en-US" altLang="zh-CN" sz="2400" dirty="0">
              <a:latin typeface="+mn-ea"/>
              <a:ea typeface="+mn-ea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 dirty="0">
              <a:latin typeface="+mn-ea"/>
              <a:ea typeface="+mn-ea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不过，有了机会，也就有了责任。今天的公司并不怎么管员工的职业发展；实际上，知识工作者必须成为自己的首席执行官。你应该在公司中开辟自己的天地，知道何时改变发展道路，并在可能长达</a:t>
            </a:r>
            <a:r>
              <a:rPr lang="en-US" altLang="zh-CN" sz="2400" dirty="0">
                <a:latin typeface="+mn-ea"/>
                <a:ea typeface="+mn-ea"/>
              </a:rPr>
              <a:t>50</a:t>
            </a:r>
            <a:r>
              <a:rPr lang="zh-CN" altLang="en-US" sz="2400" dirty="0">
                <a:latin typeface="+mn-ea"/>
                <a:ea typeface="+mn-ea"/>
              </a:rPr>
              <a:t>年的职业生涯中不断努力、干出实绩。</a:t>
            </a:r>
            <a:endParaRPr lang="en-US" altLang="zh-CN" sz="2400" dirty="0">
              <a:latin typeface="+mn-ea"/>
              <a:ea typeface="+mn-ea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 dirty="0">
              <a:latin typeface="+mn-ea"/>
              <a:ea typeface="+mn-ea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 dirty="0">
              <a:latin typeface="+mn-ea"/>
              <a:ea typeface="+mn-ea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要做好这些事情，你首先要对自己有深刻的认识</a:t>
            </a:r>
            <a:r>
              <a:rPr lang="en-US" altLang="zh-CN" sz="2400" dirty="0">
                <a:latin typeface="+mn-ea"/>
                <a:ea typeface="+mn-ea"/>
              </a:rPr>
              <a:t>——</a:t>
            </a:r>
            <a:r>
              <a:rPr lang="zh-CN" altLang="en-US" sz="2400" dirty="0">
                <a:latin typeface="+mn-ea"/>
                <a:ea typeface="+mn-ea"/>
              </a:rPr>
              <a:t>不仅清楚自己的优点和缺点，也知道自己是怎样学习新知识和与别人共事的，并且还明白自己的价值观是什么、自己又能在哪些方面做出最大贡献。</a:t>
            </a:r>
            <a:endParaRPr lang="en-US" altLang="zh-CN" sz="2400" dirty="0">
              <a:latin typeface="+mn-ea"/>
              <a:ea typeface="+mn-ea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 dirty="0">
              <a:latin typeface="+mn-ea"/>
              <a:ea typeface="+mn-ea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 dirty="0">
              <a:latin typeface="+mn-ea"/>
              <a:ea typeface="+mn-ea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因为只有当所有工作都从自己的长处着眼，你才能真正做到卓尔不群。</a:t>
            </a:r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AF74B5FD-7174-4883-838E-22E1CC0B2431}"/>
              </a:ext>
            </a:extLst>
          </p:cNvPr>
          <p:cNvSpPr txBox="1">
            <a:spLocks/>
          </p:cNvSpPr>
          <p:nvPr/>
        </p:nvSpPr>
        <p:spPr>
          <a:xfrm>
            <a:off x="0" y="379642"/>
            <a:ext cx="12191999" cy="36240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latin typeface="+mj-ea"/>
                <a:ea typeface="+mj-ea"/>
              </a:defRPr>
            </a:lvl1pPr>
            <a:lvl2pPr marL="685766" indent="-228589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2942" indent="-228589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120" indent="-228589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298" indent="-228589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474" indent="-228589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652" indent="-228589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8829" indent="-228589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006" indent="-228589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商业知识局：知识工作者必须成为自己的首席执行官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0" y="392341"/>
            <a:ext cx="12190877" cy="438175"/>
          </a:xfrm>
        </p:spPr>
        <p:txBody>
          <a:bodyPr/>
          <a:lstStyle/>
          <a:p>
            <a:pPr algn="ctr"/>
            <a:r>
              <a:rPr lang="zh-CN" altLang="en-US" dirty="0"/>
              <a:t>德鲁克管理专栏：寻找人生下半场的意义：德鲁克的十条原则</a:t>
            </a:r>
          </a:p>
        </p:txBody>
      </p:sp>
      <p:sp>
        <p:nvSpPr>
          <p:cNvPr id="50" name="íšlíḍe">
            <a:extLst>
              <a:ext uri="{FF2B5EF4-FFF2-40B4-BE49-F238E27FC236}">
                <a16:creationId xmlns:a16="http://schemas.microsoft.com/office/drawing/2014/main" id="{FC270596-42A5-4F2E-AB83-5CF2346B6B42}"/>
              </a:ext>
            </a:extLst>
          </p:cNvPr>
          <p:cNvSpPr/>
          <p:nvPr/>
        </p:nvSpPr>
        <p:spPr>
          <a:xfrm>
            <a:off x="4449152" y="1629700"/>
            <a:ext cx="1648329" cy="1588846"/>
          </a:xfrm>
          <a:custGeom>
            <a:avLst/>
            <a:gdLst/>
            <a:ahLst/>
            <a:cxnLst/>
            <a:rect l="l" t="t" r="r" b="b"/>
            <a:pathLst>
              <a:path w="41336" h="39746" extrusionOk="0">
                <a:moveTo>
                  <a:pt x="0" y="0"/>
                </a:moveTo>
                <a:lnTo>
                  <a:pt x="0" y="17847"/>
                </a:lnTo>
                <a:cubicBezTo>
                  <a:pt x="0" y="26284"/>
                  <a:pt x="6821" y="33130"/>
                  <a:pt x="15283" y="33130"/>
                </a:cubicBezTo>
                <a:lnTo>
                  <a:pt x="29386" y="33130"/>
                </a:lnTo>
                <a:cubicBezTo>
                  <a:pt x="31617" y="33130"/>
                  <a:pt x="33874" y="33874"/>
                  <a:pt x="35464" y="35361"/>
                </a:cubicBezTo>
                <a:lnTo>
                  <a:pt x="40387" y="39746"/>
                </a:lnTo>
                <a:lnTo>
                  <a:pt x="41336" y="38797"/>
                </a:lnTo>
                <a:lnTo>
                  <a:pt x="36848" y="34720"/>
                </a:lnTo>
                <a:cubicBezTo>
                  <a:pt x="34823" y="33028"/>
                  <a:pt x="33643" y="30463"/>
                  <a:pt x="33643" y="27771"/>
                </a:cubicBezTo>
                <a:lnTo>
                  <a:pt x="33643" y="15181"/>
                </a:lnTo>
                <a:cubicBezTo>
                  <a:pt x="33643" y="6744"/>
                  <a:pt x="26925" y="0"/>
                  <a:pt x="18488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ïṣḷïde">
            <a:extLst>
              <a:ext uri="{FF2B5EF4-FFF2-40B4-BE49-F238E27FC236}">
                <a16:creationId xmlns:a16="http://schemas.microsoft.com/office/drawing/2014/main" id="{409F8C95-72CC-4BAB-86FD-239B3884E2AD}"/>
              </a:ext>
            </a:extLst>
          </p:cNvPr>
          <p:cNvSpPr/>
          <p:nvPr/>
        </p:nvSpPr>
        <p:spPr>
          <a:xfrm>
            <a:off x="4469548" y="1652709"/>
            <a:ext cx="216752" cy="211568"/>
          </a:xfrm>
          <a:custGeom>
            <a:avLst/>
            <a:gdLst>
              <a:gd name="connsiteX0" fmla="*/ 156242 w 548675"/>
              <a:gd name="connsiteY0" fmla="*/ 232482 h 535553"/>
              <a:gd name="connsiteX1" fmla="*/ 214187 w 548675"/>
              <a:gd name="connsiteY1" fmla="*/ 256837 h 535553"/>
              <a:gd name="connsiteX2" fmla="*/ 168993 w 548675"/>
              <a:gd name="connsiteY2" fmla="*/ 300709 h 535553"/>
              <a:gd name="connsiteX3" fmla="*/ 127674 w 548675"/>
              <a:gd name="connsiteY3" fmla="*/ 312322 h 535553"/>
              <a:gd name="connsiteX4" fmla="*/ 81189 w 548675"/>
              <a:gd name="connsiteY4" fmla="*/ 357485 h 535553"/>
              <a:gd name="connsiteX5" fmla="*/ 81189 w 548675"/>
              <a:gd name="connsiteY5" fmla="*/ 414260 h 535553"/>
              <a:gd name="connsiteX6" fmla="*/ 123800 w 548675"/>
              <a:gd name="connsiteY6" fmla="*/ 456842 h 535553"/>
              <a:gd name="connsiteX7" fmla="*/ 180615 w 548675"/>
              <a:gd name="connsiteY7" fmla="*/ 456842 h 535553"/>
              <a:gd name="connsiteX8" fmla="*/ 227099 w 548675"/>
              <a:gd name="connsiteY8" fmla="*/ 411680 h 535553"/>
              <a:gd name="connsiteX9" fmla="*/ 240012 w 548675"/>
              <a:gd name="connsiteY9" fmla="*/ 370388 h 535553"/>
              <a:gd name="connsiteX10" fmla="*/ 285205 w 548675"/>
              <a:gd name="connsiteY10" fmla="*/ 326516 h 535553"/>
              <a:gd name="connsiteX11" fmla="*/ 285205 w 548675"/>
              <a:gd name="connsiteY11" fmla="*/ 440068 h 535553"/>
              <a:gd name="connsiteX12" fmla="*/ 210313 w 548675"/>
              <a:gd name="connsiteY12" fmla="*/ 512327 h 535553"/>
              <a:gd name="connsiteX13" fmla="*/ 95392 w 548675"/>
              <a:gd name="connsiteY13" fmla="*/ 512327 h 535553"/>
              <a:gd name="connsiteX14" fmla="*/ 23083 w 548675"/>
              <a:gd name="connsiteY14" fmla="*/ 441358 h 535553"/>
              <a:gd name="connsiteX15" fmla="*/ 24374 w 548675"/>
              <a:gd name="connsiteY15" fmla="*/ 329097 h 535553"/>
              <a:gd name="connsiteX16" fmla="*/ 99266 w 548675"/>
              <a:gd name="connsiteY16" fmla="*/ 255547 h 535553"/>
              <a:gd name="connsiteX17" fmla="*/ 156242 w 548675"/>
              <a:gd name="connsiteY17" fmla="*/ 232482 h 535553"/>
              <a:gd name="connsiteX18" fmla="*/ 339490 w 548675"/>
              <a:gd name="connsiteY18" fmla="*/ 176395 h 535553"/>
              <a:gd name="connsiteX19" fmla="*/ 358873 w 548675"/>
              <a:gd name="connsiteY19" fmla="*/ 184615 h 535553"/>
              <a:gd name="connsiteX20" fmla="*/ 358873 w 548675"/>
              <a:gd name="connsiteY20" fmla="*/ 223297 h 535553"/>
              <a:gd name="connsiteX21" fmla="*/ 229652 w 548675"/>
              <a:gd name="connsiteY21" fmla="*/ 349656 h 535553"/>
              <a:gd name="connsiteX22" fmla="*/ 192178 w 548675"/>
              <a:gd name="connsiteY22" fmla="*/ 349656 h 535553"/>
              <a:gd name="connsiteX23" fmla="*/ 192178 w 548675"/>
              <a:gd name="connsiteY23" fmla="*/ 312264 h 535553"/>
              <a:gd name="connsiteX24" fmla="*/ 320107 w 548675"/>
              <a:gd name="connsiteY24" fmla="*/ 184615 h 535553"/>
              <a:gd name="connsiteX25" fmla="*/ 339490 w 548675"/>
              <a:gd name="connsiteY25" fmla="*/ 176395 h 535553"/>
              <a:gd name="connsiteX26" fmla="*/ 399515 w 548675"/>
              <a:gd name="connsiteY26" fmla="*/ 2 h 535553"/>
              <a:gd name="connsiteX27" fmla="*/ 455692 w 548675"/>
              <a:gd name="connsiteY27" fmla="*/ 23378 h 535553"/>
              <a:gd name="connsiteX28" fmla="*/ 525430 w 548675"/>
              <a:gd name="connsiteY28" fmla="*/ 93022 h 535553"/>
              <a:gd name="connsiteX29" fmla="*/ 525430 w 548675"/>
              <a:gd name="connsiteY29" fmla="*/ 202648 h 535553"/>
              <a:gd name="connsiteX30" fmla="*/ 447943 w 548675"/>
              <a:gd name="connsiteY30" fmla="*/ 278741 h 535553"/>
              <a:gd name="connsiteX31" fmla="*/ 334297 w 548675"/>
              <a:gd name="connsiteY31" fmla="*/ 278741 h 535553"/>
              <a:gd name="connsiteX32" fmla="*/ 378206 w 548675"/>
              <a:gd name="connsiteY32" fmla="*/ 236180 h 535553"/>
              <a:gd name="connsiteX33" fmla="*/ 419532 w 548675"/>
              <a:gd name="connsiteY33" fmla="*/ 223283 h 535553"/>
              <a:gd name="connsiteX34" fmla="*/ 468606 w 548675"/>
              <a:gd name="connsiteY34" fmla="*/ 175564 h 535553"/>
              <a:gd name="connsiteX35" fmla="*/ 469898 w 548675"/>
              <a:gd name="connsiteY35" fmla="*/ 120106 h 535553"/>
              <a:gd name="connsiteX36" fmla="*/ 427280 w 548675"/>
              <a:gd name="connsiteY36" fmla="*/ 78836 h 535553"/>
              <a:gd name="connsiteX37" fmla="*/ 370457 w 548675"/>
              <a:gd name="connsiteY37" fmla="*/ 77546 h 535553"/>
              <a:gd name="connsiteX38" fmla="*/ 321383 w 548675"/>
              <a:gd name="connsiteY38" fmla="*/ 126555 h 535553"/>
              <a:gd name="connsiteX39" fmla="*/ 308468 w 548675"/>
              <a:gd name="connsiteY39" fmla="*/ 166536 h 535553"/>
              <a:gd name="connsiteX40" fmla="*/ 264559 w 548675"/>
              <a:gd name="connsiteY40" fmla="*/ 209097 h 535553"/>
              <a:gd name="connsiteX41" fmla="*/ 264559 w 548675"/>
              <a:gd name="connsiteY41" fmla="*/ 98181 h 535553"/>
              <a:gd name="connsiteX42" fmla="*/ 343337 w 548675"/>
              <a:gd name="connsiteY42" fmla="*/ 22088 h 535553"/>
              <a:gd name="connsiteX43" fmla="*/ 399515 w 548675"/>
              <a:gd name="connsiteY43" fmla="*/ 2 h 535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548675" h="535553">
                <a:moveTo>
                  <a:pt x="156242" y="232482"/>
                </a:moveTo>
                <a:cubicBezTo>
                  <a:pt x="177064" y="232643"/>
                  <a:pt x="198046" y="240708"/>
                  <a:pt x="214187" y="256837"/>
                </a:cubicBezTo>
                <a:lnTo>
                  <a:pt x="168993" y="300709"/>
                </a:lnTo>
                <a:cubicBezTo>
                  <a:pt x="154790" y="295548"/>
                  <a:pt x="139295" y="301999"/>
                  <a:pt x="127674" y="312322"/>
                </a:cubicBezTo>
                <a:lnTo>
                  <a:pt x="81189" y="357485"/>
                </a:lnTo>
                <a:cubicBezTo>
                  <a:pt x="65694" y="372969"/>
                  <a:pt x="65694" y="398776"/>
                  <a:pt x="81189" y="414260"/>
                </a:cubicBezTo>
                <a:lnTo>
                  <a:pt x="123800" y="456842"/>
                </a:lnTo>
                <a:cubicBezTo>
                  <a:pt x="139295" y="472326"/>
                  <a:pt x="165120" y="472326"/>
                  <a:pt x="180615" y="456842"/>
                </a:cubicBezTo>
                <a:lnTo>
                  <a:pt x="227099" y="411680"/>
                </a:lnTo>
                <a:cubicBezTo>
                  <a:pt x="238720" y="401357"/>
                  <a:pt x="243885" y="383292"/>
                  <a:pt x="240012" y="370388"/>
                </a:cubicBezTo>
                <a:lnTo>
                  <a:pt x="285205" y="326516"/>
                </a:lnTo>
                <a:cubicBezTo>
                  <a:pt x="316195" y="358775"/>
                  <a:pt x="316195" y="409099"/>
                  <a:pt x="285205" y="440068"/>
                </a:cubicBezTo>
                <a:lnTo>
                  <a:pt x="210313" y="512327"/>
                </a:lnTo>
                <a:cubicBezTo>
                  <a:pt x="178032" y="543296"/>
                  <a:pt x="126382" y="543296"/>
                  <a:pt x="95392" y="512327"/>
                </a:cubicBezTo>
                <a:lnTo>
                  <a:pt x="23083" y="441358"/>
                </a:lnTo>
                <a:cubicBezTo>
                  <a:pt x="-7907" y="410389"/>
                  <a:pt x="-7907" y="360065"/>
                  <a:pt x="24374" y="329097"/>
                </a:cubicBezTo>
                <a:lnTo>
                  <a:pt x="99266" y="255547"/>
                </a:lnTo>
                <a:cubicBezTo>
                  <a:pt x="114761" y="240063"/>
                  <a:pt x="135421" y="232320"/>
                  <a:pt x="156242" y="232482"/>
                </a:cubicBezTo>
                <a:close/>
                <a:moveTo>
                  <a:pt x="339490" y="176395"/>
                </a:moveTo>
                <a:cubicBezTo>
                  <a:pt x="346597" y="176557"/>
                  <a:pt x="353704" y="179458"/>
                  <a:pt x="358873" y="184615"/>
                </a:cubicBezTo>
                <a:cubicBezTo>
                  <a:pt x="369211" y="194930"/>
                  <a:pt x="369211" y="211692"/>
                  <a:pt x="358873" y="223297"/>
                </a:cubicBezTo>
                <a:lnTo>
                  <a:pt x="229652" y="349656"/>
                </a:lnTo>
                <a:cubicBezTo>
                  <a:pt x="219314" y="361260"/>
                  <a:pt x="202516" y="361260"/>
                  <a:pt x="192178" y="349656"/>
                </a:cubicBezTo>
                <a:cubicBezTo>
                  <a:pt x="180548" y="339341"/>
                  <a:pt x="180548" y="322579"/>
                  <a:pt x="192178" y="312264"/>
                </a:cubicBezTo>
                <a:lnTo>
                  <a:pt x="320107" y="184615"/>
                </a:lnTo>
                <a:cubicBezTo>
                  <a:pt x="325276" y="178813"/>
                  <a:pt x="332383" y="176234"/>
                  <a:pt x="339490" y="176395"/>
                </a:cubicBezTo>
                <a:close/>
                <a:moveTo>
                  <a:pt x="399515" y="2"/>
                </a:moveTo>
                <a:cubicBezTo>
                  <a:pt x="419855" y="163"/>
                  <a:pt x="440195" y="7902"/>
                  <a:pt x="455692" y="23378"/>
                </a:cubicBezTo>
                <a:lnTo>
                  <a:pt x="525430" y="93022"/>
                </a:lnTo>
                <a:cubicBezTo>
                  <a:pt x="556424" y="122686"/>
                  <a:pt x="556424" y="172985"/>
                  <a:pt x="525430" y="202648"/>
                </a:cubicBezTo>
                <a:lnTo>
                  <a:pt x="447943" y="278741"/>
                </a:lnTo>
                <a:cubicBezTo>
                  <a:pt x="416949" y="309694"/>
                  <a:pt x="365291" y="309694"/>
                  <a:pt x="334297" y="278741"/>
                </a:cubicBezTo>
                <a:lnTo>
                  <a:pt x="378206" y="236180"/>
                </a:lnTo>
                <a:cubicBezTo>
                  <a:pt x="392412" y="238760"/>
                  <a:pt x="409200" y="233601"/>
                  <a:pt x="419532" y="223283"/>
                </a:cubicBezTo>
                <a:lnTo>
                  <a:pt x="468606" y="175564"/>
                </a:lnTo>
                <a:cubicBezTo>
                  <a:pt x="484104" y="160087"/>
                  <a:pt x="485395" y="135583"/>
                  <a:pt x="469898" y="120106"/>
                </a:cubicBezTo>
                <a:lnTo>
                  <a:pt x="427280" y="78836"/>
                </a:lnTo>
                <a:cubicBezTo>
                  <a:pt x="411783" y="63359"/>
                  <a:pt x="385954" y="63359"/>
                  <a:pt x="370457" y="77546"/>
                </a:cubicBezTo>
                <a:lnTo>
                  <a:pt x="321383" y="126555"/>
                </a:lnTo>
                <a:cubicBezTo>
                  <a:pt x="309760" y="136873"/>
                  <a:pt x="304594" y="152349"/>
                  <a:pt x="308468" y="166536"/>
                </a:cubicBezTo>
                <a:lnTo>
                  <a:pt x="264559" y="209097"/>
                </a:lnTo>
                <a:cubicBezTo>
                  <a:pt x="233565" y="178143"/>
                  <a:pt x="233565" y="129134"/>
                  <a:pt x="264559" y="98181"/>
                </a:cubicBezTo>
                <a:lnTo>
                  <a:pt x="343337" y="22088"/>
                </a:lnTo>
                <a:cubicBezTo>
                  <a:pt x="358834" y="7257"/>
                  <a:pt x="379174" y="-159"/>
                  <a:pt x="399515" y="2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12700" cap="rnd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40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354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46" name="ïślîḓê">
            <a:extLst>
              <a:ext uri="{FF2B5EF4-FFF2-40B4-BE49-F238E27FC236}">
                <a16:creationId xmlns:a16="http://schemas.microsoft.com/office/drawing/2014/main" id="{2666AC62-ED80-4FCA-9DED-B27B99C31BB3}"/>
              </a:ext>
            </a:extLst>
          </p:cNvPr>
          <p:cNvSpPr/>
          <p:nvPr/>
        </p:nvSpPr>
        <p:spPr>
          <a:xfrm>
            <a:off x="6081819" y="2449738"/>
            <a:ext cx="1648329" cy="1588846"/>
          </a:xfrm>
          <a:custGeom>
            <a:avLst/>
            <a:gdLst/>
            <a:ahLst/>
            <a:cxnLst/>
            <a:rect l="l" t="t" r="r" b="b"/>
            <a:pathLst>
              <a:path w="41260" h="39747" extrusionOk="0">
                <a:moveTo>
                  <a:pt x="22771" y="1"/>
                </a:moveTo>
                <a:cubicBezTo>
                  <a:pt x="14437" y="1"/>
                  <a:pt x="7591" y="6719"/>
                  <a:pt x="7591" y="15181"/>
                </a:cubicBezTo>
                <a:lnTo>
                  <a:pt x="7591" y="27771"/>
                </a:lnTo>
                <a:cubicBezTo>
                  <a:pt x="7591" y="30438"/>
                  <a:pt x="6514" y="33002"/>
                  <a:pt x="4488" y="34720"/>
                </a:cubicBezTo>
                <a:lnTo>
                  <a:pt x="1" y="38669"/>
                </a:lnTo>
                <a:lnTo>
                  <a:pt x="975" y="39746"/>
                </a:lnTo>
                <a:lnTo>
                  <a:pt x="5770" y="35362"/>
                </a:lnTo>
                <a:cubicBezTo>
                  <a:pt x="7488" y="33874"/>
                  <a:pt x="9719" y="33002"/>
                  <a:pt x="11976" y="33002"/>
                </a:cubicBezTo>
                <a:lnTo>
                  <a:pt x="26079" y="33002"/>
                </a:lnTo>
                <a:cubicBezTo>
                  <a:pt x="34515" y="33002"/>
                  <a:pt x="41259" y="26284"/>
                  <a:pt x="41259" y="17848"/>
                </a:cubicBezTo>
                <a:lnTo>
                  <a:pt x="41259" y="1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ïṥḻíḑè">
            <a:extLst>
              <a:ext uri="{FF2B5EF4-FFF2-40B4-BE49-F238E27FC236}">
                <a16:creationId xmlns:a16="http://schemas.microsoft.com/office/drawing/2014/main" id="{2F5719DC-C2AB-4010-9234-B9181AC72CBA}"/>
              </a:ext>
            </a:extLst>
          </p:cNvPr>
          <p:cNvSpPr/>
          <p:nvPr/>
        </p:nvSpPr>
        <p:spPr>
          <a:xfrm>
            <a:off x="7492480" y="2472727"/>
            <a:ext cx="216752" cy="211568"/>
          </a:xfrm>
          <a:custGeom>
            <a:avLst/>
            <a:gdLst>
              <a:gd name="connsiteX0" fmla="*/ 156242 w 548675"/>
              <a:gd name="connsiteY0" fmla="*/ 232482 h 535553"/>
              <a:gd name="connsiteX1" fmla="*/ 214187 w 548675"/>
              <a:gd name="connsiteY1" fmla="*/ 256837 h 535553"/>
              <a:gd name="connsiteX2" fmla="*/ 168993 w 548675"/>
              <a:gd name="connsiteY2" fmla="*/ 300709 h 535553"/>
              <a:gd name="connsiteX3" fmla="*/ 127674 w 548675"/>
              <a:gd name="connsiteY3" fmla="*/ 312322 h 535553"/>
              <a:gd name="connsiteX4" fmla="*/ 81189 w 548675"/>
              <a:gd name="connsiteY4" fmla="*/ 357485 h 535553"/>
              <a:gd name="connsiteX5" fmla="*/ 81189 w 548675"/>
              <a:gd name="connsiteY5" fmla="*/ 414260 h 535553"/>
              <a:gd name="connsiteX6" fmla="*/ 123800 w 548675"/>
              <a:gd name="connsiteY6" fmla="*/ 456842 h 535553"/>
              <a:gd name="connsiteX7" fmla="*/ 180615 w 548675"/>
              <a:gd name="connsiteY7" fmla="*/ 456842 h 535553"/>
              <a:gd name="connsiteX8" fmla="*/ 227099 w 548675"/>
              <a:gd name="connsiteY8" fmla="*/ 411680 h 535553"/>
              <a:gd name="connsiteX9" fmla="*/ 240012 w 548675"/>
              <a:gd name="connsiteY9" fmla="*/ 370388 h 535553"/>
              <a:gd name="connsiteX10" fmla="*/ 285205 w 548675"/>
              <a:gd name="connsiteY10" fmla="*/ 326516 h 535553"/>
              <a:gd name="connsiteX11" fmla="*/ 285205 w 548675"/>
              <a:gd name="connsiteY11" fmla="*/ 440068 h 535553"/>
              <a:gd name="connsiteX12" fmla="*/ 210313 w 548675"/>
              <a:gd name="connsiteY12" fmla="*/ 512327 h 535553"/>
              <a:gd name="connsiteX13" fmla="*/ 95392 w 548675"/>
              <a:gd name="connsiteY13" fmla="*/ 512327 h 535553"/>
              <a:gd name="connsiteX14" fmla="*/ 23083 w 548675"/>
              <a:gd name="connsiteY14" fmla="*/ 441358 h 535553"/>
              <a:gd name="connsiteX15" fmla="*/ 24374 w 548675"/>
              <a:gd name="connsiteY15" fmla="*/ 329097 h 535553"/>
              <a:gd name="connsiteX16" fmla="*/ 99266 w 548675"/>
              <a:gd name="connsiteY16" fmla="*/ 255547 h 535553"/>
              <a:gd name="connsiteX17" fmla="*/ 156242 w 548675"/>
              <a:gd name="connsiteY17" fmla="*/ 232482 h 535553"/>
              <a:gd name="connsiteX18" fmla="*/ 339490 w 548675"/>
              <a:gd name="connsiteY18" fmla="*/ 176395 h 535553"/>
              <a:gd name="connsiteX19" fmla="*/ 358873 w 548675"/>
              <a:gd name="connsiteY19" fmla="*/ 184615 h 535553"/>
              <a:gd name="connsiteX20" fmla="*/ 358873 w 548675"/>
              <a:gd name="connsiteY20" fmla="*/ 223297 h 535553"/>
              <a:gd name="connsiteX21" fmla="*/ 229652 w 548675"/>
              <a:gd name="connsiteY21" fmla="*/ 349656 h 535553"/>
              <a:gd name="connsiteX22" fmla="*/ 192178 w 548675"/>
              <a:gd name="connsiteY22" fmla="*/ 349656 h 535553"/>
              <a:gd name="connsiteX23" fmla="*/ 192178 w 548675"/>
              <a:gd name="connsiteY23" fmla="*/ 312264 h 535553"/>
              <a:gd name="connsiteX24" fmla="*/ 320107 w 548675"/>
              <a:gd name="connsiteY24" fmla="*/ 184615 h 535553"/>
              <a:gd name="connsiteX25" fmla="*/ 339490 w 548675"/>
              <a:gd name="connsiteY25" fmla="*/ 176395 h 535553"/>
              <a:gd name="connsiteX26" fmla="*/ 399515 w 548675"/>
              <a:gd name="connsiteY26" fmla="*/ 2 h 535553"/>
              <a:gd name="connsiteX27" fmla="*/ 455692 w 548675"/>
              <a:gd name="connsiteY27" fmla="*/ 23378 h 535553"/>
              <a:gd name="connsiteX28" fmla="*/ 525430 w 548675"/>
              <a:gd name="connsiteY28" fmla="*/ 93022 h 535553"/>
              <a:gd name="connsiteX29" fmla="*/ 525430 w 548675"/>
              <a:gd name="connsiteY29" fmla="*/ 202648 h 535553"/>
              <a:gd name="connsiteX30" fmla="*/ 447943 w 548675"/>
              <a:gd name="connsiteY30" fmla="*/ 278741 h 535553"/>
              <a:gd name="connsiteX31" fmla="*/ 334297 w 548675"/>
              <a:gd name="connsiteY31" fmla="*/ 278741 h 535553"/>
              <a:gd name="connsiteX32" fmla="*/ 378206 w 548675"/>
              <a:gd name="connsiteY32" fmla="*/ 236180 h 535553"/>
              <a:gd name="connsiteX33" fmla="*/ 419532 w 548675"/>
              <a:gd name="connsiteY33" fmla="*/ 223283 h 535553"/>
              <a:gd name="connsiteX34" fmla="*/ 468606 w 548675"/>
              <a:gd name="connsiteY34" fmla="*/ 175564 h 535553"/>
              <a:gd name="connsiteX35" fmla="*/ 469898 w 548675"/>
              <a:gd name="connsiteY35" fmla="*/ 120106 h 535553"/>
              <a:gd name="connsiteX36" fmla="*/ 427280 w 548675"/>
              <a:gd name="connsiteY36" fmla="*/ 78836 h 535553"/>
              <a:gd name="connsiteX37" fmla="*/ 370457 w 548675"/>
              <a:gd name="connsiteY37" fmla="*/ 77546 h 535553"/>
              <a:gd name="connsiteX38" fmla="*/ 321383 w 548675"/>
              <a:gd name="connsiteY38" fmla="*/ 126555 h 535553"/>
              <a:gd name="connsiteX39" fmla="*/ 308468 w 548675"/>
              <a:gd name="connsiteY39" fmla="*/ 166536 h 535553"/>
              <a:gd name="connsiteX40" fmla="*/ 264559 w 548675"/>
              <a:gd name="connsiteY40" fmla="*/ 209097 h 535553"/>
              <a:gd name="connsiteX41" fmla="*/ 264559 w 548675"/>
              <a:gd name="connsiteY41" fmla="*/ 98181 h 535553"/>
              <a:gd name="connsiteX42" fmla="*/ 343337 w 548675"/>
              <a:gd name="connsiteY42" fmla="*/ 22088 h 535553"/>
              <a:gd name="connsiteX43" fmla="*/ 399515 w 548675"/>
              <a:gd name="connsiteY43" fmla="*/ 2 h 535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548675" h="535553">
                <a:moveTo>
                  <a:pt x="156242" y="232482"/>
                </a:moveTo>
                <a:cubicBezTo>
                  <a:pt x="177064" y="232643"/>
                  <a:pt x="198046" y="240708"/>
                  <a:pt x="214187" y="256837"/>
                </a:cubicBezTo>
                <a:lnTo>
                  <a:pt x="168993" y="300709"/>
                </a:lnTo>
                <a:cubicBezTo>
                  <a:pt x="154790" y="295548"/>
                  <a:pt x="139295" y="301999"/>
                  <a:pt x="127674" y="312322"/>
                </a:cubicBezTo>
                <a:lnTo>
                  <a:pt x="81189" y="357485"/>
                </a:lnTo>
                <a:cubicBezTo>
                  <a:pt x="65694" y="372969"/>
                  <a:pt x="65694" y="398776"/>
                  <a:pt x="81189" y="414260"/>
                </a:cubicBezTo>
                <a:lnTo>
                  <a:pt x="123800" y="456842"/>
                </a:lnTo>
                <a:cubicBezTo>
                  <a:pt x="139295" y="472326"/>
                  <a:pt x="165120" y="472326"/>
                  <a:pt x="180615" y="456842"/>
                </a:cubicBezTo>
                <a:lnTo>
                  <a:pt x="227099" y="411680"/>
                </a:lnTo>
                <a:cubicBezTo>
                  <a:pt x="238720" y="401357"/>
                  <a:pt x="243885" y="383292"/>
                  <a:pt x="240012" y="370388"/>
                </a:cubicBezTo>
                <a:lnTo>
                  <a:pt x="285205" y="326516"/>
                </a:lnTo>
                <a:cubicBezTo>
                  <a:pt x="316195" y="358775"/>
                  <a:pt x="316195" y="409099"/>
                  <a:pt x="285205" y="440068"/>
                </a:cubicBezTo>
                <a:lnTo>
                  <a:pt x="210313" y="512327"/>
                </a:lnTo>
                <a:cubicBezTo>
                  <a:pt x="178032" y="543296"/>
                  <a:pt x="126382" y="543296"/>
                  <a:pt x="95392" y="512327"/>
                </a:cubicBezTo>
                <a:lnTo>
                  <a:pt x="23083" y="441358"/>
                </a:lnTo>
                <a:cubicBezTo>
                  <a:pt x="-7907" y="410389"/>
                  <a:pt x="-7907" y="360065"/>
                  <a:pt x="24374" y="329097"/>
                </a:cubicBezTo>
                <a:lnTo>
                  <a:pt x="99266" y="255547"/>
                </a:lnTo>
                <a:cubicBezTo>
                  <a:pt x="114761" y="240063"/>
                  <a:pt x="135421" y="232320"/>
                  <a:pt x="156242" y="232482"/>
                </a:cubicBezTo>
                <a:close/>
                <a:moveTo>
                  <a:pt x="339490" y="176395"/>
                </a:moveTo>
                <a:cubicBezTo>
                  <a:pt x="346597" y="176557"/>
                  <a:pt x="353704" y="179458"/>
                  <a:pt x="358873" y="184615"/>
                </a:cubicBezTo>
                <a:cubicBezTo>
                  <a:pt x="369211" y="194930"/>
                  <a:pt x="369211" y="211692"/>
                  <a:pt x="358873" y="223297"/>
                </a:cubicBezTo>
                <a:lnTo>
                  <a:pt x="229652" y="349656"/>
                </a:lnTo>
                <a:cubicBezTo>
                  <a:pt x="219314" y="361260"/>
                  <a:pt x="202516" y="361260"/>
                  <a:pt x="192178" y="349656"/>
                </a:cubicBezTo>
                <a:cubicBezTo>
                  <a:pt x="180548" y="339341"/>
                  <a:pt x="180548" y="322579"/>
                  <a:pt x="192178" y="312264"/>
                </a:cubicBezTo>
                <a:lnTo>
                  <a:pt x="320107" y="184615"/>
                </a:lnTo>
                <a:cubicBezTo>
                  <a:pt x="325276" y="178813"/>
                  <a:pt x="332383" y="176234"/>
                  <a:pt x="339490" y="176395"/>
                </a:cubicBezTo>
                <a:close/>
                <a:moveTo>
                  <a:pt x="399515" y="2"/>
                </a:moveTo>
                <a:cubicBezTo>
                  <a:pt x="419855" y="163"/>
                  <a:pt x="440195" y="7902"/>
                  <a:pt x="455692" y="23378"/>
                </a:cubicBezTo>
                <a:lnTo>
                  <a:pt x="525430" y="93022"/>
                </a:lnTo>
                <a:cubicBezTo>
                  <a:pt x="556424" y="122686"/>
                  <a:pt x="556424" y="172985"/>
                  <a:pt x="525430" y="202648"/>
                </a:cubicBezTo>
                <a:lnTo>
                  <a:pt x="447943" y="278741"/>
                </a:lnTo>
                <a:cubicBezTo>
                  <a:pt x="416949" y="309694"/>
                  <a:pt x="365291" y="309694"/>
                  <a:pt x="334297" y="278741"/>
                </a:cubicBezTo>
                <a:lnTo>
                  <a:pt x="378206" y="236180"/>
                </a:lnTo>
                <a:cubicBezTo>
                  <a:pt x="392412" y="238760"/>
                  <a:pt x="409200" y="233601"/>
                  <a:pt x="419532" y="223283"/>
                </a:cubicBezTo>
                <a:lnTo>
                  <a:pt x="468606" y="175564"/>
                </a:lnTo>
                <a:cubicBezTo>
                  <a:pt x="484104" y="160087"/>
                  <a:pt x="485395" y="135583"/>
                  <a:pt x="469898" y="120106"/>
                </a:cubicBezTo>
                <a:lnTo>
                  <a:pt x="427280" y="78836"/>
                </a:lnTo>
                <a:cubicBezTo>
                  <a:pt x="411783" y="63359"/>
                  <a:pt x="385954" y="63359"/>
                  <a:pt x="370457" y="77546"/>
                </a:cubicBezTo>
                <a:lnTo>
                  <a:pt x="321383" y="126555"/>
                </a:lnTo>
                <a:cubicBezTo>
                  <a:pt x="309760" y="136873"/>
                  <a:pt x="304594" y="152349"/>
                  <a:pt x="308468" y="166536"/>
                </a:cubicBezTo>
                <a:lnTo>
                  <a:pt x="264559" y="209097"/>
                </a:lnTo>
                <a:cubicBezTo>
                  <a:pt x="233565" y="178143"/>
                  <a:pt x="233565" y="129134"/>
                  <a:pt x="264559" y="98181"/>
                </a:cubicBezTo>
                <a:lnTo>
                  <a:pt x="343337" y="22088"/>
                </a:lnTo>
                <a:cubicBezTo>
                  <a:pt x="358834" y="7257"/>
                  <a:pt x="379174" y="-159"/>
                  <a:pt x="399515" y="2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12700" cap="rnd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40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354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42" name="ïṥḻïdè">
            <a:extLst>
              <a:ext uri="{FF2B5EF4-FFF2-40B4-BE49-F238E27FC236}">
                <a16:creationId xmlns:a16="http://schemas.microsoft.com/office/drawing/2014/main" id="{F1BC074E-573C-4B5A-A61C-CAAEB00F4D8C}"/>
              </a:ext>
            </a:extLst>
          </p:cNvPr>
          <p:cNvSpPr/>
          <p:nvPr/>
        </p:nvSpPr>
        <p:spPr>
          <a:xfrm>
            <a:off x="6081819" y="4089813"/>
            <a:ext cx="1648329" cy="1588846"/>
          </a:xfrm>
          <a:custGeom>
            <a:avLst/>
            <a:gdLst/>
            <a:ahLst/>
            <a:cxnLst/>
            <a:rect l="l" t="t" r="r" b="b"/>
            <a:pathLst>
              <a:path w="41234" h="39746" extrusionOk="0">
                <a:moveTo>
                  <a:pt x="22746" y="0"/>
                </a:moveTo>
                <a:cubicBezTo>
                  <a:pt x="14412" y="0"/>
                  <a:pt x="7591" y="6847"/>
                  <a:pt x="7591" y="15180"/>
                </a:cubicBezTo>
                <a:lnTo>
                  <a:pt x="7591" y="27899"/>
                </a:lnTo>
                <a:cubicBezTo>
                  <a:pt x="7591" y="30566"/>
                  <a:pt x="6514" y="33028"/>
                  <a:pt x="4488" y="34823"/>
                </a:cubicBezTo>
                <a:lnTo>
                  <a:pt x="1" y="38797"/>
                </a:lnTo>
                <a:lnTo>
                  <a:pt x="950" y="39746"/>
                </a:lnTo>
                <a:lnTo>
                  <a:pt x="5770" y="35464"/>
                </a:lnTo>
                <a:cubicBezTo>
                  <a:pt x="7463" y="33976"/>
                  <a:pt x="9719" y="33130"/>
                  <a:pt x="11950" y="33130"/>
                </a:cubicBezTo>
                <a:lnTo>
                  <a:pt x="26054" y="33130"/>
                </a:lnTo>
                <a:cubicBezTo>
                  <a:pt x="34516" y="33130"/>
                  <a:pt x="41234" y="26284"/>
                  <a:pt x="41234" y="17950"/>
                </a:cubicBezTo>
                <a:lnTo>
                  <a:pt x="41234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ïŝlîdê">
            <a:extLst>
              <a:ext uri="{FF2B5EF4-FFF2-40B4-BE49-F238E27FC236}">
                <a16:creationId xmlns:a16="http://schemas.microsoft.com/office/drawing/2014/main" id="{85B248AD-6C82-4955-8C21-5FD9ED54541C}"/>
              </a:ext>
            </a:extLst>
          </p:cNvPr>
          <p:cNvSpPr/>
          <p:nvPr/>
        </p:nvSpPr>
        <p:spPr>
          <a:xfrm>
            <a:off x="7492480" y="4112802"/>
            <a:ext cx="216752" cy="211568"/>
          </a:xfrm>
          <a:custGeom>
            <a:avLst/>
            <a:gdLst>
              <a:gd name="connsiteX0" fmla="*/ 156242 w 548675"/>
              <a:gd name="connsiteY0" fmla="*/ 232482 h 535553"/>
              <a:gd name="connsiteX1" fmla="*/ 214187 w 548675"/>
              <a:gd name="connsiteY1" fmla="*/ 256837 h 535553"/>
              <a:gd name="connsiteX2" fmla="*/ 168993 w 548675"/>
              <a:gd name="connsiteY2" fmla="*/ 300709 h 535553"/>
              <a:gd name="connsiteX3" fmla="*/ 127674 w 548675"/>
              <a:gd name="connsiteY3" fmla="*/ 312322 h 535553"/>
              <a:gd name="connsiteX4" fmla="*/ 81189 w 548675"/>
              <a:gd name="connsiteY4" fmla="*/ 357485 h 535553"/>
              <a:gd name="connsiteX5" fmla="*/ 81189 w 548675"/>
              <a:gd name="connsiteY5" fmla="*/ 414260 h 535553"/>
              <a:gd name="connsiteX6" fmla="*/ 123800 w 548675"/>
              <a:gd name="connsiteY6" fmla="*/ 456842 h 535553"/>
              <a:gd name="connsiteX7" fmla="*/ 180615 w 548675"/>
              <a:gd name="connsiteY7" fmla="*/ 456842 h 535553"/>
              <a:gd name="connsiteX8" fmla="*/ 227099 w 548675"/>
              <a:gd name="connsiteY8" fmla="*/ 411680 h 535553"/>
              <a:gd name="connsiteX9" fmla="*/ 240012 w 548675"/>
              <a:gd name="connsiteY9" fmla="*/ 370388 h 535553"/>
              <a:gd name="connsiteX10" fmla="*/ 285205 w 548675"/>
              <a:gd name="connsiteY10" fmla="*/ 326516 h 535553"/>
              <a:gd name="connsiteX11" fmla="*/ 285205 w 548675"/>
              <a:gd name="connsiteY11" fmla="*/ 440068 h 535553"/>
              <a:gd name="connsiteX12" fmla="*/ 210313 w 548675"/>
              <a:gd name="connsiteY12" fmla="*/ 512327 h 535553"/>
              <a:gd name="connsiteX13" fmla="*/ 95392 w 548675"/>
              <a:gd name="connsiteY13" fmla="*/ 512327 h 535553"/>
              <a:gd name="connsiteX14" fmla="*/ 23083 w 548675"/>
              <a:gd name="connsiteY14" fmla="*/ 441358 h 535553"/>
              <a:gd name="connsiteX15" fmla="*/ 24374 w 548675"/>
              <a:gd name="connsiteY15" fmla="*/ 329097 h 535553"/>
              <a:gd name="connsiteX16" fmla="*/ 99266 w 548675"/>
              <a:gd name="connsiteY16" fmla="*/ 255547 h 535553"/>
              <a:gd name="connsiteX17" fmla="*/ 156242 w 548675"/>
              <a:gd name="connsiteY17" fmla="*/ 232482 h 535553"/>
              <a:gd name="connsiteX18" fmla="*/ 339490 w 548675"/>
              <a:gd name="connsiteY18" fmla="*/ 176395 h 535553"/>
              <a:gd name="connsiteX19" fmla="*/ 358873 w 548675"/>
              <a:gd name="connsiteY19" fmla="*/ 184615 h 535553"/>
              <a:gd name="connsiteX20" fmla="*/ 358873 w 548675"/>
              <a:gd name="connsiteY20" fmla="*/ 223297 h 535553"/>
              <a:gd name="connsiteX21" fmla="*/ 229652 w 548675"/>
              <a:gd name="connsiteY21" fmla="*/ 349656 h 535553"/>
              <a:gd name="connsiteX22" fmla="*/ 192178 w 548675"/>
              <a:gd name="connsiteY22" fmla="*/ 349656 h 535553"/>
              <a:gd name="connsiteX23" fmla="*/ 192178 w 548675"/>
              <a:gd name="connsiteY23" fmla="*/ 312264 h 535553"/>
              <a:gd name="connsiteX24" fmla="*/ 320107 w 548675"/>
              <a:gd name="connsiteY24" fmla="*/ 184615 h 535553"/>
              <a:gd name="connsiteX25" fmla="*/ 339490 w 548675"/>
              <a:gd name="connsiteY25" fmla="*/ 176395 h 535553"/>
              <a:gd name="connsiteX26" fmla="*/ 399515 w 548675"/>
              <a:gd name="connsiteY26" fmla="*/ 2 h 535553"/>
              <a:gd name="connsiteX27" fmla="*/ 455692 w 548675"/>
              <a:gd name="connsiteY27" fmla="*/ 23378 h 535553"/>
              <a:gd name="connsiteX28" fmla="*/ 525430 w 548675"/>
              <a:gd name="connsiteY28" fmla="*/ 93022 h 535553"/>
              <a:gd name="connsiteX29" fmla="*/ 525430 w 548675"/>
              <a:gd name="connsiteY29" fmla="*/ 202648 h 535553"/>
              <a:gd name="connsiteX30" fmla="*/ 447943 w 548675"/>
              <a:gd name="connsiteY30" fmla="*/ 278741 h 535553"/>
              <a:gd name="connsiteX31" fmla="*/ 334297 w 548675"/>
              <a:gd name="connsiteY31" fmla="*/ 278741 h 535553"/>
              <a:gd name="connsiteX32" fmla="*/ 378206 w 548675"/>
              <a:gd name="connsiteY32" fmla="*/ 236180 h 535553"/>
              <a:gd name="connsiteX33" fmla="*/ 419532 w 548675"/>
              <a:gd name="connsiteY33" fmla="*/ 223283 h 535553"/>
              <a:gd name="connsiteX34" fmla="*/ 468606 w 548675"/>
              <a:gd name="connsiteY34" fmla="*/ 175564 h 535553"/>
              <a:gd name="connsiteX35" fmla="*/ 469898 w 548675"/>
              <a:gd name="connsiteY35" fmla="*/ 120106 h 535553"/>
              <a:gd name="connsiteX36" fmla="*/ 427280 w 548675"/>
              <a:gd name="connsiteY36" fmla="*/ 78836 h 535553"/>
              <a:gd name="connsiteX37" fmla="*/ 370457 w 548675"/>
              <a:gd name="connsiteY37" fmla="*/ 77546 h 535553"/>
              <a:gd name="connsiteX38" fmla="*/ 321383 w 548675"/>
              <a:gd name="connsiteY38" fmla="*/ 126555 h 535553"/>
              <a:gd name="connsiteX39" fmla="*/ 308468 w 548675"/>
              <a:gd name="connsiteY39" fmla="*/ 166536 h 535553"/>
              <a:gd name="connsiteX40" fmla="*/ 264559 w 548675"/>
              <a:gd name="connsiteY40" fmla="*/ 209097 h 535553"/>
              <a:gd name="connsiteX41" fmla="*/ 264559 w 548675"/>
              <a:gd name="connsiteY41" fmla="*/ 98181 h 535553"/>
              <a:gd name="connsiteX42" fmla="*/ 343337 w 548675"/>
              <a:gd name="connsiteY42" fmla="*/ 22088 h 535553"/>
              <a:gd name="connsiteX43" fmla="*/ 399515 w 548675"/>
              <a:gd name="connsiteY43" fmla="*/ 2 h 535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548675" h="535553">
                <a:moveTo>
                  <a:pt x="156242" y="232482"/>
                </a:moveTo>
                <a:cubicBezTo>
                  <a:pt x="177064" y="232643"/>
                  <a:pt x="198046" y="240708"/>
                  <a:pt x="214187" y="256837"/>
                </a:cubicBezTo>
                <a:lnTo>
                  <a:pt x="168993" y="300709"/>
                </a:lnTo>
                <a:cubicBezTo>
                  <a:pt x="154790" y="295548"/>
                  <a:pt x="139295" y="301999"/>
                  <a:pt x="127674" y="312322"/>
                </a:cubicBezTo>
                <a:lnTo>
                  <a:pt x="81189" y="357485"/>
                </a:lnTo>
                <a:cubicBezTo>
                  <a:pt x="65694" y="372969"/>
                  <a:pt x="65694" y="398776"/>
                  <a:pt x="81189" y="414260"/>
                </a:cubicBezTo>
                <a:lnTo>
                  <a:pt x="123800" y="456842"/>
                </a:lnTo>
                <a:cubicBezTo>
                  <a:pt x="139295" y="472326"/>
                  <a:pt x="165120" y="472326"/>
                  <a:pt x="180615" y="456842"/>
                </a:cubicBezTo>
                <a:lnTo>
                  <a:pt x="227099" y="411680"/>
                </a:lnTo>
                <a:cubicBezTo>
                  <a:pt x="238720" y="401357"/>
                  <a:pt x="243885" y="383292"/>
                  <a:pt x="240012" y="370388"/>
                </a:cubicBezTo>
                <a:lnTo>
                  <a:pt x="285205" y="326516"/>
                </a:lnTo>
                <a:cubicBezTo>
                  <a:pt x="316195" y="358775"/>
                  <a:pt x="316195" y="409099"/>
                  <a:pt x="285205" y="440068"/>
                </a:cubicBezTo>
                <a:lnTo>
                  <a:pt x="210313" y="512327"/>
                </a:lnTo>
                <a:cubicBezTo>
                  <a:pt x="178032" y="543296"/>
                  <a:pt x="126382" y="543296"/>
                  <a:pt x="95392" y="512327"/>
                </a:cubicBezTo>
                <a:lnTo>
                  <a:pt x="23083" y="441358"/>
                </a:lnTo>
                <a:cubicBezTo>
                  <a:pt x="-7907" y="410389"/>
                  <a:pt x="-7907" y="360065"/>
                  <a:pt x="24374" y="329097"/>
                </a:cubicBezTo>
                <a:lnTo>
                  <a:pt x="99266" y="255547"/>
                </a:lnTo>
                <a:cubicBezTo>
                  <a:pt x="114761" y="240063"/>
                  <a:pt x="135421" y="232320"/>
                  <a:pt x="156242" y="232482"/>
                </a:cubicBezTo>
                <a:close/>
                <a:moveTo>
                  <a:pt x="339490" y="176395"/>
                </a:moveTo>
                <a:cubicBezTo>
                  <a:pt x="346597" y="176557"/>
                  <a:pt x="353704" y="179458"/>
                  <a:pt x="358873" y="184615"/>
                </a:cubicBezTo>
                <a:cubicBezTo>
                  <a:pt x="369211" y="194930"/>
                  <a:pt x="369211" y="211692"/>
                  <a:pt x="358873" y="223297"/>
                </a:cubicBezTo>
                <a:lnTo>
                  <a:pt x="229652" y="349656"/>
                </a:lnTo>
                <a:cubicBezTo>
                  <a:pt x="219314" y="361260"/>
                  <a:pt x="202516" y="361260"/>
                  <a:pt x="192178" y="349656"/>
                </a:cubicBezTo>
                <a:cubicBezTo>
                  <a:pt x="180548" y="339341"/>
                  <a:pt x="180548" y="322579"/>
                  <a:pt x="192178" y="312264"/>
                </a:cubicBezTo>
                <a:lnTo>
                  <a:pt x="320107" y="184615"/>
                </a:lnTo>
                <a:cubicBezTo>
                  <a:pt x="325276" y="178813"/>
                  <a:pt x="332383" y="176234"/>
                  <a:pt x="339490" y="176395"/>
                </a:cubicBezTo>
                <a:close/>
                <a:moveTo>
                  <a:pt x="399515" y="2"/>
                </a:moveTo>
                <a:cubicBezTo>
                  <a:pt x="419855" y="163"/>
                  <a:pt x="440195" y="7902"/>
                  <a:pt x="455692" y="23378"/>
                </a:cubicBezTo>
                <a:lnTo>
                  <a:pt x="525430" y="93022"/>
                </a:lnTo>
                <a:cubicBezTo>
                  <a:pt x="556424" y="122686"/>
                  <a:pt x="556424" y="172985"/>
                  <a:pt x="525430" y="202648"/>
                </a:cubicBezTo>
                <a:lnTo>
                  <a:pt x="447943" y="278741"/>
                </a:lnTo>
                <a:cubicBezTo>
                  <a:pt x="416949" y="309694"/>
                  <a:pt x="365291" y="309694"/>
                  <a:pt x="334297" y="278741"/>
                </a:cubicBezTo>
                <a:lnTo>
                  <a:pt x="378206" y="236180"/>
                </a:lnTo>
                <a:cubicBezTo>
                  <a:pt x="392412" y="238760"/>
                  <a:pt x="409200" y="233601"/>
                  <a:pt x="419532" y="223283"/>
                </a:cubicBezTo>
                <a:lnTo>
                  <a:pt x="468606" y="175564"/>
                </a:lnTo>
                <a:cubicBezTo>
                  <a:pt x="484104" y="160087"/>
                  <a:pt x="485395" y="135583"/>
                  <a:pt x="469898" y="120106"/>
                </a:cubicBezTo>
                <a:lnTo>
                  <a:pt x="427280" y="78836"/>
                </a:lnTo>
                <a:cubicBezTo>
                  <a:pt x="411783" y="63359"/>
                  <a:pt x="385954" y="63359"/>
                  <a:pt x="370457" y="77546"/>
                </a:cubicBezTo>
                <a:lnTo>
                  <a:pt x="321383" y="126555"/>
                </a:lnTo>
                <a:cubicBezTo>
                  <a:pt x="309760" y="136873"/>
                  <a:pt x="304594" y="152349"/>
                  <a:pt x="308468" y="166536"/>
                </a:cubicBezTo>
                <a:lnTo>
                  <a:pt x="264559" y="209097"/>
                </a:lnTo>
                <a:cubicBezTo>
                  <a:pt x="233565" y="178143"/>
                  <a:pt x="233565" y="129134"/>
                  <a:pt x="264559" y="98181"/>
                </a:cubicBezTo>
                <a:lnTo>
                  <a:pt x="343337" y="22088"/>
                </a:lnTo>
                <a:cubicBezTo>
                  <a:pt x="358834" y="7257"/>
                  <a:pt x="379174" y="-159"/>
                  <a:pt x="399515" y="2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12700" cap="rnd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40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354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38" name="iṥľîḋé">
            <a:extLst>
              <a:ext uri="{FF2B5EF4-FFF2-40B4-BE49-F238E27FC236}">
                <a16:creationId xmlns:a16="http://schemas.microsoft.com/office/drawing/2014/main" id="{B1AB4EBC-076E-40B1-BB5B-DBC7CFC9D939}"/>
              </a:ext>
            </a:extLst>
          </p:cNvPr>
          <p:cNvSpPr/>
          <p:nvPr/>
        </p:nvSpPr>
        <p:spPr>
          <a:xfrm>
            <a:off x="4449152" y="3269776"/>
            <a:ext cx="1648329" cy="1588846"/>
          </a:xfrm>
          <a:custGeom>
            <a:avLst/>
            <a:gdLst/>
            <a:ahLst/>
            <a:cxnLst/>
            <a:rect l="l" t="t" r="r" b="b"/>
            <a:pathLst>
              <a:path w="41234" h="39746" extrusionOk="0">
                <a:moveTo>
                  <a:pt x="1" y="0"/>
                </a:moveTo>
                <a:lnTo>
                  <a:pt x="1" y="17950"/>
                </a:lnTo>
                <a:cubicBezTo>
                  <a:pt x="1" y="26386"/>
                  <a:pt x="6719" y="33130"/>
                  <a:pt x="15155" y="33130"/>
                </a:cubicBezTo>
                <a:lnTo>
                  <a:pt x="29259" y="33130"/>
                </a:lnTo>
                <a:cubicBezTo>
                  <a:pt x="31515" y="33130"/>
                  <a:pt x="33746" y="33976"/>
                  <a:pt x="35464" y="35464"/>
                </a:cubicBezTo>
                <a:lnTo>
                  <a:pt x="40259" y="39746"/>
                </a:lnTo>
                <a:lnTo>
                  <a:pt x="41234" y="38797"/>
                </a:lnTo>
                <a:lnTo>
                  <a:pt x="36746" y="34823"/>
                </a:lnTo>
                <a:cubicBezTo>
                  <a:pt x="34720" y="33028"/>
                  <a:pt x="33644" y="30566"/>
                  <a:pt x="33644" y="27899"/>
                </a:cubicBezTo>
                <a:lnTo>
                  <a:pt x="33644" y="15283"/>
                </a:lnTo>
                <a:cubicBezTo>
                  <a:pt x="33644" y="6847"/>
                  <a:pt x="26797" y="0"/>
                  <a:pt x="18463" y="0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0" name="işlîḋé">
            <a:extLst>
              <a:ext uri="{FF2B5EF4-FFF2-40B4-BE49-F238E27FC236}">
                <a16:creationId xmlns:a16="http://schemas.microsoft.com/office/drawing/2014/main" id="{F9CEE99F-42E2-4920-A564-D77B264EBE24}"/>
              </a:ext>
            </a:extLst>
          </p:cNvPr>
          <p:cNvSpPr/>
          <p:nvPr/>
        </p:nvSpPr>
        <p:spPr>
          <a:xfrm>
            <a:off x="4469548" y="3292764"/>
            <a:ext cx="216752" cy="211568"/>
          </a:xfrm>
          <a:custGeom>
            <a:avLst/>
            <a:gdLst>
              <a:gd name="connsiteX0" fmla="*/ 156242 w 548675"/>
              <a:gd name="connsiteY0" fmla="*/ 232482 h 535553"/>
              <a:gd name="connsiteX1" fmla="*/ 214187 w 548675"/>
              <a:gd name="connsiteY1" fmla="*/ 256837 h 535553"/>
              <a:gd name="connsiteX2" fmla="*/ 168993 w 548675"/>
              <a:gd name="connsiteY2" fmla="*/ 300709 h 535553"/>
              <a:gd name="connsiteX3" fmla="*/ 127674 w 548675"/>
              <a:gd name="connsiteY3" fmla="*/ 312322 h 535553"/>
              <a:gd name="connsiteX4" fmla="*/ 81189 w 548675"/>
              <a:gd name="connsiteY4" fmla="*/ 357485 h 535553"/>
              <a:gd name="connsiteX5" fmla="*/ 81189 w 548675"/>
              <a:gd name="connsiteY5" fmla="*/ 414260 h 535553"/>
              <a:gd name="connsiteX6" fmla="*/ 123800 w 548675"/>
              <a:gd name="connsiteY6" fmla="*/ 456842 h 535553"/>
              <a:gd name="connsiteX7" fmla="*/ 180615 w 548675"/>
              <a:gd name="connsiteY7" fmla="*/ 456842 h 535553"/>
              <a:gd name="connsiteX8" fmla="*/ 227099 w 548675"/>
              <a:gd name="connsiteY8" fmla="*/ 411680 h 535553"/>
              <a:gd name="connsiteX9" fmla="*/ 240012 w 548675"/>
              <a:gd name="connsiteY9" fmla="*/ 370388 h 535553"/>
              <a:gd name="connsiteX10" fmla="*/ 285205 w 548675"/>
              <a:gd name="connsiteY10" fmla="*/ 326516 h 535553"/>
              <a:gd name="connsiteX11" fmla="*/ 285205 w 548675"/>
              <a:gd name="connsiteY11" fmla="*/ 440068 h 535553"/>
              <a:gd name="connsiteX12" fmla="*/ 210313 w 548675"/>
              <a:gd name="connsiteY12" fmla="*/ 512327 h 535553"/>
              <a:gd name="connsiteX13" fmla="*/ 95392 w 548675"/>
              <a:gd name="connsiteY13" fmla="*/ 512327 h 535553"/>
              <a:gd name="connsiteX14" fmla="*/ 23083 w 548675"/>
              <a:gd name="connsiteY14" fmla="*/ 441358 h 535553"/>
              <a:gd name="connsiteX15" fmla="*/ 24374 w 548675"/>
              <a:gd name="connsiteY15" fmla="*/ 329097 h 535553"/>
              <a:gd name="connsiteX16" fmla="*/ 99266 w 548675"/>
              <a:gd name="connsiteY16" fmla="*/ 255547 h 535553"/>
              <a:gd name="connsiteX17" fmla="*/ 156242 w 548675"/>
              <a:gd name="connsiteY17" fmla="*/ 232482 h 535553"/>
              <a:gd name="connsiteX18" fmla="*/ 339490 w 548675"/>
              <a:gd name="connsiteY18" fmla="*/ 176395 h 535553"/>
              <a:gd name="connsiteX19" fmla="*/ 358873 w 548675"/>
              <a:gd name="connsiteY19" fmla="*/ 184615 h 535553"/>
              <a:gd name="connsiteX20" fmla="*/ 358873 w 548675"/>
              <a:gd name="connsiteY20" fmla="*/ 223297 h 535553"/>
              <a:gd name="connsiteX21" fmla="*/ 229652 w 548675"/>
              <a:gd name="connsiteY21" fmla="*/ 349656 h 535553"/>
              <a:gd name="connsiteX22" fmla="*/ 192178 w 548675"/>
              <a:gd name="connsiteY22" fmla="*/ 349656 h 535553"/>
              <a:gd name="connsiteX23" fmla="*/ 192178 w 548675"/>
              <a:gd name="connsiteY23" fmla="*/ 312264 h 535553"/>
              <a:gd name="connsiteX24" fmla="*/ 320107 w 548675"/>
              <a:gd name="connsiteY24" fmla="*/ 184615 h 535553"/>
              <a:gd name="connsiteX25" fmla="*/ 339490 w 548675"/>
              <a:gd name="connsiteY25" fmla="*/ 176395 h 535553"/>
              <a:gd name="connsiteX26" fmla="*/ 399515 w 548675"/>
              <a:gd name="connsiteY26" fmla="*/ 2 h 535553"/>
              <a:gd name="connsiteX27" fmla="*/ 455692 w 548675"/>
              <a:gd name="connsiteY27" fmla="*/ 23378 h 535553"/>
              <a:gd name="connsiteX28" fmla="*/ 525430 w 548675"/>
              <a:gd name="connsiteY28" fmla="*/ 93022 h 535553"/>
              <a:gd name="connsiteX29" fmla="*/ 525430 w 548675"/>
              <a:gd name="connsiteY29" fmla="*/ 202648 h 535553"/>
              <a:gd name="connsiteX30" fmla="*/ 447943 w 548675"/>
              <a:gd name="connsiteY30" fmla="*/ 278741 h 535553"/>
              <a:gd name="connsiteX31" fmla="*/ 334297 w 548675"/>
              <a:gd name="connsiteY31" fmla="*/ 278741 h 535553"/>
              <a:gd name="connsiteX32" fmla="*/ 378206 w 548675"/>
              <a:gd name="connsiteY32" fmla="*/ 236180 h 535553"/>
              <a:gd name="connsiteX33" fmla="*/ 419532 w 548675"/>
              <a:gd name="connsiteY33" fmla="*/ 223283 h 535553"/>
              <a:gd name="connsiteX34" fmla="*/ 468606 w 548675"/>
              <a:gd name="connsiteY34" fmla="*/ 175564 h 535553"/>
              <a:gd name="connsiteX35" fmla="*/ 469898 w 548675"/>
              <a:gd name="connsiteY35" fmla="*/ 120106 h 535553"/>
              <a:gd name="connsiteX36" fmla="*/ 427280 w 548675"/>
              <a:gd name="connsiteY36" fmla="*/ 78836 h 535553"/>
              <a:gd name="connsiteX37" fmla="*/ 370457 w 548675"/>
              <a:gd name="connsiteY37" fmla="*/ 77546 h 535553"/>
              <a:gd name="connsiteX38" fmla="*/ 321383 w 548675"/>
              <a:gd name="connsiteY38" fmla="*/ 126555 h 535553"/>
              <a:gd name="connsiteX39" fmla="*/ 308468 w 548675"/>
              <a:gd name="connsiteY39" fmla="*/ 166536 h 535553"/>
              <a:gd name="connsiteX40" fmla="*/ 264559 w 548675"/>
              <a:gd name="connsiteY40" fmla="*/ 209097 h 535553"/>
              <a:gd name="connsiteX41" fmla="*/ 264559 w 548675"/>
              <a:gd name="connsiteY41" fmla="*/ 98181 h 535553"/>
              <a:gd name="connsiteX42" fmla="*/ 343337 w 548675"/>
              <a:gd name="connsiteY42" fmla="*/ 22088 h 535553"/>
              <a:gd name="connsiteX43" fmla="*/ 399515 w 548675"/>
              <a:gd name="connsiteY43" fmla="*/ 2 h 535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548675" h="535553">
                <a:moveTo>
                  <a:pt x="156242" y="232482"/>
                </a:moveTo>
                <a:cubicBezTo>
                  <a:pt x="177064" y="232643"/>
                  <a:pt x="198046" y="240708"/>
                  <a:pt x="214187" y="256837"/>
                </a:cubicBezTo>
                <a:lnTo>
                  <a:pt x="168993" y="300709"/>
                </a:lnTo>
                <a:cubicBezTo>
                  <a:pt x="154790" y="295548"/>
                  <a:pt x="139295" y="301999"/>
                  <a:pt x="127674" y="312322"/>
                </a:cubicBezTo>
                <a:lnTo>
                  <a:pt x="81189" y="357485"/>
                </a:lnTo>
                <a:cubicBezTo>
                  <a:pt x="65694" y="372969"/>
                  <a:pt x="65694" y="398776"/>
                  <a:pt x="81189" y="414260"/>
                </a:cubicBezTo>
                <a:lnTo>
                  <a:pt x="123800" y="456842"/>
                </a:lnTo>
                <a:cubicBezTo>
                  <a:pt x="139295" y="472326"/>
                  <a:pt x="165120" y="472326"/>
                  <a:pt x="180615" y="456842"/>
                </a:cubicBezTo>
                <a:lnTo>
                  <a:pt x="227099" y="411680"/>
                </a:lnTo>
                <a:cubicBezTo>
                  <a:pt x="238720" y="401357"/>
                  <a:pt x="243885" y="383292"/>
                  <a:pt x="240012" y="370388"/>
                </a:cubicBezTo>
                <a:lnTo>
                  <a:pt x="285205" y="326516"/>
                </a:lnTo>
                <a:cubicBezTo>
                  <a:pt x="316195" y="358775"/>
                  <a:pt x="316195" y="409099"/>
                  <a:pt x="285205" y="440068"/>
                </a:cubicBezTo>
                <a:lnTo>
                  <a:pt x="210313" y="512327"/>
                </a:lnTo>
                <a:cubicBezTo>
                  <a:pt x="178032" y="543296"/>
                  <a:pt x="126382" y="543296"/>
                  <a:pt x="95392" y="512327"/>
                </a:cubicBezTo>
                <a:lnTo>
                  <a:pt x="23083" y="441358"/>
                </a:lnTo>
                <a:cubicBezTo>
                  <a:pt x="-7907" y="410389"/>
                  <a:pt x="-7907" y="360065"/>
                  <a:pt x="24374" y="329097"/>
                </a:cubicBezTo>
                <a:lnTo>
                  <a:pt x="99266" y="255547"/>
                </a:lnTo>
                <a:cubicBezTo>
                  <a:pt x="114761" y="240063"/>
                  <a:pt x="135421" y="232320"/>
                  <a:pt x="156242" y="232482"/>
                </a:cubicBezTo>
                <a:close/>
                <a:moveTo>
                  <a:pt x="339490" y="176395"/>
                </a:moveTo>
                <a:cubicBezTo>
                  <a:pt x="346597" y="176557"/>
                  <a:pt x="353704" y="179458"/>
                  <a:pt x="358873" y="184615"/>
                </a:cubicBezTo>
                <a:cubicBezTo>
                  <a:pt x="369211" y="194930"/>
                  <a:pt x="369211" y="211692"/>
                  <a:pt x="358873" y="223297"/>
                </a:cubicBezTo>
                <a:lnTo>
                  <a:pt x="229652" y="349656"/>
                </a:lnTo>
                <a:cubicBezTo>
                  <a:pt x="219314" y="361260"/>
                  <a:pt x="202516" y="361260"/>
                  <a:pt x="192178" y="349656"/>
                </a:cubicBezTo>
                <a:cubicBezTo>
                  <a:pt x="180548" y="339341"/>
                  <a:pt x="180548" y="322579"/>
                  <a:pt x="192178" y="312264"/>
                </a:cubicBezTo>
                <a:lnTo>
                  <a:pt x="320107" y="184615"/>
                </a:lnTo>
                <a:cubicBezTo>
                  <a:pt x="325276" y="178813"/>
                  <a:pt x="332383" y="176234"/>
                  <a:pt x="339490" y="176395"/>
                </a:cubicBezTo>
                <a:close/>
                <a:moveTo>
                  <a:pt x="399515" y="2"/>
                </a:moveTo>
                <a:cubicBezTo>
                  <a:pt x="419855" y="163"/>
                  <a:pt x="440195" y="7902"/>
                  <a:pt x="455692" y="23378"/>
                </a:cubicBezTo>
                <a:lnTo>
                  <a:pt x="525430" y="93022"/>
                </a:lnTo>
                <a:cubicBezTo>
                  <a:pt x="556424" y="122686"/>
                  <a:pt x="556424" y="172985"/>
                  <a:pt x="525430" y="202648"/>
                </a:cubicBezTo>
                <a:lnTo>
                  <a:pt x="447943" y="278741"/>
                </a:lnTo>
                <a:cubicBezTo>
                  <a:pt x="416949" y="309694"/>
                  <a:pt x="365291" y="309694"/>
                  <a:pt x="334297" y="278741"/>
                </a:cubicBezTo>
                <a:lnTo>
                  <a:pt x="378206" y="236180"/>
                </a:lnTo>
                <a:cubicBezTo>
                  <a:pt x="392412" y="238760"/>
                  <a:pt x="409200" y="233601"/>
                  <a:pt x="419532" y="223283"/>
                </a:cubicBezTo>
                <a:lnTo>
                  <a:pt x="468606" y="175564"/>
                </a:lnTo>
                <a:cubicBezTo>
                  <a:pt x="484104" y="160087"/>
                  <a:pt x="485395" y="135583"/>
                  <a:pt x="469898" y="120106"/>
                </a:cubicBezTo>
                <a:lnTo>
                  <a:pt x="427280" y="78836"/>
                </a:lnTo>
                <a:cubicBezTo>
                  <a:pt x="411783" y="63359"/>
                  <a:pt x="385954" y="63359"/>
                  <a:pt x="370457" y="77546"/>
                </a:cubicBezTo>
                <a:lnTo>
                  <a:pt x="321383" y="126555"/>
                </a:lnTo>
                <a:cubicBezTo>
                  <a:pt x="309760" y="136873"/>
                  <a:pt x="304594" y="152349"/>
                  <a:pt x="308468" y="166536"/>
                </a:cubicBezTo>
                <a:lnTo>
                  <a:pt x="264559" y="209097"/>
                </a:lnTo>
                <a:cubicBezTo>
                  <a:pt x="233565" y="178143"/>
                  <a:pt x="233565" y="129134"/>
                  <a:pt x="264559" y="98181"/>
                </a:cubicBezTo>
                <a:lnTo>
                  <a:pt x="343337" y="22088"/>
                </a:lnTo>
                <a:cubicBezTo>
                  <a:pt x="358834" y="7257"/>
                  <a:pt x="379174" y="-159"/>
                  <a:pt x="399515" y="2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>
              <a:buClr>
                <a:srgbClr val="000000"/>
              </a:buClr>
            </a:pPr>
            <a:endParaRPr lang="zh-CN" altLang="en-US" sz="1400" dirty="0">
              <a:solidFill>
                <a:srgbClr val="000000"/>
              </a:solidFill>
            </a:endParaRPr>
          </a:p>
        </p:txBody>
      </p:sp>
      <p:sp>
        <p:nvSpPr>
          <p:cNvPr id="37" name="ísļíḑé">
            <a:extLst>
              <a:ext uri="{FF2B5EF4-FFF2-40B4-BE49-F238E27FC236}">
                <a16:creationId xmlns:a16="http://schemas.microsoft.com/office/drawing/2014/main" id="{564282C0-9151-4846-BAA5-4F37F4388DB8}"/>
              </a:ext>
            </a:extLst>
          </p:cNvPr>
          <p:cNvSpPr txBox="1"/>
          <p:nvPr/>
        </p:nvSpPr>
        <p:spPr bwMode="auto">
          <a:xfrm>
            <a:off x="664447" y="2141926"/>
            <a:ext cx="1768290" cy="3745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400" b="1" dirty="0"/>
              <a:t>弄清楚你是谁</a:t>
            </a:r>
            <a:endParaRPr lang="en-US" altLang="zh-CN" sz="1400" b="1" dirty="0"/>
          </a:p>
        </p:txBody>
      </p:sp>
      <p:sp>
        <p:nvSpPr>
          <p:cNvPr id="35" name="ïšḻïḑe">
            <a:extLst>
              <a:ext uri="{FF2B5EF4-FFF2-40B4-BE49-F238E27FC236}">
                <a16:creationId xmlns:a16="http://schemas.microsoft.com/office/drawing/2014/main" id="{35EBB931-1564-4DAE-B46D-135C328F72DE}"/>
              </a:ext>
            </a:extLst>
          </p:cNvPr>
          <p:cNvSpPr txBox="1"/>
          <p:nvPr/>
        </p:nvSpPr>
        <p:spPr bwMode="auto">
          <a:xfrm>
            <a:off x="2528750" y="2034354"/>
            <a:ext cx="1768290" cy="64454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200" b="1" dirty="0"/>
              <a:t>为卓有成效和自我实现而重新定位自己</a:t>
            </a:r>
            <a:endParaRPr lang="en-US" altLang="zh-CN" sz="1200" b="1" dirty="0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E2778D0-FFC1-4E62-83C1-E1E2991781BE}"/>
              </a:ext>
            </a:extLst>
          </p:cNvPr>
          <p:cNvCxnSpPr/>
          <p:nvPr/>
        </p:nvCxnSpPr>
        <p:spPr>
          <a:xfrm>
            <a:off x="2480743" y="2079871"/>
            <a:ext cx="0" cy="644545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îṡḻîḍê">
            <a:extLst>
              <a:ext uri="{FF2B5EF4-FFF2-40B4-BE49-F238E27FC236}">
                <a16:creationId xmlns:a16="http://schemas.microsoft.com/office/drawing/2014/main" id="{0C2F9D92-2E39-4D7E-BE0E-BC56B390A528}"/>
              </a:ext>
            </a:extLst>
          </p:cNvPr>
          <p:cNvSpPr txBox="1"/>
          <p:nvPr/>
        </p:nvSpPr>
        <p:spPr bwMode="auto">
          <a:xfrm>
            <a:off x="350876" y="3700040"/>
            <a:ext cx="2110505" cy="64429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400" b="1" dirty="0"/>
              <a:t>找到你存在的核心理由</a:t>
            </a:r>
            <a:endParaRPr lang="en-US" altLang="zh-CN" sz="1400" b="1" dirty="0"/>
          </a:p>
        </p:txBody>
      </p:sp>
      <p:sp>
        <p:nvSpPr>
          <p:cNvPr id="31" name="îŝľîḓé">
            <a:extLst>
              <a:ext uri="{FF2B5EF4-FFF2-40B4-BE49-F238E27FC236}">
                <a16:creationId xmlns:a16="http://schemas.microsoft.com/office/drawing/2014/main" id="{EF8A080F-B6A5-4D84-A653-C74101F5E4ED}"/>
              </a:ext>
            </a:extLst>
          </p:cNvPr>
          <p:cNvSpPr txBox="1"/>
          <p:nvPr/>
        </p:nvSpPr>
        <p:spPr bwMode="auto">
          <a:xfrm>
            <a:off x="2519469" y="3505712"/>
            <a:ext cx="1768290" cy="111697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100" b="1" dirty="0"/>
              <a:t>把你的人生当成你的最后阶段，唯一值得努力的目的是把平凡的一生变成有意义的一生</a:t>
            </a:r>
            <a:endParaRPr lang="en-US" altLang="zh-CN" sz="1100" b="1" dirty="0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F3D6FEAF-7417-478B-B170-3EC3CE41FDE2}"/>
              </a:ext>
            </a:extLst>
          </p:cNvPr>
          <p:cNvCxnSpPr/>
          <p:nvPr/>
        </p:nvCxnSpPr>
        <p:spPr>
          <a:xfrm>
            <a:off x="2480743" y="3719947"/>
            <a:ext cx="0" cy="644545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ï$ḷïďè">
            <a:extLst>
              <a:ext uri="{FF2B5EF4-FFF2-40B4-BE49-F238E27FC236}">
                <a16:creationId xmlns:a16="http://schemas.microsoft.com/office/drawing/2014/main" id="{BEE0F966-CAF9-4AA5-B2B8-5E1FE08E42B7}"/>
              </a:ext>
            </a:extLst>
          </p:cNvPr>
          <p:cNvSpPr txBox="1"/>
          <p:nvPr/>
        </p:nvSpPr>
        <p:spPr bwMode="auto">
          <a:xfrm>
            <a:off x="7878214" y="3023976"/>
            <a:ext cx="1768290" cy="52047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400" b="1" dirty="0"/>
              <a:t>定义善始善终对你意味着什么</a:t>
            </a:r>
            <a:endParaRPr lang="en-US" altLang="zh-CN" sz="1400" b="1" dirty="0"/>
          </a:p>
        </p:txBody>
      </p:sp>
      <p:sp>
        <p:nvSpPr>
          <p:cNvPr id="27" name="îṡlïďe">
            <a:extLst>
              <a:ext uri="{FF2B5EF4-FFF2-40B4-BE49-F238E27FC236}">
                <a16:creationId xmlns:a16="http://schemas.microsoft.com/office/drawing/2014/main" id="{88CEEC9A-70DC-4B46-9901-A080AB6F24DB}"/>
              </a:ext>
            </a:extLst>
          </p:cNvPr>
          <p:cNvSpPr txBox="1"/>
          <p:nvPr/>
        </p:nvSpPr>
        <p:spPr bwMode="auto">
          <a:xfrm>
            <a:off x="9794570" y="3023976"/>
            <a:ext cx="1635425" cy="4803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 fontScale="92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400" b="1" dirty="0"/>
              <a:t>了解播种和收获之间的区别</a:t>
            </a:r>
            <a:endParaRPr lang="en-US" altLang="zh-CN" sz="1400" b="1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4B80410-406B-4C86-B10E-4A6C55E447E7}"/>
              </a:ext>
            </a:extLst>
          </p:cNvPr>
          <p:cNvCxnSpPr/>
          <p:nvPr/>
        </p:nvCxnSpPr>
        <p:spPr>
          <a:xfrm>
            <a:off x="9698557" y="2899909"/>
            <a:ext cx="0" cy="644545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îşľîḓé">
            <a:extLst>
              <a:ext uri="{FF2B5EF4-FFF2-40B4-BE49-F238E27FC236}">
                <a16:creationId xmlns:a16="http://schemas.microsoft.com/office/drawing/2014/main" id="{61E6F573-BCDF-4530-9867-D6C0ECE06436}"/>
              </a:ext>
            </a:extLst>
          </p:cNvPr>
          <p:cNvSpPr txBox="1"/>
          <p:nvPr/>
        </p:nvSpPr>
        <p:spPr bwMode="auto">
          <a:xfrm>
            <a:off x="7817194" y="4307562"/>
            <a:ext cx="1890330" cy="104204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 fontScale="92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70000"/>
              </a:lnSpc>
              <a:spcBef>
                <a:spcPct val="0"/>
              </a:spcBef>
              <a:buFontTx/>
              <a:buNone/>
            </a:pPr>
            <a:r>
              <a:rPr lang="zh-CN" altLang="en-US" sz="1400" b="1" dirty="0"/>
              <a:t>只有良好的意愿是不够的，界定你想要的成果</a:t>
            </a:r>
            <a:endParaRPr lang="en-US" altLang="zh-CN" sz="1400" b="1" dirty="0"/>
          </a:p>
        </p:txBody>
      </p:sp>
      <p:sp>
        <p:nvSpPr>
          <p:cNvPr id="23" name="iṣļïḍê">
            <a:extLst>
              <a:ext uri="{FF2B5EF4-FFF2-40B4-BE49-F238E27FC236}">
                <a16:creationId xmlns:a16="http://schemas.microsoft.com/office/drawing/2014/main" id="{F485AB2B-9441-4015-80FC-6F7EECAE67AB}"/>
              </a:ext>
            </a:extLst>
          </p:cNvPr>
          <p:cNvSpPr txBox="1"/>
          <p:nvPr/>
        </p:nvSpPr>
        <p:spPr bwMode="auto">
          <a:xfrm>
            <a:off x="9728137" y="4380913"/>
            <a:ext cx="1768290" cy="87704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400" b="1" dirty="0"/>
              <a:t>认识到“不学习，不成长”的代价</a:t>
            </a:r>
            <a:endParaRPr lang="en-US" altLang="zh-CN" sz="1400" b="1" dirty="0"/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61C9973E-48BA-42C2-9408-37F03C161043}"/>
              </a:ext>
            </a:extLst>
          </p:cNvPr>
          <p:cNvCxnSpPr/>
          <p:nvPr/>
        </p:nvCxnSpPr>
        <p:spPr>
          <a:xfrm>
            <a:off x="9698557" y="4539984"/>
            <a:ext cx="0" cy="644545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AD7BBDA8-C4D8-4B47-9A92-7D853D2D23DD}"/>
              </a:ext>
            </a:extLst>
          </p:cNvPr>
          <p:cNvCxnSpPr>
            <a:cxnSpLocks/>
          </p:cNvCxnSpPr>
          <p:nvPr/>
        </p:nvCxnSpPr>
        <p:spPr>
          <a:xfrm>
            <a:off x="6089650" y="1137920"/>
            <a:ext cx="0" cy="5689600"/>
          </a:xfrm>
          <a:prstGeom prst="straightConnector1">
            <a:avLst/>
          </a:prstGeom>
          <a:noFill/>
          <a:ln w="381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" name="iṥľîḋé">
            <a:extLst>
              <a:ext uri="{FF2B5EF4-FFF2-40B4-BE49-F238E27FC236}">
                <a16:creationId xmlns:a16="http://schemas.microsoft.com/office/drawing/2014/main" id="{ED65E1A5-2E34-4191-B644-CCAED9BC7F60}"/>
              </a:ext>
            </a:extLst>
          </p:cNvPr>
          <p:cNvSpPr/>
          <p:nvPr/>
        </p:nvSpPr>
        <p:spPr>
          <a:xfrm>
            <a:off x="4389268" y="4979299"/>
            <a:ext cx="1648329" cy="1588846"/>
          </a:xfrm>
          <a:custGeom>
            <a:avLst/>
            <a:gdLst/>
            <a:ahLst/>
            <a:cxnLst/>
            <a:rect l="l" t="t" r="r" b="b"/>
            <a:pathLst>
              <a:path w="41234" h="39746" extrusionOk="0">
                <a:moveTo>
                  <a:pt x="1" y="0"/>
                </a:moveTo>
                <a:lnTo>
                  <a:pt x="1" y="17950"/>
                </a:lnTo>
                <a:cubicBezTo>
                  <a:pt x="1" y="26386"/>
                  <a:pt x="6719" y="33130"/>
                  <a:pt x="15155" y="33130"/>
                </a:cubicBezTo>
                <a:lnTo>
                  <a:pt x="29259" y="33130"/>
                </a:lnTo>
                <a:cubicBezTo>
                  <a:pt x="31515" y="33130"/>
                  <a:pt x="33746" y="33976"/>
                  <a:pt x="35464" y="35464"/>
                </a:cubicBezTo>
                <a:lnTo>
                  <a:pt x="40259" y="39746"/>
                </a:lnTo>
                <a:lnTo>
                  <a:pt x="41234" y="38797"/>
                </a:lnTo>
                <a:lnTo>
                  <a:pt x="36746" y="34823"/>
                </a:lnTo>
                <a:cubicBezTo>
                  <a:pt x="34720" y="33028"/>
                  <a:pt x="33644" y="30566"/>
                  <a:pt x="33644" y="27899"/>
                </a:cubicBezTo>
                <a:lnTo>
                  <a:pt x="33644" y="15283"/>
                </a:lnTo>
                <a:cubicBezTo>
                  <a:pt x="33644" y="6847"/>
                  <a:pt x="26797" y="0"/>
                  <a:pt x="18463" y="0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" name="îṡḻîḍê">
            <a:extLst>
              <a:ext uri="{FF2B5EF4-FFF2-40B4-BE49-F238E27FC236}">
                <a16:creationId xmlns:a16="http://schemas.microsoft.com/office/drawing/2014/main" id="{64639447-B007-47DE-AE14-FC424C73EC4E}"/>
              </a:ext>
            </a:extLst>
          </p:cNvPr>
          <p:cNvSpPr txBox="1"/>
          <p:nvPr/>
        </p:nvSpPr>
        <p:spPr bwMode="auto">
          <a:xfrm>
            <a:off x="608347" y="5586436"/>
            <a:ext cx="1768290" cy="3745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400" b="1" dirty="0"/>
              <a:t>计划不起作用</a:t>
            </a:r>
            <a:endParaRPr lang="en-US" altLang="zh-CN" sz="1400" b="1" dirty="0"/>
          </a:p>
        </p:txBody>
      </p:sp>
      <p:sp>
        <p:nvSpPr>
          <p:cNvPr id="64" name="îŝľîḓé">
            <a:extLst>
              <a:ext uri="{FF2B5EF4-FFF2-40B4-BE49-F238E27FC236}">
                <a16:creationId xmlns:a16="http://schemas.microsoft.com/office/drawing/2014/main" id="{FA04726A-6F83-4559-8B84-85386C151C26}"/>
              </a:ext>
            </a:extLst>
          </p:cNvPr>
          <p:cNvSpPr txBox="1"/>
          <p:nvPr/>
        </p:nvSpPr>
        <p:spPr bwMode="auto">
          <a:xfrm>
            <a:off x="2449871" y="5564456"/>
            <a:ext cx="1768290" cy="3745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400" b="1" dirty="0"/>
              <a:t>了解自己的价值观</a:t>
            </a:r>
            <a:endParaRPr lang="en-US" altLang="zh-CN" sz="1400" b="1" dirty="0"/>
          </a:p>
        </p:txBody>
      </p: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0EEF9830-9872-4CC6-8308-588AFF56F130}"/>
              </a:ext>
            </a:extLst>
          </p:cNvPr>
          <p:cNvCxnSpPr/>
          <p:nvPr/>
        </p:nvCxnSpPr>
        <p:spPr>
          <a:xfrm>
            <a:off x="2420859" y="5429470"/>
            <a:ext cx="0" cy="644545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85C21A62-105F-4D7B-A741-42847BC429FC}"/>
              </a:ext>
            </a:extLst>
          </p:cNvPr>
          <p:cNvSpPr txBox="1"/>
          <p:nvPr/>
        </p:nvSpPr>
        <p:spPr>
          <a:xfrm>
            <a:off x="6900531" y="1310929"/>
            <a:ext cx="48961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德鲁克反复强调：</a:t>
            </a:r>
            <a:r>
              <a:rPr lang="en-US" altLang="zh-CN" sz="1400" dirty="0"/>
              <a:t>”</a:t>
            </a:r>
            <a:r>
              <a:rPr lang="zh-CN" altLang="en-US" sz="1400" dirty="0"/>
              <a:t>机遇往往不期而至。</a:t>
            </a:r>
            <a:r>
              <a:rPr lang="en-US" altLang="zh-CN" sz="1400" dirty="0"/>
              <a:t>”</a:t>
            </a:r>
            <a:r>
              <a:rPr lang="zh-CN" altLang="en-US" sz="1400" dirty="0"/>
              <a:t>这意味着一个人必须保持灵活性，随时准备抓住适当的机会。</a:t>
            </a:r>
            <a:r>
              <a:rPr lang="en-US" altLang="zh-CN" sz="1400" dirty="0"/>
              <a:t>”</a:t>
            </a:r>
            <a:r>
              <a:rPr lang="zh-CN" altLang="en-US" sz="1400" dirty="0"/>
              <a:t>大多的计划会让你对机遇充耳不闻</a:t>
            </a:r>
            <a:r>
              <a:rPr lang="en-US" altLang="zh-CN" sz="1400" dirty="0"/>
              <a:t>……</a:t>
            </a:r>
            <a:r>
              <a:rPr lang="zh-CN" altLang="en-US" sz="1400" dirty="0"/>
              <a:t>机遇会来敲门，但只敲一次，你必须为这个机遇做好准备。</a:t>
            </a:r>
            <a:r>
              <a:rPr lang="en-US" altLang="zh-CN" sz="1400" dirty="0"/>
              <a:t>”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446293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38CA5D7-F3A4-4F7B-AAEA-D70250FCEC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才华本身毫无用处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D8508E7-798A-489F-870A-3C137017CDEA}"/>
              </a:ext>
            </a:extLst>
          </p:cNvPr>
          <p:cNvSpPr txBox="1"/>
          <p:nvPr/>
        </p:nvSpPr>
        <p:spPr>
          <a:xfrm>
            <a:off x="-1" y="1862475"/>
            <a:ext cx="12190877" cy="4486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b="1" dirty="0">
                <a:solidFill>
                  <a:srgbClr val="0033CC"/>
                </a:solidFill>
              </a:rPr>
              <a:t>许多有才华的人一生碌碌无为，通常是因为他们把才华本身看做一种结果</a:t>
            </a:r>
            <a:endParaRPr lang="en-US" altLang="zh-CN" sz="1600" b="1" dirty="0">
              <a:solidFill>
                <a:srgbClr val="0033CC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zh-CN" sz="1600" dirty="0"/>
          </a:p>
          <a:p>
            <a:pPr algn="ctr">
              <a:lnSpc>
                <a:spcPct val="150000"/>
              </a:lnSpc>
            </a:pPr>
            <a:r>
              <a:rPr lang="zh-CN" altLang="en-US" sz="1600" dirty="0"/>
              <a:t>德鲁克的不凡之处就在于：他总是在问“我如何贡献”，而不是“我如何成功”。</a:t>
            </a:r>
            <a:endParaRPr lang="en-US" altLang="zh-CN" sz="1600" dirty="0"/>
          </a:p>
          <a:p>
            <a:pPr algn="ctr">
              <a:lnSpc>
                <a:spcPct val="150000"/>
              </a:lnSpc>
            </a:pPr>
            <a:endParaRPr lang="en-US" altLang="zh-CN" sz="1600" dirty="0"/>
          </a:p>
          <a:p>
            <a:pPr algn="ctr">
              <a:lnSpc>
                <a:spcPct val="150000"/>
              </a:lnSpc>
            </a:pPr>
            <a:r>
              <a:rPr lang="zh-CN" altLang="en-US" sz="1600" dirty="0"/>
              <a:t>别人都在追问如何才能使自己更有价值，而德鲁克却总是在问“我怎么做才能对别人有价值”</a:t>
            </a:r>
            <a:endParaRPr lang="en-US" altLang="zh-CN" sz="1600" dirty="0"/>
          </a:p>
          <a:p>
            <a:pPr algn="ctr">
              <a:lnSpc>
                <a:spcPct val="150000"/>
              </a:lnSpc>
            </a:pPr>
            <a:endParaRPr lang="en-US" altLang="zh-CN" sz="1600" dirty="0"/>
          </a:p>
          <a:p>
            <a:pPr algn="ctr">
              <a:lnSpc>
                <a:spcPct val="150000"/>
              </a:lnSpc>
            </a:pPr>
            <a:r>
              <a:rPr lang="zh-CN" altLang="en-US" sz="1600" dirty="0"/>
              <a:t>走出去，成为有价值的人</a:t>
            </a:r>
            <a:endParaRPr lang="en-US" altLang="zh-CN" sz="1600" dirty="0"/>
          </a:p>
          <a:p>
            <a:pPr algn="ctr">
              <a:lnSpc>
                <a:spcPct val="150000"/>
              </a:lnSpc>
            </a:pPr>
            <a:endParaRPr lang="en-US" altLang="zh-CN" sz="1600" dirty="0"/>
          </a:p>
          <a:p>
            <a:pPr algn="ctr">
              <a:lnSpc>
                <a:spcPct val="150000"/>
              </a:lnSpc>
            </a:pPr>
            <a:r>
              <a:rPr lang="zh-CN" altLang="en-US" sz="1600" b="1" dirty="0">
                <a:solidFill>
                  <a:srgbClr val="0033CC"/>
                </a:solidFill>
              </a:rPr>
              <a:t>把才华应用于实践之中</a:t>
            </a:r>
            <a:r>
              <a:rPr lang="en-US" altLang="zh-CN" sz="1600" b="1" dirty="0">
                <a:solidFill>
                  <a:srgbClr val="0033CC"/>
                </a:solidFill>
              </a:rPr>
              <a:t>—</a:t>
            </a:r>
            <a:r>
              <a:rPr lang="zh-CN" altLang="en-US" sz="1600" b="1" dirty="0">
                <a:solidFill>
                  <a:srgbClr val="0033CC"/>
                </a:solidFill>
              </a:rPr>
              <a:t>才能本身毫无用处。许多有才华的人一生碌碌无为，通常是因为他们把才华本身看做一种结果</a:t>
            </a:r>
            <a:endParaRPr lang="en-US" altLang="zh-CN" sz="1600" b="1" dirty="0">
              <a:solidFill>
                <a:srgbClr val="0033CC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zh-CN" sz="1600" dirty="0"/>
          </a:p>
          <a:p>
            <a:pPr algn="ctr">
              <a:lnSpc>
                <a:spcPct val="150000"/>
              </a:lnSpc>
            </a:pPr>
            <a:r>
              <a:rPr lang="zh-CN" altLang="en-US" sz="1600" dirty="0"/>
              <a:t>德鲁克对生活的看法和对管理的看法一脉相承，那就是任何一种知识，只有当他能应用于实践，改变人们的生活，这种知识才会有价值</a:t>
            </a:r>
            <a:endParaRPr lang="en-US" altLang="zh-CN" sz="1600" dirty="0"/>
          </a:p>
          <a:p>
            <a:pPr algn="ctr">
              <a:lnSpc>
                <a:spcPct val="150000"/>
              </a:lnSpc>
            </a:pP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7449208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38CA5D7-F3A4-4F7B-AAEA-D70250FCEC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不要只想取得成功，而是关注创造价值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D18AEA-F911-401D-96E1-C137E95AFCBD}"/>
              </a:ext>
            </a:extLst>
          </p:cNvPr>
          <p:cNvSpPr/>
          <p:nvPr/>
        </p:nvSpPr>
        <p:spPr>
          <a:xfrm>
            <a:off x="66039" y="1479190"/>
            <a:ext cx="12058797" cy="5121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我俩在客厅坐下，德鲁克先生坐在他自己最喜欢的柳条椅里，不断向我提问。他的问题尖锐、直接并且发人深省。他毫不吝啬地与我分享他的智慧，而不求从我这里得到什么。他只是希望他的话能对我的职业发展提供帮助，当时我的职业生涯正处在一个关键的发展时期。我那时才</a:t>
            </a:r>
            <a:r>
              <a:rPr lang="en-US" altLang="zh-CN" sz="2000" dirty="0"/>
              <a:t>36</a:t>
            </a:r>
            <a:r>
              <a:rPr lang="zh-CN" altLang="en-US" sz="2000" dirty="0"/>
              <a:t>岁，也没什么名气。德鲁克先生对我却慷慨大方，这恰恰说明了为什么他会享有这么崇髙的声望。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事后，我又再次拜读了他的大作</a:t>
            </a:r>
            <a:r>
              <a:rPr lang="en-US" altLang="zh-CN" sz="2000" dirty="0"/>
              <a:t>《</a:t>
            </a:r>
            <a:r>
              <a:rPr lang="zh-CN" altLang="en-US" sz="2000" dirty="0"/>
              <a:t>卓有成效的管理者</a:t>
            </a:r>
            <a:r>
              <a:rPr lang="en-US" altLang="zh-CN" sz="2000" dirty="0"/>
              <a:t>》</a:t>
            </a:r>
            <a:r>
              <a:rPr lang="zh-CN" altLang="en-US" sz="2000" dirty="0"/>
              <a:t>，重温了他的忠告</a:t>
            </a:r>
            <a:r>
              <a:rPr lang="zh-CN" altLang="en-US" sz="2000" b="1" dirty="0">
                <a:solidFill>
                  <a:srgbClr val="0033CC"/>
                </a:solidFill>
              </a:rPr>
              <a:t>：要重视为他人作出贡献，而不要只想取得成功。</a:t>
            </a:r>
            <a:r>
              <a:rPr lang="zh-CN" altLang="en-US" sz="2000" dirty="0"/>
              <a:t>德鲁克先生认为</a:t>
            </a:r>
            <a:r>
              <a:rPr lang="zh-CN" altLang="en-US" sz="2000" b="1" dirty="0">
                <a:solidFill>
                  <a:srgbClr val="0033CC"/>
                </a:solidFill>
              </a:rPr>
              <a:t>，关键不在于“我如何取得成功”，而在于“我能作出什么贡献”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33CC"/>
                </a:solidFill>
              </a:rPr>
              <a:t>“好好干吧，争取成为有用的人，”</a:t>
            </a:r>
            <a:r>
              <a:rPr lang="zh-CN" altLang="en-US" sz="2000" dirty="0"/>
              <a:t>这是当天德鲁克先生对我所说的最后一句话。没有再说别的，他打开车门走下车，走进他那并不气派的房子，很有可能是又走到了打字机旁，继续细细雕琢起了美丽的智慧女神像的正面，还有背面。</a:t>
            </a:r>
          </a:p>
        </p:txBody>
      </p:sp>
    </p:spTree>
    <p:extLst>
      <p:ext uri="{BB962C8B-B14F-4D97-AF65-F5344CB8AC3E}">
        <p14:creationId xmlns:p14="http://schemas.microsoft.com/office/powerpoint/2010/main" val="29529717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25D5C50-168B-439D-891D-BDE7EEA295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觉得自己必须要学些什么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430984-6431-42E4-B096-D486E62AA092}"/>
              </a:ext>
            </a:extLst>
          </p:cNvPr>
          <p:cNvSpPr/>
          <p:nvPr/>
        </p:nvSpPr>
        <p:spPr>
          <a:xfrm>
            <a:off x="426720" y="1338372"/>
            <a:ext cx="11511280" cy="49158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en-US" altLang="zh-CN" sz="1600" dirty="0"/>
              <a:t>1994</a:t>
            </a:r>
            <a:r>
              <a:rPr lang="zh-CN" altLang="en-US" sz="1600" dirty="0"/>
              <a:t>年那天，我拜访德鲁克先生后，我俩在他最喜欢的一家当地餐馆共进午餐。当我把德鲁克先生送回家后，我问道</a:t>
            </a:r>
            <a:r>
              <a:rPr lang="en-US" altLang="zh-CN" sz="1600" dirty="0"/>
              <a:t>:“</a:t>
            </a:r>
            <a:r>
              <a:rPr lang="zh-CN" altLang="en-US" sz="1600" dirty="0"/>
              <a:t>我怎样才能表达对您的感激之情呢？怎样才能回报您的帮助呢</a:t>
            </a:r>
            <a:r>
              <a:rPr lang="en-US" altLang="zh-CN" sz="1600" dirty="0"/>
              <a:t>?”</a:t>
            </a:r>
            <a:r>
              <a:rPr lang="zh-CN" altLang="en-US" sz="1600" dirty="0"/>
              <a:t>我知道，和德鲁克先生在一起的这一天，对于我而言，其价值是难以估量的。</a:t>
            </a:r>
            <a:endParaRPr lang="en-US" altLang="zh-CN" sz="1600" dirty="0"/>
          </a:p>
          <a:p>
            <a:pPr>
              <a:lnSpc>
                <a:spcPct val="250000"/>
              </a:lnSpc>
            </a:pPr>
            <a:r>
              <a:rPr lang="zh-CN" altLang="en-US" sz="1600" dirty="0"/>
              <a:t>“你已经回报我了</a:t>
            </a:r>
            <a:r>
              <a:rPr lang="en-US" altLang="zh-CN" sz="1600" dirty="0"/>
              <a:t>,”</a:t>
            </a:r>
            <a:r>
              <a:rPr lang="zh-CN" altLang="en-US" sz="1600" dirty="0"/>
              <a:t>德鲁克先生说道</a:t>
            </a:r>
            <a:r>
              <a:rPr lang="en-US" altLang="zh-CN" sz="1600" dirty="0"/>
              <a:t>,“</a:t>
            </a:r>
            <a:r>
              <a:rPr lang="zh-CN" altLang="en-US" sz="1600" dirty="0"/>
              <a:t>今天和你的谈话中，我学到了很多。”刹那间，我顿悟了为什么德鲁克先生是与众不同的，因为他并不把自己当成一位大师，而是把自己当成了一个学生。</a:t>
            </a:r>
            <a:r>
              <a:rPr lang="zh-CN" altLang="en-US" sz="1600" b="1" dirty="0">
                <a:solidFill>
                  <a:srgbClr val="0033CC"/>
                </a:solidFill>
              </a:rPr>
              <a:t>对于许许多多的管理学的专家而言，他们必须要说些什么，而德鲁克先生则觉得自己必须要学些什么。</a:t>
            </a:r>
            <a:endParaRPr lang="en-US" altLang="zh-CN" sz="1600" b="1" dirty="0">
              <a:solidFill>
                <a:srgbClr val="0033CC"/>
              </a:solidFill>
            </a:endParaRPr>
          </a:p>
          <a:p>
            <a:pPr>
              <a:lnSpc>
                <a:spcPct val="250000"/>
              </a:lnSpc>
            </a:pPr>
            <a:r>
              <a:rPr lang="zh-CN" altLang="en-US" sz="1600" dirty="0"/>
              <a:t>德鲁克先生的作品是饶有趣味的，而他本人也是很有意思的一个人。我想如果借用已故的约翰加德纳说过的一句话来形容德鲁克先生，肯定非常合适，这句话就是</a:t>
            </a:r>
            <a:r>
              <a:rPr lang="en-US" altLang="zh-CN" sz="1600" dirty="0"/>
              <a:t>—“</a:t>
            </a:r>
            <a:r>
              <a:rPr lang="zh-CN" altLang="en-US" sz="1600" dirty="0"/>
              <a:t>他总是对什么都感兴趣。”</a:t>
            </a:r>
          </a:p>
        </p:txBody>
      </p:sp>
    </p:spTree>
    <p:extLst>
      <p:ext uri="{BB962C8B-B14F-4D97-AF65-F5344CB8AC3E}">
        <p14:creationId xmlns:p14="http://schemas.microsoft.com/office/powerpoint/2010/main" val="24394121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文本占位符 1">
            <a:extLst>
              <a:ext uri="{FF2B5EF4-FFF2-40B4-BE49-F238E27FC236}">
                <a16:creationId xmlns:a16="http://schemas.microsoft.com/office/drawing/2014/main" id="{B998C069-E647-4048-AADD-83498D093A33}"/>
              </a:ext>
            </a:extLst>
          </p:cNvPr>
          <p:cNvSpPr txBox="1">
            <a:spLocks/>
          </p:cNvSpPr>
          <p:nvPr/>
        </p:nvSpPr>
        <p:spPr>
          <a:xfrm>
            <a:off x="0" y="379642"/>
            <a:ext cx="12191999" cy="362404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latin typeface="+mn-ea"/>
              </a:rPr>
              <a:t>德鲁克管理专栏：</a:t>
            </a:r>
            <a:r>
              <a:rPr lang="en-US" altLang="zh-CN" b="1" dirty="0">
                <a:latin typeface="+mn-ea"/>
              </a:rPr>
              <a:t>Q&amp;A</a:t>
            </a:r>
            <a:endParaRPr lang="zh-CN" altLang="en-US" b="1" dirty="0">
              <a:latin typeface="+mn-ea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B22F5747-0CC5-418B-AC66-03C429A383F1}"/>
              </a:ext>
            </a:extLst>
          </p:cNvPr>
          <p:cNvSpPr txBox="1"/>
          <p:nvPr/>
        </p:nvSpPr>
        <p:spPr>
          <a:xfrm>
            <a:off x="1155700" y="1430822"/>
            <a:ext cx="102235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/>
              <a:t>Jasmine Zhang</a:t>
            </a:r>
          </a:p>
          <a:p>
            <a:endParaRPr lang="en-US" altLang="zh-CN" sz="2000" b="1" dirty="0"/>
          </a:p>
          <a:p>
            <a:r>
              <a:rPr lang="en-US" altLang="zh-CN" sz="2000" dirty="0"/>
              <a:t> </a:t>
            </a:r>
            <a:r>
              <a:rPr lang="zh-CN" altLang="en-US" sz="2000" dirty="0"/>
              <a:t>对于管理这个题目，多数组织想要集各家思维。作为咨询者，你如何说服客户他的组织需要你的德鲁克管理思维？</a:t>
            </a:r>
            <a:endParaRPr lang="en-US" altLang="zh-CN" sz="2000" dirty="0"/>
          </a:p>
          <a:p>
            <a:endParaRPr lang="en-US" altLang="zh-CN" sz="2000" b="1" dirty="0"/>
          </a:p>
          <a:p>
            <a:r>
              <a:rPr lang="zh-CN" altLang="en-US" sz="2000" b="1" dirty="0"/>
              <a:t>赵隆兵 </a:t>
            </a:r>
            <a:endParaRPr lang="en-US" altLang="zh-CN" sz="2000" b="1" dirty="0"/>
          </a:p>
          <a:p>
            <a:endParaRPr lang="en-US" altLang="zh-CN" sz="1400" dirty="0"/>
          </a:p>
          <a:p>
            <a:r>
              <a:rPr lang="zh-CN" altLang="en-US" sz="1400" dirty="0"/>
              <a:t>如何让每个员工感知并且执行所在企业管理的理念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en-US" altLang="zh-CN" sz="2000" b="1" dirty="0"/>
              <a:t>Long </a:t>
            </a:r>
          </a:p>
          <a:p>
            <a:endParaRPr lang="en-US" altLang="zh-CN" sz="1400" dirty="0"/>
          </a:p>
          <a:p>
            <a:r>
              <a:rPr lang="zh-CN" altLang="en-US" sz="1400" dirty="0"/>
              <a:t>德鲁克的主要观点有哪些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en-US" altLang="zh-CN" sz="1400" b="1" dirty="0">
                <a:solidFill>
                  <a:srgbClr val="0033CC"/>
                </a:solidFill>
              </a:rPr>
              <a:t> </a:t>
            </a:r>
            <a:r>
              <a:rPr lang="zh-CN" altLang="en-US" sz="1400" b="1" dirty="0">
                <a:solidFill>
                  <a:srgbClr val="0033CC"/>
                </a:solidFill>
              </a:rPr>
              <a:t>陈峰 </a:t>
            </a:r>
            <a:endParaRPr lang="en-US" altLang="zh-CN" sz="1400" b="1" dirty="0">
              <a:solidFill>
                <a:srgbClr val="0033CC"/>
              </a:solidFill>
            </a:endParaRPr>
          </a:p>
          <a:p>
            <a:endParaRPr lang="en-US" altLang="zh-CN" sz="1400" b="1" dirty="0">
              <a:solidFill>
                <a:srgbClr val="0033CC"/>
              </a:solidFill>
            </a:endParaRPr>
          </a:p>
          <a:p>
            <a:r>
              <a:rPr lang="zh-CN" altLang="en-US" sz="1400" b="1" dirty="0">
                <a:solidFill>
                  <a:srgbClr val="0033CC"/>
                </a:solidFill>
              </a:rPr>
              <a:t>德鲁克的观念有哪些不适合中国国企</a:t>
            </a:r>
            <a:endParaRPr lang="en-US" altLang="zh-CN" sz="1400" b="1" dirty="0">
              <a:solidFill>
                <a:srgbClr val="0033CC"/>
              </a:solidFill>
            </a:endParaRPr>
          </a:p>
          <a:p>
            <a:endParaRPr lang="en-US" altLang="zh-CN" sz="1400" b="1" dirty="0">
              <a:solidFill>
                <a:srgbClr val="0033CC"/>
              </a:solidFill>
            </a:endParaRPr>
          </a:p>
          <a:p>
            <a:r>
              <a:rPr lang="zh-CN" altLang="en-US" sz="1400" b="1" dirty="0">
                <a:solidFill>
                  <a:srgbClr val="0033CC"/>
                </a:solidFill>
              </a:rPr>
              <a:t>杨洪飞 </a:t>
            </a:r>
            <a:endParaRPr lang="en-US" altLang="zh-CN" sz="1400" b="1" dirty="0">
              <a:solidFill>
                <a:srgbClr val="0033CC"/>
              </a:solidFill>
            </a:endParaRPr>
          </a:p>
          <a:p>
            <a:endParaRPr lang="en-US" altLang="zh-CN" sz="1400" b="1" dirty="0">
              <a:solidFill>
                <a:srgbClr val="0033CC"/>
              </a:solidFill>
            </a:endParaRPr>
          </a:p>
          <a:p>
            <a:r>
              <a:rPr lang="zh-CN" altLang="en-US" sz="1400" b="1" dirty="0">
                <a:solidFill>
                  <a:srgbClr val="0033CC"/>
                </a:solidFill>
              </a:rPr>
              <a:t>德鲁克的管理思想怎么落实到企业经营管理中，跟企业管理相悖，怎么化干戈为玉帛。</a:t>
            </a:r>
          </a:p>
        </p:txBody>
      </p:sp>
    </p:spTree>
    <p:extLst>
      <p:ext uri="{BB962C8B-B14F-4D97-AF65-F5344CB8AC3E}">
        <p14:creationId xmlns:p14="http://schemas.microsoft.com/office/powerpoint/2010/main" val="42429401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">
            <a:extLst>
              <a:ext uri="{FF2B5EF4-FFF2-40B4-BE49-F238E27FC236}">
                <a16:creationId xmlns:a16="http://schemas.microsoft.com/office/drawing/2014/main" id="{4BDFA29F-9D8A-4B45-A45A-887D7C0B72AD}"/>
              </a:ext>
            </a:extLst>
          </p:cNvPr>
          <p:cNvSpPr txBox="1">
            <a:spLocks/>
          </p:cNvSpPr>
          <p:nvPr/>
        </p:nvSpPr>
        <p:spPr>
          <a:xfrm>
            <a:off x="0" y="379642"/>
            <a:ext cx="12191999" cy="362404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latin typeface="+mj-ea"/>
                <a:ea typeface="+mj-ea"/>
              </a:rPr>
              <a:t>德鲁克管理专栏：德鲁克</a:t>
            </a:r>
            <a:r>
              <a:rPr lang="en-US" altLang="zh-CN" b="1" dirty="0">
                <a:latin typeface="+mj-ea"/>
                <a:ea typeface="+mj-ea"/>
              </a:rPr>
              <a:t>1998</a:t>
            </a:r>
            <a:r>
              <a:rPr lang="zh-CN" altLang="en-US" b="1" dirty="0">
                <a:latin typeface="+mj-ea"/>
                <a:ea typeface="+mj-ea"/>
              </a:rPr>
              <a:t>年提出的管理新范式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BE648808-457A-4DF6-9D18-2300A12CD5F1}"/>
              </a:ext>
            </a:extLst>
          </p:cNvPr>
          <p:cNvGraphicFramePr>
            <a:graphicFrameLocks noGrp="1"/>
          </p:cNvGraphicFramePr>
          <p:nvPr/>
        </p:nvGraphicFramePr>
        <p:xfrm>
          <a:off x="450375" y="1468812"/>
          <a:ext cx="11291249" cy="455003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95254">
                  <a:extLst>
                    <a:ext uri="{9D8B030D-6E8A-4147-A177-3AD203B41FA5}">
                      <a16:colId xmlns:a16="http://schemas.microsoft.com/office/drawing/2014/main" val="3819400171"/>
                    </a:ext>
                  </a:extLst>
                </a:gridCol>
                <a:gridCol w="1114096">
                  <a:extLst>
                    <a:ext uri="{9D8B030D-6E8A-4147-A177-3AD203B41FA5}">
                      <a16:colId xmlns:a16="http://schemas.microsoft.com/office/drawing/2014/main" val="2685741856"/>
                    </a:ext>
                  </a:extLst>
                </a:gridCol>
                <a:gridCol w="3310759">
                  <a:extLst>
                    <a:ext uri="{9D8B030D-6E8A-4147-A177-3AD203B41FA5}">
                      <a16:colId xmlns:a16="http://schemas.microsoft.com/office/drawing/2014/main" val="480921585"/>
                    </a:ext>
                  </a:extLst>
                </a:gridCol>
                <a:gridCol w="4559919">
                  <a:extLst>
                    <a:ext uri="{9D8B030D-6E8A-4147-A177-3AD203B41FA5}">
                      <a16:colId xmlns:a16="http://schemas.microsoft.com/office/drawing/2014/main" val="3456984916"/>
                    </a:ext>
                  </a:extLst>
                </a:gridCol>
                <a:gridCol w="1611221">
                  <a:extLst>
                    <a:ext uri="{9D8B030D-6E8A-4147-A177-3AD203B41FA5}">
                      <a16:colId xmlns:a16="http://schemas.microsoft.com/office/drawing/2014/main" val="1013222316"/>
                    </a:ext>
                  </a:extLst>
                </a:gridCol>
              </a:tblGrid>
              <a:tr h="27550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>
                          <a:latin typeface="+mn-ea"/>
                          <a:ea typeface="+mn-ea"/>
                        </a:rPr>
                        <a:t>序号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>
                          <a:latin typeface="+mn-ea"/>
                          <a:ea typeface="+mn-ea"/>
                        </a:rPr>
                        <a:t>主题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700" dirty="0">
                          <a:latin typeface="+mn-ea"/>
                          <a:ea typeface="+mn-ea"/>
                        </a:rPr>
                        <a:t>旧范式（</a:t>
                      </a:r>
                      <a:r>
                        <a:rPr lang="en-US" altLang="zh-CN" sz="1700" dirty="0">
                          <a:latin typeface="+mn-ea"/>
                          <a:ea typeface="+mn-ea"/>
                        </a:rPr>
                        <a:t>20</a:t>
                      </a:r>
                      <a:r>
                        <a:rPr lang="zh-CN" altLang="en-US" sz="1700" dirty="0">
                          <a:latin typeface="+mn-ea"/>
                          <a:ea typeface="+mn-ea"/>
                        </a:rPr>
                        <a:t>世纪</a:t>
                      </a:r>
                      <a:r>
                        <a:rPr lang="en-US" altLang="zh-CN" sz="1700" dirty="0">
                          <a:latin typeface="+mn-ea"/>
                          <a:ea typeface="+mn-ea"/>
                        </a:rPr>
                        <a:t>30</a:t>
                      </a:r>
                      <a:r>
                        <a:rPr lang="zh-CN" altLang="en-US" sz="1700" dirty="0">
                          <a:latin typeface="+mn-ea"/>
                          <a:ea typeface="+mn-ea"/>
                        </a:rPr>
                        <a:t>年代以来）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700" dirty="0">
                          <a:latin typeface="+mn-ea"/>
                          <a:ea typeface="+mn-ea"/>
                        </a:rPr>
                        <a:t>新范式（德鲁克</a:t>
                      </a:r>
                      <a:r>
                        <a:rPr lang="en-US" altLang="zh-CN" sz="1700" dirty="0">
                          <a:latin typeface="+mn-ea"/>
                          <a:ea typeface="+mn-ea"/>
                        </a:rPr>
                        <a:t>1998</a:t>
                      </a:r>
                      <a:r>
                        <a:rPr lang="zh-CN" altLang="en-US" sz="1700" dirty="0">
                          <a:latin typeface="+mn-ea"/>
                          <a:ea typeface="+mn-ea"/>
                        </a:rPr>
                        <a:t>年提出）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>
                          <a:latin typeface="+mn-ea"/>
                          <a:ea typeface="+mn-ea"/>
                        </a:rPr>
                        <a:t>未来范式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6563349"/>
                  </a:ext>
                </a:extLst>
              </a:tr>
              <a:tr h="27550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>
                          <a:latin typeface="+mn-ea"/>
                          <a:ea typeface="+mn-ea"/>
                        </a:rPr>
                        <a:t>1</a:t>
                      </a:r>
                      <a:endParaRPr lang="zh-CN" altLang="en-US" sz="17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700" dirty="0">
                          <a:latin typeface="+mn-ea"/>
                          <a:ea typeface="+mn-ea"/>
                        </a:rPr>
                        <a:t>管理适用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 dirty="0">
                          <a:latin typeface="+mn-ea"/>
                          <a:ea typeface="+mn-ea"/>
                        </a:rPr>
                        <a:t>管理是企业管理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700" dirty="0">
                          <a:latin typeface="+mn-ea"/>
                          <a:ea typeface="+mn-ea"/>
                        </a:rPr>
                        <a:t>管理是所有组织所特有的和独具特色的工具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>
                          <a:latin typeface="+mn-ea"/>
                          <a:ea typeface="+mn-ea"/>
                        </a:rPr>
                        <a:t>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3477308"/>
                  </a:ext>
                </a:extLst>
              </a:tr>
              <a:tr h="6762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>
                          <a:latin typeface="+mn-ea"/>
                          <a:ea typeface="+mn-ea"/>
                        </a:rPr>
                        <a:t>2</a:t>
                      </a:r>
                      <a:endParaRPr lang="zh-CN" altLang="en-US" sz="17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>
                          <a:latin typeface="+mn-ea"/>
                          <a:ea typeface="+mn-ea"/>
                        </a:rPr>
                        <a:t>组织形式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 dirty="0">
                          <a:latin typeface="+mn-ea"/>
                          <a:ea typeface="+mn-ea"/>
                        </a:rPr>
                        <a:t>企业应该具有且必须具有一种</a:t>
                      </a:r>
                    </a:p>
                    <a:p>
                      <a:r>
                        <a:rPr lang="zh-CN" altLang="en-US" sz="1700" dirty="0">
                          <a:latin typeface="+mn-ea"/>
                          <a:ea typeface="+mn-ea"/>
                        </a:rPr>
                        <a:t>恰当的组织形式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700" dirty="0">
                          <a:latin typeface="+mn-ea"/>
                          <a:ea typeface="+mn-ea"/>
                        </a:rPr>
                        <a:t>管理学界应该去寻找、发展和检验适合有关任务的组织形式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>
                          <a:latin typeface="+mn-ea"/>
                          <a:ea typeface="+mn-ea"/>
                        </a:rPr>
                        <a:t>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3634127"/>
                  </a:ext>
                </a:extLst>
              </a:tr>
              <a:tr h="8765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>
                          <a:latin typeface="+mn-ea"/>
                          <a:ea typeface="+mn-ea"/>
                        </a:rPr>
                        <a:t>3</a:t>
                      </a:r>
                      <a:endParaRPr lang="zh-CN" altLang="en-US" sz="17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>
                          <a:latin typeface="+mn-ea"/>
                          <a:ea typeface="+mn-ea"/>
                        </a:rPr>
                        <a:t>管理方式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 dirty="0">
                          <a:latin typeface="+mn-ea"/>
                          <a:ea typeface="+mn-ea"/>
                        </a:rPr>
                        <a:t>企业应该采取或必须采取一种</a:t>
                      </a:r>
                    </a:p>
                    <a:p>
                      <a:r>
                        <a:rPr lang="zh-CN" altLang="en-US" sz="1700" dirty="0">
                          <a:latin typeface="+mn-ea"/>
                          <a:ea typeface="+mn-ea"/>
                        </a:rPr>
                        <a:t>管理人的恰当方式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7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管理不是“管理”人，管理的使命是“领导”人，管理的目标是充分发挥和利用每个人的特定优势和知识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>
                          <a:latin typeface="+mn-ea"/>
                          <a:ea typeface="+mn-ea"/>
                        </a:rPr>
                        <a:t>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831040"/>
                  </a:ext>
                </a:extLst>
              </a:tr>
              <a:tr h="4802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>
                          <a:latin typeface="+mn-ea"/>
                          <a:ea typeface="+mn-ea"/>
                        </a:rPr>
                        <a:t>4</a:t>
                      </a:r>
                      <a:endParaRPr lang="zh-CN" altLang="en-US" sz="17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>
                          <a:latin typeface="+mn-ea"/>
                          <a:ea typeface="+mn-ea"/>
                        </a:rPr>
                        <a:t>管理政策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 dirty="0">
                          <a:latin typeface="+mn-ea"/>
                          <a:ea typeface="+mn-ea"/>
                        </a:rPr>
                        <a:t>技术和最终用户是一成不变和</a:t>
                      </a:r>
                    </a:p>
                    <a:p>
                      <a:r>
                        <a:rPr lang="zh-CN" altLang="en-US" sz="1700" dirty="0">
                          <a:latin typeface="+mn-ea"/>
                          <a:ea typeface="+mn-ea"/>
                        </a:rPr>
                        <a:t>已知的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7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在可支配收入的分配上，客户的价值观和决策才应该是管理政策的基础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>
                          <a:latin typeface="+mn-ea"/>
                          <a:ea typeface="+mn-ea"/>
                        </a:rPr>
                        <a:t>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6534411"/>
                  </a:ext>
                </a:extLst>
              </a:tr>
              <a:tr h="6762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>
                          <a:latin typeface="+mn-ea"/>
                          <a:ea typeface="+mn-ea"/>
                        </a:rPr>
                        <a:t>5</a:t>
                      </a:r>
                      <a:endParaRPr lang="zh-CN" altLang="en-US" sz="17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>
                          <a:latin typeface="+mn-ea"/>
                          <a:ea typeface="+mn-ea"/>
                        </a:rPr>
                        <a:t>管理范围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 dirty="0">
                          <a:latin typeface="+mn-ea"/>
                          <a:ea typeface="+mn-ea"/>
                        </a:rPr>
                        <a:t>管理的范围是由法律决定的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7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管理应该包含整个流程，应关注整个经济链的效益和绩效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>
                          <a:latin typeface="+mn-ea"/>
                          <a:ea typeface="+mn-ea"/>
                        </a:rPr>
                        <a:t>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3958236"/>
                  </a:ext>
                </a:extLst>
              </a:tr>
              <a:tr h="4007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>
                          <a:latin typeface="+mn-ea"/>
                          <a:ea typeface="+mn-ea"/>
                        </a:rPr>
                        <a:t>6</a:t>
                      </a:r>
                      <a:endParaRPr lang="zh-CN" altLang="en-US" sz="17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>
                          <a:latin typeface="+mn-ea"/>
                          <a:ea typeface="+mn-ea"/>
                        </a:rPr>
                        <a:t>管理成果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 dirty="0">
                          <a:latin typeface="+mn-ea"/>
                          <a:ea typeface="+mn-ea"/>
                        </a:rPr>
                        <a:t>管理是对内部的管理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7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管理是帮助组织在组织外取得成效的工具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>
                          <a:latin typeface="+mn-ea"/>
                          <a:ea typeface="+mn-ea"/>
                        </a:rPr>
                        <a:t>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1533091"/>
                  </a:ext>
                </a:extLst>
              </a:tr>
              <a:tr h="4758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>
                          <a:latin typeface="+mn-ea"/>
                          <a:ea typeface="+mn-ea"/>
                        </a:rPr>
                        <a:t>7</a:t>
                      </a:r>
                      <a:endParaRPr lang="zh-CN" altLang="en-US" sz="17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>
                          <a:latin typeface="+mn-ea"/>
                          <a:ea typeface="+mn-ea"/>
                        </a:rPr>
                        <a:t>管理实践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700" dirty="0">
                          <a:latin typeface="+mn-ea"/>
                          <a:ea typeface="+mn-ea"/>
                        </a:rPr>
                        <a:t>按国家边界划分的经济体是企</a:t>
                      </a:r>
                    </a:p>
                    <a:p>
                      <a:r>
                        <a:rPr lang="zh-CN" altLang="en-US" sz="1700" dirty="0">
                          <a:latin typeface="+mn-ea"/>
                          <a:ea typeface="+mn-ea"/>
                        </a:rPr>
                        <a:t>业和管理依托的“生态环境”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7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决定管理实践的不是政治，而是经营方式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>
                          <a:latin typeface="+mn-ea"/>
                          <a:ea typeface="+mn-ea"/>
                        </a:rPr>
                        <a:t>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4907109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F79974B4-86B7-424D-A60E-B02BD6900D8B}"/>
              </a:ext>
            </a:extLst>
          </p:cNvPr>
          <p:cNvSpPr/>
          <p:nvPr/>
        </p:nvSpPr>
        <p:spPr>
          <a:xfrm>
            <a:off x="0" y="6285998"/>
            <a:ext cx="121919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/>
              <a:t>摘自彼得德鲁克</a:t>
            </a:r>
            <a:r>
              <a:rPr lang="en-US" altLang="zh-CN" sz="1600" dirty="0"/>
              <a:t>《21</a:t>
            </a:r>
            <a:r>
              <a:rPr lang="zh-CN" altLang="en-US" sz="1600" dirty="0"/>
              <a:t>世纪的管理挑战</a:t>
            </a:r>
            <a:r>
              <a:rPr lang="en-US" altLang="zh-CN" sz="1600" dirty="0"/>
              <a:t>》</a:t>
            </a:r>
            <a:r>
              <a:rPr lang="zh-CN" altLang="en-US" sz="1600" dirty="0"/>
              <a:t>（</a:t>
            </a:r>
            <a:r>
              <a:rPr lang="en-US" altLang="zh-CN" sz="1600" dirty="0"/>
              <a:t>ManagementChallengesforthe21stCentury</a:t>
            </a:r>
            <a:r>
              <a:rPr lang="zh-CN" altLang="en-US" sz="1600" dirty="0"/>
              <a:t>）</a:t>
            </a:r>
            <a:r>
              <a:rPr lang="en-US" altLang="zh-CN" sz="1600" dirty="0"/>
              <a:t>1999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948678319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">
            <a:extLst>
              <a:ext uri="{FF2B5EF4-FFF2-40B4-BE49-F238E27FC236}">
                <a16:creationId xmlns:a16="http://schemas.microsoft.com/office/drawing/2014/main" id="{4BDFA29F-9D8A-4B45-A45A-887D7C0B72AD}"/>
              </a:ext>
            </a:extLst>
          </p:cNvPr>
          <p:cNvSpPr txBox="1">
            <a:spLocks/>
          </p:cNvSpPr>
          <p:nvPr/>
        </p:nvSpPr>
        <p:spPr>
          <a:xfrm>
            <a:off x="0" y="379642"/>
            <a:ext cx="12191999" cy="362404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latin typeface="+mj-ea"/>
                <a:ea typeface="+mj-ea"/>
              </a:rPr>
              <a:t>不合时宜的德鲁克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C3CD81D-A59B-4E75-8244-53E52C74A71B}"/>
              </a:ext>
            </a:extLst>
          </p:cNvPr>
          <p:cNvSpPr txBox="1"/>
          <p:nvPr/>
        </p:nvSpPr>
        <p:spPr>
          <a:xfrm>
            <a:off x="2552699" y="3226306"/>
            <a:ext cx="7086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/>
              <a:t>不合时宜的德鲁克？</a:t>
            </a:r>
          </a:p>
        </p:txBody>
      </p:sp>
    </p:spTree>
    <p:extLst>
      <p:ext uri="{BB962C8B-B14F-4D97-AF65-F5344CB8AC3E}">
        <p14:creationId xmlns:p14="http://schemas.microsoft.com/office/powerpoint/2010/main" val="196066757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>
            <a:extLst>
              <a:ext uri="{FF2B5EF4-FFF2-40B4-BE49-F238E27FC236}">
                <a16:creationId xmlns:a16="http://schemas.microsoft.com/office/drawing/2014/main" id="{AF74B5FD-7174-4883-838E-22E1CC0B2431}"/>
              </a:ext>
            </a:extLst>
          </p:cNvPr>
          <p:cNvSpPr txBox="1">
            <a:spLocks/>
          </p:cNvSpPr>
          <p:nvPr/>
        </p:nvSpPr>
        <p:spPr>
          <a:xfrm>
            <a:off x="0" y="379642"/>
            <a:ext cx="12191999" cy="362404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疫情之下的生存法则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73EB448-7688-4C22-9799-27CF594AF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ECC85E6-3F41-4999-999D-DF6857647FF2}"/>
              </a:ext>
            </a:extLst>
          </p:cNvPr>
          <p:cNvSpPr txBox="1"/>
          <p:nvPr/>
        </p:nvSpPr>
        <p:spPr>
          <a:xfrm>
            <a:off x="3830320" y="3507876"/>
            <a:ext cx="181864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（</a:t>
            </a:r>
            <a:r>
              <a:rPr lang="en-US" altLang="zh-CN" dirty="0">
                <a:solidFill>
                  <a:schemeClr val="bg1"/>
                </a:solidFill>
              </a:rPr>
              <a:t>1935-2020</a:t>
            </a:r>
            <a:r>
              <a:rPr lang="zh-CN" altLang="en-US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77AEA6B-9300-4662-9BBB-060266DA09A6}"/>
              </a:ext>
            </a:extLst>
          </p:cNvPr>
          <p:cNvSpPr txBox="1"/>
          <p:nvPr/>
        </p:nvSpPr>
        <p:spPr>
          <a:xfrm>
            <a:off x="1330960" y="4876800"/>
            <a:ext cx="4683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YouKnow</a:t>
            </a:r>
            <a:r>
              <a:rPr lang="zh-CN" altLang="en-US" sz="3200" dirty="0">
                <a:solidFill>
                  <a:schemeClr val="bg1"/>
                </a:solidFill>
                <a:latin typeface="Berlin Sans FB" panose="020E0602020502020306" pitchFamily="34" charset="0"/>
              </a:rPr>
              <a:t>，</a:t>
            </a:r>
            <a:r>
              <a:rPr lang="en-US" altLang="zh-CN" sz="32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butwe</a:t>
            </a:r>
            <a:r>
              <a:rPr lang="en-US" altLang="zh-CN" sz="3200" dirty="0" err="1">
                <a:solidFill>
                  <a:srgbClr val="FF0000"/>
                </a:solidFill>
                <a:latin typeface="Berlin Sans FB" panose="020E0602020502020306" pitchFamily="34" charset="0"/>
              </a:rPr>
              <a:t>did</a:t>
            </a:r>
            <a:endParaRPr lang="zh-CN" altLang="en-US" sz="3200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BF35DB9-C95B-4DF4-897F-186F817CA7C0}"/>
              </a:ext>
            </a:extLst>
          </p:cNvPr>
          <p:cNvSpPr/>
          <p:nvPr/>
        </p:nvSpPr>
        <p:spPr>
          <a:xfrm>
            <a:off x="10789052" y="6473279"/>
            <a:ext cx="1402948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商业知识局</a:t>
            </a:r>
          </a:p>
        </p:txBody>
      </p:sp>
    </p:spTree>
    <p:extLst>
      <p:ext uri="{BB962C8B-B14F-4D97-AF65-F5344CB8AC3E}">
        <p14:creationId xmlns:p14="http://schemas.microsoft.com/office/powerpoint/2010/main" val="219724155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清风素材 https://12sc.taobao.com">
  <a:themeElements>
    <a:clrScheme name="自定义 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53607"/>
      </a:accent1>
      <a:accent2>
        <a:srgbClr val="5C003D"/>
      </a:accent2>
      <a:accent3>
        <a:srgbClr val="FFE7AB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plus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7063</TotalTime>
  <Words>2842</Words>
  <Application>Microsoft Office PowerPoint</Application>
  <PresentationFormat>宽屏</PresentationFormat>
  <Paragraphs>351</Paragraphs>
  <Slides>28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7" baseType="lpstr">
      <vt:lpstr>PingFang SC</vt:lpstr>
      <vt:lpstr>PingFangSC-Medium</vt:lpstr>
      <vt:lpstr>黑体</vt:lpstr>
      <vt:lpstr>微软雅黑</vt:lpstr>
      <vt:lpstr>Arial</vt:lpstr>
      <vt:lpstr>Berlin Sans FB</vt:lpstr>
      <vt:lpstr>Calibri</vt:lpstr>
      <vt:lpstr>Calibri Light</vt:lpstr>
      <vt:lpstr>清风素材 https://12sc.taobao.com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12sc.taobao.com</dc:creator>
  <cp:lastModifiedBy>maxwellcai</cp:lastModifiedBy>
  <cp:revision>794</cp:revision>
  <cp:lastPrinted>2020-03-16T16:20:17Z</cp:lastPrinted>
  <dcterms:created xsi:type="dcterms:W3CDTF">2015-08-18T05:03:53Z</dcterms:created>
  <dcterms:modified xsi:type="dcterms:W3CDTF">2022-01-15T14:35:41Z</dcterms:modified>
</cp:coreProperties>
</file>